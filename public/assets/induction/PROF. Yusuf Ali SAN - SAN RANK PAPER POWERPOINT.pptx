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notesMasterIdLst>
    <p:notesMasterId r:id="rId20"/>
  </p:notesMasterIdLst>
  <p:sldIdLst>
    <p:sldId id="256" r:id="rId2"/>
    <p:sldId id="295" r:id="rId3"/>
    <p:sldId id="282" r:id="rId4"/>
    <p:sldId id="257" r:id="rId5"/>
    <p:sldId id="259" r:id="rId6"/>
    <p:sldId id="271" r:id="rId7"/>
    <p:sldId id="260" r:id="rId8"/>
    <p:sldId id="298" r:id="rId9"/>
    <p:sldId id="299" r:id="rId10"/>
    <p:sldId id="300" r:id="rId11"/>
    <p:sldId id="285" r:id="rId12"/>
    <p:sldId id="266" r:id="rId13"/>
    <p:sldId id="288" r:id="rId14"/>
    <p:sldId id="262" r:id="rId15"/>
    <p:sldId id="272" r:id="rId16"/>
    <p:sldId id="289" r:id="rId17"/>
    <p:sldId id="301" r:id="rId18"/>
    <p:sldId id="280"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5F5"/>
    <a:srgbClr val="FFFFFF"/>
    <a:srgbClr val="FED9D9"/>
    <a:srgbClr val="54490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88" autoAdjust="0"/>
  </p:normalViewPr>
  <p:slideViewPr>
    <p:cSldViewPr snapToGrid="0">
      <p:cViewPr varScale="1">
        <p:scale>
          <a:sx n="81" d="100"/>
          <a:sy n="81" d="100"/>
        </p:scale>
        <p:origin x="725" y="53"/>
      </p:cViewPr>
      <p:guideLst/>
    </p:cSldViewPr>
  </p:slideViewPr>
  <p:outlineViewPr>
    <p:cViewPr>
      <p:scale>
        <a:sx n="33" d="100"/>
        <a:sy n="33" d="100"/>
      </p:scale>
      <p:origin x="0" y="-1694"/>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7B8D8E1-12EB-4F1F-9351-BAB479FBEFF2}" type="doc">
      <dgm:prSet loTypeId="urn:microsoft.com/office/officeart/2005/8/layout/matrix3" loCatId="matrix" qsTypeId="urn:microsoft.com/office/officeart/2005/8/quickstyle/simple1" qsCatId="simple" csTypeId="urn:microsoft.com/office/officeart/2005/8/colors/colorful1" csCatId="colorful" phldr="1"/>
      <dgm:spPr/>
      <dgm:t>
        <a:bodyPr/>
        <a:lstStyle/>
        <a:p>
          <a:endParaRPr lang="en-US"/>
        </a:p>
      </dgm:t>
    </dgm:pt>
    <dgm:pt modelId="{B02033DB-3294-4DA9-BA23-9B33E2C2AA80}">
      <dgm:prSet custT="1"/>
      <dgm:spPr>
        <a:solidFill>
          <a:schemeClr val="tx2">
            <a:lumMod val="60000"/>
            <a:lumOff val="40000"/>
          </a:schemeClr>
        </a:solidFill>
        <a:ln>
          <a:solidFill>
            <a:schemeClr val="lt1">
              <a:hueOff val="0"/>
              <a:satOff val="0"/>
              <a:lumOff val="0"/>
            </a:schemeClr>
          </a:solidFill>
        </a:ln>
        <a:effectLst>
          <a:glow>
            <a:schemeClr val="accent1">
              <a:alpha val="40000"/>
            </a:schemeClr>
          </a:glow>
          <a:softEdge rad="0"/>
        </a:effectLst>
      </dgm:spPr>
      <dgm:t>
        <a:bodyPr/>
        <a:lstStyle/>
        <a:p>
          <a:r>
            <a:rPr lang="en-US" sz="1800" dirty="0">
              <a:solidFill>
                <a:schemeClr val="bg1"/>
              </a:solidFill>
              <a:latin typeface="Georgia" panose="02040502050405020303" pitchFamily="18" charset="0"/>
            </a:rPr>
            <a:t>What is the meaning of the rank of SAN and what does it represent? </a:t>
          </a:r>
        </a:p>
      </dgm:t>
    </dgm:pt>
    <dgm:pt modelId="{51D2EA26-D2A2-47E1-8D11-5A73BD99C59F}" type="parTrans" cxnId="{6444DF49-B3C4-44D0-BB3D-497E3410DF0B}">
      <dgm:prSet/>
      <dgm:spPr/>
      <dgm:t>
        <a:bodyPr/>
        <a:lstStyle/>
        <a:p>
          <a:endParaRPr lang="en-US"/>
        </a:p>
      </dgm:t>
    </dgm:pt>
    <dgm:pt modelId="{B30FB2B8-AB27-4160-8BCD-C0551ED51B40}" type="sibTrans" cxnId="{6444DF49-B3C4-44D0-BB3D-497E3410DF0B}">
      <dgm:prSet/>
      <dgm:spPr/>
      <dgm:t>
        <a:bodyPr/>
        <a:lstStyle/>
        <a:p>
          <a:endParaRPr lang="en-US"/>
        </a:p>
      </dgm:t>
    </dgm:pt>
    <dgm:pt modelId="{2B491706-631D-4A99-A9D2-663FA3B6FE22}">
      <dgm:prSet custT="1"/>
      <dgm:spPr>
        <a:solidFill>
          <a:schemeClr val="tx2">
            <a:lumMod val="60000"/>
            <a:lumOff val="40000"/>
          </a:schemeClr>
        </a:solidFill>
      </dgm:spPr>
      <dgm:t>
        <a:bodyPr/>
        <a:lstStyle/>
        <a:p>
          <a:r>
            <a:rPr lang="en-US" sz="2000" dirty="0">
              <a:solidFill>
                <a:schemeClr val="bg1"/>
              </a:solidFill>
              <a:latin typeface="Georgia" panose="02040502050405020303" pitchFamily="18" charset="0"/>
            </a:rPr>
            <a:t>What are the privileges and restrictions of the rank of SAN? </a:t>
          </a:r>
        </a:p>
      </dgm:t>
    </dgm:pt>
    <dgm:pt modelId="{EC5E33F7-C4D0-402F-829D-06F305B1089F}" type="parTrans" cxnId="{7BCB778E-04D5-4F54-94F0-2C2054DEF91E}">
      <dgm:prSet/>
      <dgm:spPr/>
      <dgm:t>
        <a:bodyPr/>
        <a:lstStyle/>
        <a:p>
          <a:endParaRPr lang="en-US"/>
        </a:p>
      </dgm:t>
    </dgm:pt>
    <dgm:pt modelId="{FD293DDB-1453-4286-8466-5BDF7C5AB1DC}" type="sibTrans" cxnId="{7BCB778E-04D5-4F54-94F0-2C2054DEF91E}">
      <dgm:prSet/>
      <dgm:spPr/>
      <dgm:t>
        <a:bodyPr/>
        <a:lstStyle/>
        <a:p>
          <a:endParaRPr lang="en-US"/>
        </a:p>
      </dgm:t>
    </dgm:pt>
    <dgm:pt modelId="{1D86C981-C399-4883-AB1C-D1F2116F2A0A}">
      <dgm:prSet custT="1"/>
      <dgm:spPr>
        <a:solidFill>
          <a:schemeClr val="tx2">
            <a:lumMod val="60000"/>
            <a:lumOff val="40000"/>
          </a:schemeClr>
        </a:solidFill>
        <a:ln>
          <a:solidFill>
            <a:schemeClr val="lt1">
              <a:hueOff val="0"/>
              <a:satOff val="0"/>
              <a:lumOff val="0"/>
            </a:schemeClr>
          </a:solidFill>
        </a:ln>
        <a:effectLst>
          <a:glow>
            <a:schemeClr val="accent1">
              <a:alpha val="40000"/>
            </a:schemeClr>
          </a:glow>
          <a:softEdge rad="0"/>
        </a:effectLst>
      </dgm:spPr>
      <dgm:t>
        <a:bodyPr/>
        <a:lstStyle/>
        <a:p>
          <a:r>
            <a:rPr lang="en-US" sz="1800" dirty="0">
              <a:solidFill>
                <a:schemeClr val="bg1"/>
              </a:solidFill>
              <a:latin typeface="Georgia" panose="02040502050405020303" pitchFamily="18" charset="0"/>
            </a:rPr>
            <a:t>What is the historical foundation and evolution of the rank of SAN? </a:t>
          </a:r>
        </a:p>
      </dgm:t>
    </dgm:pt>
    <dgm:pt modelId="{AA15597D-5BE5-41A4-9B2B-53B44EE30C58}" type="parTrans" cxnId="{D37A2FAA-412B-410B-B2F5-CF94780B535D}">
      <dgm:prSet/>
      <dgm:spPr/>
      <dgm:t>
        <a:bodyPr/>
        <a:lstStyle/>
        <a:p>
          <a:endParaRPr lang="en-NG"/>
        </a:p>
      </dgm:t>
    </dgm:pt>
    <dgm:pt modelId="{9E1B2BCC-5AEA-4CF7-A043-BA7F2123F349}" type="sibTrans" cxnId="{D37A2FAA-412B-410B-B2F5-CF94780B535D}">
      <dgm:prSet/>
      <dgm:spPr/>
      <dgm:t>
        <a:bodyPr/>
        <a:lstStyle/>
        <a:p>
          <a:endParaRPr lang="en-NG"/>
        </a:p>
      </dgm:t>
    </dgm:pt>
    <dgm:pt modelId="{9F0A79FC-8B41-4530-B318-1F75F2A53579}">
      <dgm:prSet custT="1"/>
      <dgm:spPr>
        <a:solidFill>
          <a:schemeClr val="tx2">
            <a:lumMod val="60000"/>
            <a:lumOff val="40000"/>
          </a:schemeClr>
        </a:solidFill>
      </dgm:spPr>
      <dgm:t>
        <a:bodyPr/>
        <a:lstStyle/>
        <a:p>
          <a:r>
            <a:rPr lang="en-US" sz="1800" dirty="0">
              <a:solidFill>
                <a:schemeClr val="bg1"/>
              </a:solidFill>
              <a:latin typeface="Georgia" panose="02040502050405020303" pitchFamily="18" charset="0"/>
            </a:rPr>
            <a:t>What is the significance of the rank of SAN in shaping the legal profession?</a:t>
          </a:r>
        </a:p>
      </dgm:t>
    </dgm:pt>
    <dgm:pt modelId="{B56A4D47-752F-414C-9F16-E247859848EF}" type="sibTrans" cxnId="{C0F1E981-2861-47F9-B653-E3460A499D14}">
      <dgm:prSet/>
      <dgm:spPr/>
      <dgm:t>
        <a:bodyPr/>
        <a:lstStyle/>
        <a:p>
          <a:endParaRPr lang="en-US"/>
        </a:p>
      </dgm:t>
    </dgm:pt>
    <dgm:pt modelId="{72AEB477-15FB-4040-AA2E-F397CC256E32}" type="parTrans" cxnId="{C0F1E981-2861-47F9-B653-E3460A499D14}">
      <dgm:prSet/>
      <dgm:spPr/>
      <dgm:t>
        <a:bodyPr/>
        <a:lstStyle/>
        <a:p>
          <a:endParaRPr lang="en-US"/>
        </a:p>
      </dgm:t>
    </dgm:pt>
    <dgm:pt modelId="{903223FC-71F8-4420-885F-04BB71D945AA}" type="pres">
      <dgm:prSet presAssocID="{97B8D8E1-12EB-4F1F-9351-BAB479FBEFF2}" presName="matrix" presStyleCnt="0">
        <dgm:presLayoutVars>
          <dgm:chMax val="1"/>
          <dgm:dir/>
          <dgm:resizeHandles val="exact"/>
        </dgm:presLayoutVars>
      </dgm:prSet>
      <dgm:spPr/>
    </dgm:pt>
    <dgm:pt modelId="{71F7CC2E-A57A-4E1A-9A3D-76DA52D3BACE}" type="pres">
      <dgm:prSet presAssocID="{97B8D8E1-12EB-4F1F-9351-BAB479FBEFF2}" presName="diamond" presStyleLbl="bgShp" presStyleIdx="0" presStyleCnt="1" custLinFactNeighborX="1016" custLinFactNeighborY="488"/>
      <dgm:spPr>
        <a:solidFill>
          <a:schemeClr val="tx2">
            <a:lumMod val="50000"/>
          </a:schemeClr>
        </a:solidFill>
      </dgm:spPr>
    </dgm:pt>
    <dgm:pt modelId="{724ABCD0-FA0F-4F62-BA00-6EC1BAE56F8D}" type="pres">
      <dgm:prSet presAssocID="{97B8D8E1-12EB-4F1F-9351-BAB479FBEFF2}" presName="quad1" presStyleLbl="node1" presStyleIdx="0" presStyleCnt="4" custLinFactNeighborX="-1281" custLinFactNeighborY="-1522">
        <dgm:presLayoutVars>
          <dgm:chMax val="0"/>
          <dgm:chPref val="0"/>
          <dgm:bulletEnabled val="1"/>
        </dgm:presLayoutVars>
      </dgm:prSet>
      <dgm:spPr>
        <a:prstGeom prst="flowChartPunchedCard">
          <a:avLst/>
        </a:prstGeom>
      </dgm:spPr>
    </dgm:pt>
    <dgm:pt modelId="{978D42C8-E843-459B-B76A-3C2067F161DC}" type="pres">
      <dgm:prSet presAssocID="{97B8D8E1-12EB-4F1F-9351-BAB479FBEFF2}" presName="quad2" presStyleLbl="node1" presStyleIdx="1" presStyleCnt="4" custLinFactNeighborX="-2273" custLinFactNeighborY="-1522">
        <dgm:presLayoutVars>
          <dgm:chMax val="0"/>
          <dgm:chPref val="0"/>
          <dgm:bulletEnabled val="1"/>
        </dgm:presLayoutVars>
      </dgm:prSet>
      <dgm:spPr>
        <a:prstGeom prst="flowChartPunchedCard">
          <a:avLst/>
        </a:prstGeom>
      </dgm:spPr>
    </dgm:pt>
    <dgm:pt modelId="{1228C59B-2F1B-4931-BB35-C7DF145B6486}" type="pres">
      <dgm:prSet presAssocID="{97B8D8E1-12EB-4F1F-9351-BAB479FBEFF2}" presName="quad3" presStyleLbl="node1" presStyleIdx="2" presStyleCnt="4" custLinFactNeighborX="-1281" custLinFactNeighborY="-834">
        <dgm:presLayoutVars>
          <dgm:chMax val="0"/>
          <dgm:chPref val="0"/>
          <dgm:bulletEnabled val="1"/>
        </dgm:presLayoutVars>
      </dgm:prSet>
      <dgm:spPr>
        <a:prstGeom prst="flowChartPunchedCard">
          <a:avLst/>
        </a:prstGeom>
      </dgm:spPr>
    </dgm:pt>
    <dgm:pt modelId="{C1E9CF79-3745-4F2E-A162-A47C97B6EEC4}" type="pres">
      <dgm:prSet presAssocID="{97B8D8E1-12EB-4F1F-9351-BAB479FBEFF2}" presName="quad4" presStyleLbl="node1" presStyleIdx="3" presStyleCnt="4" custLinFactNeighborX="-2273" custLinFactNeighborY="-1352">
        <dgm:presLayoutVars>
          <dgm:chMax val="0"/>
          <dgm:chPref val="0"/>
          <dgm:bulletEnabled val="1"/>
        </dgm:presLayoutVars>
      </dgm:prSet>
      <dgm:spPr>
        <a:prstGeom prst="flowChartPunchedCard">
          <a:avLst/>
        </a:prstGeom>
      </dgm:spPr>
    </dgm:pt>
  </dgm:ptLst>
  <dgm:cxnLst>
    <dgm:cxn modelId="{42B0A51E-6B02-4FB9-A794-1298B48DBFB3}" type="presOf" srcId="{97B8D8E1-12EB-4F1F-9351-BAB479FBEFF2}" destId="{903223FC-71F8-4420-885F-04BB71D945AA}" srcOrd="0" destOrd="0" presId="urn:microsoft.com/office/officeart/2005/8/layout/matrix3"/>
    <dgm:cxn modelId="{6444DF49-B3C4-44D0-BB3D-497E3410DF0B}" srcId="{97B8D8E1-12EB-4F1F-9351-BAB479FBEFF2}" destId="{B02033DB-3294-4DA9-BA23-9B33E2C2AA80}" srcOrd="0" destOrd="0" parTransId="{51D2EA26-D2A2-47E1-8D11-5A73BD99C59F}" sibTransId="{B30FB2B8-AB27-4160-8BCD-C0551ED51B40}"/>
    <dgm:cxn modelId="{6171CB7D-BBDF-470E-9E0D-8F161DC00264}" type="presOf" srcId="{1D86C981-C399-4883-AB1C-D1F2116F2A0A}" destId="{978D42C8-E843-459B-B76A-3C2067F161DC}" srcOrd="0" destOrd="0" presId="urn:microsoft.com/office/officeart/2005/8/layout/matrix3"/>
    <dgm:cxn modelId="{C0F1E981-2861-47F9-B653-E3460A499D14}" srcId="{97B8D8E1-12EB-4F1F-9351-BAB479FBEFF2}" destId="{9F0A79FC-8B41-4530-B318-1F75F2A53579}" srcOrd="3" destOrd="0" parTransId="{72AEB477-15FB-4040-AA2E-F397CC256E32}" sibTransId="{B56A4D47-752F-414C-9F16-E247859848EF}"/>
    <dgm:cxn modelId="{5880B088-843B-4EDC-9043-08AD96AFF784}" type="presOf" srcId="{B02033DB-3294-4DA9-BA23-9B33E2C2AA80}" destId="{724ABCD0-FA0F-4F62-BA00-6EC1BAE56F8D}" srcOrd="0" destOrd="0" presId="urn:microsoft.com/office/officeart/2005/8/layout/matrix3"/>
    <dgm:cxn modelId="{7BCB778E-04D5-4F54-94F0-2C2054DEF91E}" srcId="{97B8D8E1-12EB-4F1F-9351-BAB479FBEFF2}" destId="{2B491706-631D-4A99-A9D2-663FA3B6FE22}" srcOrd="2" destOrd="0" parTransId="{EC5E33F7-C4D0-402F-829D-06F305B1089F}" sibTransId="{FD293DDB-1453-4286-8466-5BDF7C5AB1DC}"/>
    <dgm:cxn modelId="{8A8DD9A8-EAAB-4086-8AFE-6863D475335E}" type="presOf" srcId="{9F0A79FC-8B41-4530-B318-1F75F2A53579}" destId="{C1E9CF79-3745-4F2E-A162-A47C97B6EEC4}" srcOrd="0" destOrd="0" presId="urn:microsoft.com/office/officeart/2005/8/layout/matrix3"/>
    <dgm:cxn modelId="{D37A2FAA-412B-410B-B2F5-CF94780B535D}" srcId="{97B8D8E1-12EB-4F1F-9351-BAB479FBEFF2}" destId="{1D86C981-C399-4883-AB1C-D1F2116F2A0A}" srcOrd="1" destOrd="0" parTransId="{AA15597D-5BE5-41A4-9B2B-53B44EE30C58}" sibTransId="{9E1B2BCC-5AEA-4CF7-A043-BA7F2123F349}"/>
    <dgm:cxn modelId="{5B355EB0-2351-46F0-8878-2EF8DC868FE2}" type="presOf" srcId="{2B491706-631D-4A99-A9D2-663FA3B6FE22}" destId="{1228C59B-2F1B-4931-BB35-C7DF145B6486}" srcOrd="0" destOrd="0" presId="urn:microsoft.com/office/officeart/2005/8/layout/matrix3"/>
    <dgm:cxn modelId="{AF95BDA4-D0C9-4AFA-BA35-56BF5E0E4AD3}" type="presParOf" srcId="{903223FC-71F8-4420-885F-04BB71D945AA}" destId="{71F7CC2E-A57A-4E1A-9A3D-76DA52D3BACE}" srcOrd="0" destOrd="0" presId="urn:microsoft.com/office/officeart/2005/8/layout/matrix3"/>
    <dgm:cxn modelId="{283F5290-9956-440B-B388-24467492258A}" type="presParOf" srcId="{903223FC-71F8-4420-885F-04BB71D945AA}" destId="{724ABCD0-FA0F-4F62-BA00-6EC1BAE56F8D}" srcOrd="1" destOrd="0" presId="urn:microsoft.com/office/officeart/2005/8/layout/matrix3"/>
    <dgm:cxn modelId="{90E9BA2F-067D-4803-858A-65AC62E406C0}" type="presParOf" srcId="{903223FC-71F8-4420-885F-04BB71D945AA}" destId="{978D42C8-E843-459B-B76A-3C2067F161DC}" srcOrd="2" destOrd="0" presId="urn:microsoft.com/office/officeart/2005/8/layout/matrix3"/>
    <dgm:cxn modelId="{00D7A4C4-67E5-4C1B-89C2-84EE0955886C}" type="presParOf" srcId="{903223FC-71F8-4420-885F-04BB71D945AA}" destId="{1228C59B-2F1B-4931-BB35-C7DF145B6486}" srcOrd="3" destOrd="0" presId="urn:microsoft.com/office/officeart/2005/8/layout/matrix3"/>
    <dgm:cxn modelId="{E12B7691-09A7-438D-B9B5-52A121FC59B3}" type="presParOf" srcId="{903223FC-71F8-4420-885F-04BB71D945AA}" destId="{C1E9CF79-3745-4F2E-A162-A47C97B6EEC4}"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0F7D271-CF75-44EC-8E20-9195E493CAE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55735847-A690-42E3-9D18-C8FC92C5E10B}">
      <dgm:prSet custT="1"/>
      <dgm:spPr>
        <a:solidFill>
          <a:schemeClr val="tx2">
            <a:lumMod val="75000"/>
          </a:schemeClr>
        </a:solidFill>
      </dgm:spPr>
      <dgm:t>
        <a:bodyPr/>
        <a:lstStyle/>
        <a:p>
          <a:pPr algn="just">
            <a:buSzPts val="1000"/>
            <a:buFont typeface="Symbol" panose="05050102010706020507" pitchFamily="18" charset="2"/>
            <a:buChar char=""/>
          </a:pPr>
          <a:r>
            <a:rPr lang="en-US" sz="2400" b="1" i="1" dirty="0">
              <a:latin typeface="Georgia" panose="02040502050405020303" pitchFamily="18" charset="0"/>
            </a:rPr>
            <a:t>“</a:t>
          </a:r>
          <a:r>
            <a:rPr lang="en-NG" sz="2400" b="1" i="1" dirty="0">
              <a:latin typeface="Georgia" panose="02040502050405020303" pitchFamily="18" charset="0"/>
            </a:rPr>
            <a:t>Wear the silk with pride, but also with restraint. Let it remind you daily of the greater duty you owe to justice, to the profession, and to the Nigerian people. For it is only by living these values that the rank of Senior Advocate of Nigeria will continue to shine as a mark of excellence, and only by your example that the next generation will learn what it truly means to be a leader of the Bar.</a:t>
          </a:r>
          <a:r>
            <a:rPr lang="en-US" sz="2400" b="1" i="1" dirty="0">
              <a:latin typeface="Georgia" panose="02040502050405020303" pitchFamily="18" charset="0"/>
            </a:rPr>
            <a:t>”</a:t>
          </a:r>
          <a:endParaRPr lang="en-NG" sz="2400" b="1" i="1" dirty="0">
            <a:latin typeface="Georgia" panose="02040502050405020303" pitchFamily="18" charset="0"/>
          </a:endParaRPr>
        </a:p>
      </dgm:t>
    </dgm:pt>
    <dgm:pt modelId="{4CB76B12-9B83-46D2-AE43-21A066AB55B6}" type="parTrans" cxnId="{2237599C-2A6B-4AAA-996B-BAA8B3235EF0}">
      <dgm:prSet/>
      <dgm:spPr/>
      <dgm:t>
        <a:bodyPr/>
        <a:lstStyle/>
        <a:p>
          <a:endParaRPr lang="en-NG"/>
        </a:p>
      </dgm:t>
    </dgm:pt>
    <dgm:pt modelId="{539EA05C-9B9B-442C-9E26-C7D7B036BB15}" type="sibTrans" cxnId="{2237599C-2A6B-4AAA-996B-BAA8B3235EF0}">
      <dgm:prSet/>
      <dgm:spPr/>
      <dgm:t>
        <a:bodyPr/>
        <a:lstStyle/>
        <a:p>
          <a:endParaRPr lang="en-NG"/>
        </a:p>
      </dgm:t>
    </dgm:pt>
    <dgm:pt modelId="{8EFABC32-E472-48DD-BC19-268046F51093}" type="pres">
      <dgm:prSet presAssocID="{00F7D271-CF75-44EC-8E20-9195E493CAE0}" presName="linear" presStyleCnt="0">
        <dgm:presLayoutVars>
          <dgm:animLvl val="lvl"/>
          <dgm:resizeHandles val="exact"/>
        </dgm:presLayoutVars>
      </dgm:prSet>
      <dgm:spPr/>
    </dgm:pt>
    <dgm:pt modelId="{F2DB6A5E-8F3D-48E6-AD6F-06D17F6812E0}" type="pres">
      <dgm:prSet presAssocID="{55735847-A690-42E3-9D18-C8FC92C5E10B}" presName="parentText" presStyleLbl="node1" presStyleIdx="0" presStyleCnt="1" custScaleY="1007296">
        <dgm:presLayoutVars>
          <dgm:chMax val="0"/>
          <dgm:bulletEnabled val="1"/>
        </dgm:presLayoutVars>
      </dgm:prSet>
      <dgm:spPr/>
    </dgm:pt>
  </dgm:ptLst>
  <dgm:cxnLst>
    <dgm:cxn modelId="{E2F3D095-8F80-4A23-BB65-B586D4480551}" type="presOf" srcId="{00F7D271-CF75-44EC-8E20-9195E493CAE0}" destId="{8EFABC32-E472-48DD-BC19-268046F51093}" srcOrd="0" destOrd="0" presId="urn:microsoft.com/office/officeart/2005/8/layout/vList2"/>
    <dgm:cxn modelId="{2237599C-2A6B-4AAA-996B-BAA8B3235EF0}" srcId="{00F7D271-CF75-44EC-8E20-9195E493CAE0}" destId="{55735847-A690-42E3-9D18-C8FC92C5E10B}" srcOrd="0" destOrd="0" parTransId="{4CB76B12-9B83-46D2-AE43-21A066AB55B6}" sibTransId="{539EA05C-9B9B-442C-9E26-C7D7B036BB15}"/>
    <dgm:cxn modelId="{02EAC8EC-5679-4B0E-9D9B-53573ADF9F1D}" type="presOf" srcId="{55735847-A690-42E3-9D18-C8FC92C5E10B}" destId="{F2DB6A5E-8F3D-48E6-AD6F-06D17F6812E0}" srcOrd="0" destOrd="0" presId="urn:microsoft.com/office/officeart/2005/8/layout/vList2"/>
    <dgm:cxn modelId="{B8073585-5A96-4C24-9F54-30D4208568D5}" type="presParOf" srcId="{8EFABC32-E472-48DD-BC19-268046F51093}" destId="{F2DB6A5E-8F3D-48E6-AD6F-06D17F6812E0}"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F7CC2E-A57A-4E1A-9A3D-76DA52D3BACE}">
      <dsp:nvSpPr>
        <dsp:cNvPr id="0" name=""/>
        <dsp:cNvSpPr/>
      </dsp:nvSpPr>
      <dsp:spPr>
        <a:xfrm>
          <a:off x="238511" y="0"/>
          <a:ext cx="5979009" cy="5979009"/>
        </a:xfrm>
        <a:prstGeom prst="diamond">
          <a:avLst/>
        </a:prstGeom>
        <a:solidFill>
          <a:schemeClr val="tx2">
            <a:lumMod val="50000"/>
          </a:schemeClr>
        </a:solidFill>
        <a:ln>
          <a:noFill/>
        </a:ln>
        <a:effectLst/>
      </dsp:spPr>
      <dsp:style>
        <a:lnRef idx="0">
          <a:scrgbClr r="0" g="0" b="0"/>
        </a:lnRef>
        <a:fillRef idx="1">
          <a:scrgbClr r="0" g="0" b="0"/>
        </a:fillRef>
        <a:effectRef idx="0">
          <a:scrgbClr r="0" g="0" b="0"/>
        </a:effectRef>
        <a:fontRef idx="minor"/>
      </dsp:style>
    </dsp:sp>
    <dsp:sp modelId="{724ABCD0-FA0F-4F62-BA00-6EC1BAE56F8D}">
      <dsp:nvSpPr>
        <dsp:cNvPr id="0" name=""/>
        <dsp:cNvSpPr/>
      </dsp:nvSpPr>
      <dsp:spPr>
        <a:xfrm>
          <a:off x="715899" y="532515"/>
          <a:ext cx="2331813" cy="2331813"/>
        </a:xfrm>
        <a:prstGeom prst="flowChartPunchedCard">
          <a:avLst/>
        </a:prstGeom>
        <a:solidFill>
          <a:schemeClr val="tx2">
            <a:lumMod val="60000"/>
            <a:lumOff val="40000"/>
          </a:schemeClr>
        </a:solidFill>
        <a:ln w="12700" cap="flat" cmpd="sng" algn="ctr">
          <a:solidFill>
            <a:schemeClr val="lt1">
              <a:hueOff val="0"/>
              <a:satOff val="0"/>
              <a:lumOff val="0"/>
            </a:schemeClr>
          </a:solidFill>
          <a:prstDash val="solid"/>
          <a:miter lim="800000"/>
        </a:ln>
        <a:effectLst>
          <a:glow>
            <a:schemeClr val="accent1">
              <a:alpha val="40000"/>
            </a:schemeClr>
          </a:glow>
          <a:softEdge rad="0"/>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bg1"/>
              </a:solidFill>
              <a:latin typeface="Georgia" panose="02040502050405020303" pitchFamily="18" charset="0"/>
            </a:rPr>
            <a:t>What is the meaning of the rank of SAN and what does it represent? </a:t>
          </a:r>
        </a:p>
      </dsp:txBody>
      <dsp:txXfrm>
        <a:off x="715899" y="998878"/>
        <a:ext cx="2331813" cy="1865450"/>
      </dsp:txXfrm>
    </dsp:sp>
    <dsp:sp modelId="{978D42C8-E843-459B-B76A-3C2067F161DC}">
      <dsp:nvSpPr>
        <dsp:cNvPr id="0" name=""/>
        <dsp:cNvSpPr/>
      </dsp:nvSpPr>
      <dsp:spPr>
        <a:xfrm>
          <a:off x="3203952" y="532515"/>
          <a:ext cx="2331813" cy="2331813"/>
        </a:xfrm>
        <a:prstGeom prst="flowChartPunchedCard">
          <a:avLst/>
        </a:prstGeom>
        <a:solidFill>
          <a:schemeClr val="tx2">
            <a:lumMod val="60000"/>
            <a:lumOff val="40000"/>
          </a:schemeClr>
        </a:solidFill>
        <a:ln w="12700" cap="flat" cmpd="sng" algn="ctr">
          <a:solidFill>
            <a:schemeClr val="lt1">
              <a:hueOff val="0"/>
              <a:satOff val="0"/>
              <a:lumOff val="0"/>
            </a:schemeClr>
          </a:solidFill>
          <a:prstDash val="solid"/>
          <a:miter lim="800000"/>
        </a:ln>
        <a:effectLst>
          <a:glow>
            <a:schemeClr val="accent1">
              <a:alpha val="40000"/>
            </a:schemeClr>
          </a:glow>
          <a:softEdge rad="0"/>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bg1"/>
              </a:solidFill>
              <a:latin typeface="Georgia" panose="02040502050405020303" pitchFamily="18" charset="0"/>
            </a:rPr>
            <a:t>What is the historical foundation and evolution of the rank of SAN? </a:t>
          </a:r>
        </a:p>
      </dsp:txBody>
      <dsp:txXfrm>
        <a:off x="3203952" y="998878"/>
        <a:ext cx="2331813" cy="1865450"/>
      </dsp:txXfrm>
    </dsp:sp>
    <dsp:sp modelId="{1228C59B-2F1B-4931-BB35-C7DF145B6486}">
      <dsp:nvSpPr>
        <dsp:cNvPr id="0" name=""/>
        <dsp:cNvSpPr/>
      </dsp:nvSpPr>
      <dsp:spPr>
        <a:xfrm>
          <a:off x="715899" y="3059742"/>
          <a:ext cx="2331813" cy="2331813"/>
        </a:xfrm>
        <a:prstGeom prst="flowChartPunchedCard">
          <a:avLst/>
        </a:prstGeom>
        <a:solidFill>
          <a:schemeClr val="tx2">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bg1"/>
              </a:solidFill>
              <a:latin typeface="Georgia" panose="02040502050405020303" pitchFamily="18" charset="0"/>
            </a:rPr>
            <a:t>What are the privileges and restrictions of the rank of SAN? </a:t>
          </a:r>
        </a:p>
      </dsp:txBody>
      <dsp:txXfrm>
        <a:off x="715899" y="3526105"/>
        <a:ext cx="2331813" cy="1865450"/>
      </dsp:txXfrm>
    </dsp:sp>
    <dsp:sp modelId="{C1E9CF79-3745-4F2E-A162-A47C97B6EEC4}">
      <dsp:nvSpPr>
        <dsp:cNvPr id="0" name=""/>
        <dsp:cNvSpPr/>
      </dsp:nvSpPr>
      <dsp:spPr>
        <a:xfrm>
          <a:off x="3203952" y="3047663"/>
          <a:ext cx="2331813" cy="2331813"/>
        </a:xfrm>
        <a:prstGeom prst="flowChartPunchedCard">
          <a:avLst/>
        </a:prstGeom>
        <a:solidFill>
          <a:schemeClr val="tx2">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bg1"/>
              </a:solidFill>
              <a:latin typeface="Georgia" panose="02040502050405020303" pitchFamily="18" charset="0"/>
            </a:rPr>
            <a:t>What is the significance of the rank of SAN in shaping the legal profession?</a:t>
          </a:r>
        </a:p>
      </dsp:txBody>
      <dsp:txXfrm>
        <a:off x="3203952" y="3514026"/>
        <a:ext cx="2331813" cy="186545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DB6A5E-8F3D-48E6-AD6F-06D17F6812E0}">
      <dsp:nvSpPr>
        <dsp:cNvPr id="0" name=""/>
        <dsp:cNvSpPr/>
      </dsp:nvSpPr>
      <dsp:spPr>
        <a:xfrm>
          <a:off x="0" y="846257"/>
          <a:ext cx="11105321" cy="3532156"/>
        </a:xfrm>
        <a:prstGeom prst="roundRect">
          <a:avLst/>
        </a:prstGeom>
        <a:solidFill>
          <a:schemeClr val="tx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just" defTabSz="1066800">
            <a:lnSpc>
              <a:spcPct val="90000"/>
            </a:lnSpc>
            <a:spcBef>
              <a:spcPct val="0"/>
            </a:spcBef>
            <a:spcAft>
              <a:spcPct val="35000"/>
            </a:spcAft>
            <a:buSzPts val="1000"/>
            <a:buFont typeface="Symbol" panose="05050102010706020507" pitchFamily="18" charset="2"/>
            <a:buNone/>
          </a:pPr>
          <a:r>
            <a:rPr lang="en-US" sz="2400" b="1" i="1" kern="1200" dirty="0">
              <a:latin typeface="Georgia" panose="02040502050405020303" pitchFamily="18" charset="0"/>
            </a:rPr>
            <a:t>“</a:t>
          </a:r>
          <a:r>
            <a:rPr lang="en-NG" sz="2400" b="1" i="1" kern="1200" dirty="0">
              <a:latin typeface="Georgia" panose="02040502050405020303" pitchFamily="18" charset="0"/>
            </a:rPr>
            <a:t>Wear the silk with pride, but also with restraint. Let it remind you daily of the greater duty you owe to justice, to the profession, and to the Nigerian people. For it is only by living these values that the rank of Senior Advocate of Nigeria will continue to shine as a mark of excellence, and only by your example that the next generation will learn what it truly means to be a leader of the Bar.</a:t>
          </a:r>
          <a:r>
            <a:rPr lang="en-US" sz="2400" b="1" i="1" kern="1200" dirty="0">
              <a:latin typeface="Georgia" panose="02040502050405020303" pitchFamily="18" charset="0"/>
            </a:rPr>
            <a:t>”</a:t>
          </a:r>
          <a:endParaRPr lang="en-NG" sz="2400" b="1" i="1" kern="1200" dirty="0">
            <a:latin typeface="Georgia" panose="02040502050405020303" pitchFamily="18" charset="0"/>
          </a:endParaRPr>
        </a:p>
      </dsp:txBody>
      <dsp:txXfrm>
        <a:off x="172426" y="1018683"/>
        <a:ext cx="10760469" cy="3187304"/>
      </dsp:txXfrm>
    </dsp:sp>
  </dsp:spTree>
</dsp:drawing>
</file>

<file path=ppt/diagrams/layout1.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1AD895-B0AA-4C3D-90F9-95802485046F}" type="datetimeFigureOut">
              <a:rPr lang="en-NG" smtClean="0"/>
              <a:t>16/09/2025</a:t>
            </a:fld>
            <a:endParaRPr lang="en-N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A6F777-07CA-4EFD-9E89-59444476DEB0}" type="slidenum">
              <a:rPr lang="en-NG" smtClean="0"/>
              <a:t>‹#›</a:t>
            </a:fld>
            <a:endParaRPr lang="en-NG"/>
          </a:p>
        </p:txBody>
      </p:sp>
    </p:spTree>
    <p:extLst>
      <p:ext uri="{BB962C8B-B14F-4D97-AF65-F5344CB8AC3E}">
        <p14:creationId xmlns:p14="http://schemas.microsoft.com/office/powerpoint/2010/main" val="39839289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G" dirty="0"/>
          </a:p>
        </p:txBody>
      </p:sp>
      <p:sp>
        <p:nvSpPr>
          <p:cNvPr id="4" name="Slide Number Placeholder 3"/>
          <p:cNvSpPr>
            <a:spLocks noGrp="1"/>
          </p:cNvSpPr>
          <p:nvPr>
            <p:ph type="sldNum" sz="quarter" idx="5"/>
          </p:nvPr>
        </p:nvSpPr>
        <p:spPr/>
        <p:txBody>
          <a:bodyPr/>
          <a:lstStyle/>
          <a:p>
            <a:fld id="{44A6F777-07CA-4EFD-9E89-59444476DEB0}" type="slidenum">
              <a:rPr lang="en-NG" smtClean="0"/>
              <a:t>3</a:t>
            </a:fld>
            <a:endParaRPr lang="en-NG"/>
          </a:p>
        </p:txBody>
      </p:sp>
    </p:spTree>
    <p:extLst>
      <p:ext uri="{BB962C8B-B14F-4D97-AF65-F5344CB8AC3E}">
        <p14:creationId xmlns:p14="http://schemas.microsoft.com/office/powerpoint/2010/main" val="15327329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G" dirty="0"/>
          </a:p>
        </p:txBody>
      </p:sp>
      <p:sp>
        <p:nvSpPr>
          <p:cNvPr id="4" name="Slide Number Placeholder 3"/>
          <p:cNvSpPr>
            <a:spLocks noGrp="1"/>
          </p:cNvSpPr>
          <p:nvPr>
            <p:ph type="sldNum" sz="quarter" idx="5"/>
          </p:nvPr>
        </p:nvSpPr>
        <p:spPr/>
        <p:txBody>
          <a:bodyPr/>
          <a:lstStyle/>
          <a:p>
            <a:fld id="{44A6F777-07CA-4EFD-9E89-59444476DEB0}" type="slidenum">
              <a:rPr lang="en-NG" smtClean="0"/>
              <a:t>16</a:t>
            </a:fld>
            <a:endParaRPr lang="en-NG"/>
          </a:p>
        </p:txBody>
      </p:sp>
    </p:spTree>
    <p:extLst>
      <p:ext uri="{BB962C8B-B14F-4D97-AF65-F5344CB8AC3E}">
        <p14:creationId xmlns:p14="http://schemas.microsoft.com/office/powerpoint/2010/main" val="39137483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EF58D-B62B-40BB-83AA-9D07CFC4ED26}"/>
              </a:ext>
            </a:extLst>
          </p:cNvPr>
          <p:cNvSpPr>
            <a:spLocks noGrp="1"/>
          </p:cNvSpPr>
          <p:nvPr>
            <p:ph type="ctrTitle"/>
          </p:nvPr>
        </p:nvSpPr>
        <p:spPr>
          <a:xfrm>
            <a:off x="612648" y="557783"/>
            <a:ext cx="10969752" cy="3130807"/>
          </a:xfrm>
        </p:spPr>
        <p:txBody>
          <a:bodyPr anchor="b">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66AC06D3-F571-4213-A2A4-6A1915120CED}"/>
              </a:ext>
            </a:extLst>
          </p:cNvPr>
          <p:cNvSpPr>
            <a:spLocks noGrp="1"/>
          </p:cNvSpPr>
          <p:nvPr>
            <p:ph type="subTitle" idx="1"/>
          </p:nvPr>
        </p:nvSpPr>
        <p:spPr>
          <a:xfrm>
            <a:off x="612648" y="3902206"/>
            <a:ext cx="10969752" cy="2240529"/>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75A10580-AD31-4B8F-8448-55A666AC1725}"/>
              </a:ext>
            </a:extLst>
          </p:cNvPr>
          <p:cNvSpPr>
            <a:spLocks noGrp="1"/>
          </p:cNvSpPr>
          <p:nvPr>
            <p:ph type="dt" sz="half" idx="10"/>
          </p:nvPr>
        </p:nvSpPr>
        <p:spPr/>
        <p:txBody>
          <a:bodyPr/>
          <a:lstStyle/>
          <a:p>
            <a:fld id="{79C5A860-F335-4252-AA00-24FB67ED2982}" type="datetime1">
              <a:rPr lang="en-US" smtClean="0"/>
              <a:t>9/16/2025</a:t>
            </a:fld>
            <a:endParaRPr lang="en-US"/>
          </a:p>
        </p:txBody>
      </p:sp>
      <p:sp>
        <p:nvSpPr>
          <p:cNvPr id="5" name="Footer Placeholder 4">
            <a:extLst>
              <a:ext uri="{FF2B5EF4-FFF2-40B4-BE49-F238E27FC236}">
                <a16:creationId xmlns:a16="http://schemas.microsoft.com/office/drawing/2014/main" id="{15EC99C8-515A-4FEA-9CD2-6D0BF46CF6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72AF1B-1868-4C05-B6C3-9EBF29A50ADD}"/>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4636271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6D384-B2C5-42A4-9774-A931C39BA5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8D736C-5FCC-43BC-B824-A90F2CC5D1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4A3A50-B922-45BE-945D-7ED3EBD83F7C}"/>
              </a:ext>
            </a:extLst>
          </p:cNvPr>
          <p:cNvSpPr>
            <a:spLocks noGrp="1"/>
          </p:cNvSpPr>
          <p:nvPr>
            <p:ph type="dt" sz="half" idx="10"/>
          </p:nvPr>
        </p:nvSpPr>
        <p:spPr/>
        <p:txBody>
          <a:bodyPr/>
          <a:lstStyle/>
          <a:p>
            <a:fld id="{D04BC802-30E3-4658-9CCA-F873646FEC67}" type="datetime1">
              <a:rPr lang="en-US" smtClean="0"/>
              <a:t>9/16/2025</a:t>
            </a:fld>
            <a:endParaRPr lang="en-US"/>
          </a:p>
        </p:txBody>
      </p:sp>
      <p:sp>
        <p:nvSpPr>
          <p:cNvPr id="5" name="Footer Placeholder 4">
            <a:extLst>
              <a:ext uri="{FF2B5EF4-FFF2-40B4-BE49-F238E27FC236}">
                <a16:creationId xmlns:a16="http://schemas.microsoft.com/office/drawing/2014/main" id="{64241F78-20DE-4D53-BB25-79E5C4E1AB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643084-C669-4FDF-87D4-F22D36BB827D}"/>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742575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6C559-800C-489A-9174-7901F92B0D47}"/>
              </a:ext>
            </a:extLst>
          </p:cNvPr>
          <p:cNvSpPr>
            <a:spLocks noGrp="1"/>
          </p:cNvSpPr>
          <p:nvPr>
            <p:ph type="title"/>
          </p:nvPr>
        </p:nvSpPr>
        <p:spPr>
          <a:xfrm>
            <a:off x="612648" y="557784"/>
            <a:ext cx="10969752" cy="3146400"/>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142B5C3-320B-4CFD-B6A7-A28C7E435B41}"/>
              </a:ext>
            </a:extLst>
          </p:cNvPr>
          <p:cNvSpPr>
            <a:spLocks noGrp="1"/>
          </p:cNvSpPr>
          <p:nvPr>
            <p:ph type="body" idx="1"/>
          </p:nvPr>
        </p:nvSpPr>
        <p:spPr>
          <a:xfrm>
            <a:off x="612648" y="3902207"/>
            <a:ext cx="10969752" cy="2187443"/>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FCA372-3F42-4113-A73B-5FDCF93CB5BC}"/>
              </a:ext>
            </a:extLst>
          </p:cNvPr>
          <p:cNvSpPr>
            <a:spLocks noGrp="1"/>
          </p:cNvSpPr>
          <p:nvPr>
            <p:ph type="dt" sz="half" idx="10"/>
          </p:nvPr>
        </p:nvSpPr>
        <p:spPr/>
        <p:txBody>
          <a:bodyPr/>
          <a:lstStyle/>
          <a:p>
            <a:fld id="{0AB227A3-19CE-4153-81CE-64EB7AB094B3}" type="datetime1">
              <a:rPr lang="en-US" smtClean="0"/>
              <a:t>9/16/2025</a:t>
            </a:fld>
            <a:endParaRPr lang="en-US"/>
          </a:p>
        </p:txBody>
      </p:sp>
      <p:sp>
        <p:nvSpPr>
          <p:cNvPr id="5" name="Footer Placeholder 4">
            <a:extLst>
              <a:ext uri="{FF2B5EF4-FFF2-40B4-BE49-F238E27FC236}">
                <a16:creationId xmlns:a16="http://schemas.microsoft.com/office/drawing/2014/main" id="{F0DA1197-0C78-4878-B086-5D206EA491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B83D8-FD42-44FF-AA20-944A519CC0B2}"/>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296243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685AA-B5C7-4E3D-85FA-94F3C73E59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3AFEEA-6F3F-4630-A950-61C05D2FAFBC}"/>
              </a:ext>
            </a:extLst>
          </p:cNvPr>
          <p:cNvSpPr>
            <a:spLocks noGrp="1"/>
          </p:cNvSpPr>
          <p:nvPr>
            <p:ph sz="half" idx="1"/>
          </p:nvPr>
        </p:nvSpPr>
        <p:spPr>
          <a:xfrm>
            <a:off x="609600" y="2081369"/>
            <a:ext cx="5410200" cy="40955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0AC36817-B869-4D19-9EE8-A3166B0E1591}"/>
              </a:ext>
            </a:extLst>
          </p:cNvPr>
          <p:cNvSpPr>
            <a:spLocks noGrp="1"/>
          </p:cNvSpPr>
          <p:nvPr>
            <p:ph sz="half" idx="2"/>
          </p:nvPr>
        </p:nvSpPr>
        <p:spPr>
          <a:xfrm>
            <a:off x="6172202" y="2081369"/>
            <a:ext cx="5410200" cy="40955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FC074146-2374-4321-AEBB-3E9B09D7796D}"/>
              </a:ext>
            </a:extLst>
          </p:cNvPr>
          <p:cNvSpPr>
            <a:spLocks noGrp="1"/>
          </p:cNvSpPr>
          <p:nvPr>
            <p:ph type="dt" sz="half" idx="10"/>
          </p:nvPr>
        </p:nvSpPr>
        <p:spPr/>
        <p:txBody>
          <a:bodyPr/>
          <a:lstStyle/>
          <a:p>
            <a:fld id="{B819A100-10F6-477E-8847-29D479EF1C92}" type="datetime1">
              <a:rPr lang="en-US" smtClean="0"/>
              <a:t>9/16/2025</a:t>
            </a:fld>
            <a:endParaRPr lang="en-US"/>
          </a:p>
        </p:txBody>
      </p:sp>
      <p:sp>
        <p:nvSpPr>
          <p:cNvPr id="6" name="Footer Placeholder 5">
            <a:extLst>
              <a:ext uri="{FF2B5EF4-FFF2-40B4-BE49-F238E27FC236}">
                <a16:creationId xmlns:a16="http://schemas.microsoft.com/office/drawing/2014/main" id="{2C42337B-B902-4DC2-BB94-02B8A75492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4AD585-B83C-4ECF-AF42-8DDF6996B79D}"/>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664759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A9ADB-3495-481F-BB4E-9C7128B17B1F}"/>
              </a:ext>
            </a:extLst>
          </p:cNvPr>
          <p:cNvSpPr>
            <a:spLocks noGrp="1"/>
          </p:cNvSpPr>
          <p:nvPr>
            <p:ph type="title"/>
          </p:nvPr>
        </p:nvSpPr>
        <p:spPr>
          <a:xfrm>
            <a:off x="609600" y="365125"/>
            <a:ext cx="10745788"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ED6FF4C-26CB-4281-A2F7-6CBE45186791}"/>
              </a:ext>
            </a:extLst>
          </p:cNvPr>
          <p:cNvSpPr>
            <a:spLocks noGrp="1"/>
          </p:cNvSpPr>
          <p:nvPr>
            <p:ph type="body" idx="1"/>
          </p:nvPr>
        </p:nvSpPr>
        <p:spPr>
          <a:xfrm>
            <a:off x="609600" y="1895096"/>
            <a:ext cx="5387975" cy="823912"/>
          </a:xfrm>
        </p:spPr>
        <p:txBody>
          <a:bodyPr anchor="b"/>
          <a:lstStyle>
            <a:lvl1pPr marL="0" indent="0">
              <a:buNone/>
              <a:defRPr sz="24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2E72A9-F222-45B4-9355-C04C05864139}"/>
              </a:ext>
            </a:extLst>
          </p:cNvPr>
          <p:cNvSpPr>
            <a:spLocks noGrp="1"/>
          </p:cNvSpPr>
          <p:nvPr>
            <p:ph sz="half" idx="2"/>
          </p:nvPr>
        </p:nvSpPr>
        <p:spPr>
          <a:xfrm>
            <a:off x="609600" y="2842211"/>
            <a:ext cx="5387975" cy="33474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4A699F6E-77AD-4EBC-BAF9-5A43CDEC41E2}"/>
              </a:ext>
            </a:extLst>
          </p:cNvPr>
          <p:cNvSpPr>
            <a:spLocks noGrp="1"/>
          </p:cNvSpPr>
          <p:nvPr>
            <p:ph type="body" sz="quarter" idx="3"/>
          </p:nvPr>
        </p:nvSpPr>
        <p:spPr>
          <a:xfrm>
            <a:off x="6167890" y="1895096"/>
            <a:ext cx="5414510" cy="823912"/>
          </a:xfrm>
        </p:spPr>
        <p:txBody>
          <a:bodyPr anchor="b"/>
          <a:lstStyle>
            <a:lvl1pPr marL="0" indent="0">
              <a:buNone/>
              <a:defRPr sz="24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F77677-7169-4591-B047-0678815F48E6}"/>
              </a:ext>
            </a:extLst>
          </p:cNvPr>
          <p:cNvSpPr>
            <a:spLocks noGrp="1"/>
          </p:cNvSpPr>
          <p:nvPr>
            <p:ph sz="quarter" idx="4"/>
          </p:nvPr>
        </p:nvSpPr>
        <p:spPr>
          <a:xfrm>
            <a:off x="6167890" y="2842211"/>
            <a:ext cx="5414510" cy="33474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82A6EB-0285-4FA4-A00C-A7F716084FD3}"/>
              </a:ext>
            </a:extLst>
          </p:cNvPr>
          <p:cNvSpPr>
            <a:spLocks noGrp="1"/>
          </p:cNvSpPr>
          <p:nvPr>
            <p:ph type="dt" sz="half" idx="10"/>
          </p:nvPr>
        </p:nvSpPr>
        <p:spPr/>
        <p:txBody>
          <a:bodyPr/>
          <a:lstStyle/>
          <a:p>
            <a:fld id="{5DF128AB-198A-495F-8475-FDB360C9873F}" type="datetime1">
              <a:rPr lang="en-US" smtClean="0"/>
              <a:t>9/16/2025</a:t>
            </a:fld>
            <a:endParaRPr lang="en-US"/>
          </a:p>
        </p:txBody>
      </p:sp>
      <p:sp>
        <p:nvSpPr>
          <p:cNvPr id="8" name="Footer Placeholder 7">
            <a:extLst>
              <a:ext uri="{FF2B5EF4-FFF2-40B4-BE49-F238E27FC236}">
                <a16:creationId xmlns:a16="http://schemas.microsoft.com/office/drawing/2014/main" id="{86D39526-82B8-402C-8A2B-82EF8F3F3A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5EC9E6-6FF1-4541-9CB1-A2FF9D852169}"/>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6459939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70F54-6CED-4251-A0A6-32CCD1213F8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572C8E6-49D6-46A5-8DC3-B0D8E683C9CB}"/>
              </a:ext>
            </a:extLst>
          </p:cNvPr>
          <p:cNvSpPr>
            <a:spLocks noGrp="1"/>
          </p:cNvSpPr>
          <p:nvPr>
            <p:ph type="dt" sz="half" idx="10"/>
          </p:nvPr>
        </p:nvSpPr>
        <p:spPr/>
        <p:txBody>
          <a:bodyPr/>
          <a:lstStyle/>
          <a:p>
            <a:fld id="{021A235E-F8FD-479F-9FC7-18BE84110877}" type="datetime1">
              <a:rPr lang="en-US" smtClean="0"/>
              <a:t>9/16/2025</a:t>
            </a:fld>
            <a:endParaRPr lang="en-US"/>
          </a:p>
        </p:txBody>
      </p:sp>
      <p:sp>
        <p:nvSpPr>
          <p:cNvPr id="4" name="Footer Placeholder 3">
            <a:extLst>
              <a:ext uri="{FF2B5EF4-FFF2-40B4-BE49-F238E27FC236}">
                <a16:creationId xmlns:a16="http://schemas.microsoft.com/office/drawing/2014/main" id="{AB883CBA-77CD-4490-A5F3-BAA8FC254A3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EA5FF79-61B6-4693-8547-95B1F2F7A194}"/>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0352856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BDCB94-13E9-41CB-88F0-D30A1791DCBA}"/>
              </a:ext>
            </a:extLst>
          </p:cNvPr>
          <p:cNvSpPr>
            <a:spLocks noGrp="1"/>
          </p:cNvSpPr>
          <p:nvPr>
            <p:ph type="dt" sz="half" idx="10"/>
          </p:nvPr>
        </p:nvSpPr>
        <p:spPr/>
        <p:txBody>
          <a:bodyPr/>
          <a:lstStyle/>
          <a:p>
            <a:fld id="{E890F09B-68DA-462E-9DB4-4C9ADAB8CBCC}" type="datetime1">
              <a:rPr lang="en-US" smtClean="0"/>
              <a:t>9/16/2025</a:t>
            </a:fld>
            <a:endParaRPr lang="en-US"/>
          </a:p>
        </p:txBody>
      </p:sp>
      <p:sp>
        <p:nvSpPr>
          <p:cNvPr id="3" name="Footer Placeholder 2">
            <a:extLst>
              <a:ext uri="{FF2B5EF4-FFF2-40B4-BE49-F238E27FC236}">
                <a16:creationId xmlns:a16="http://schemas.microsoft.com/office/drawing/2014/main" id="{244795A4-736C-426D-8559-5AD5892756A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B2A2ACD-17F3-4C16-8E77-86EC92CCD552}"/>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9632394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FCB2E-B68A-48F9-8B20-CDED818FB6E0}"/>
              </a:ext>
            </a:extLst>
          </p:cNvPr>
          <p:cNvSpPr>
            <a:spLocks noGrp="1"/>
          </p:cNvSpPr>
          <p:nvPr>
            <p:ph type="title"/>
          </p:nvPr>
        </p:nvSpPr>
        <p:spPr>
          <a:xfrm>
            <a:off x="612649" y="457199"/>
            <a:ext cx="4970822" cy="2660205"/>
          </a:xfrm>
        </p:spPr>
        <p:txBody>
          <a:bodyPr anchor="b">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D081C83-64B5-4BFD-A163-75C2EA7F8973}"/>
              </a:ext>
            </a:extLst>
          </p:cNvPr>
          <p:cNvSpPr>
            <a:spLocks noGrp="1"/>
          </p:cNvSpPr>
          <p:nvPr>
            <p:ph idx="1"/>
          </p:nvPr>
        </p:nvSpPr>
        <p:spPr>
          <a:xfrm>
            <a:off x="6096000" y="457200"/>
            <a:ext cx="5483352" cy="5744003"/>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25D44AD-E361-48A3-936D-DDA0D5144510}"/>
              </a:ext>
            </a:extLst>
          </p:cNvPr>
          <p:cNvSpPr>
            <a:spLocks noGrp="1"/>
          </p:cNvSpPr>
          <p:nvPr>
            <p:ph type="body" sz="half" idx="2"/>
          </p:nvPr>
        </p:nvSpPr>
        <p:spPr>
          <a:xfrm>
            <a:off x="612649" y="3329989"/>
            <a:ext cx="4970822" cy="2871216"/>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EED06C-E016-489C-8863-EA1BE998BC48}"/>
              </a:ext>
            </a:extLst>
          </p:cNvPr>
          <p:cNvSpPr>
            <a:spLocks noGrp="1"/>
          </p:cNvSpPr>
          <p:nvPr>
            <p:ph type="dt" sz="half" idx="10"/>
          </p:nvPr>
        </p:nvSpPr>
        <p:spPr/>
        <p:txBody>
          <a:bodyPr/>
          <a:lstStyle/>
          <a:p>
            <a:fld id="{17AC4E36-FABE-47EB-AA7F-C19A93824617}" type="datetime1">
              <a:rPr lang="en-US" smtClean="0"/>
              <a:t>9/16/2025</a:t>
            </a:fld>
            <a:endParaRPr lang="en-US"/>
          </a:p>
        </p:txBody>
      </p:sp>
      <p:sp>
        <p:nvSpPr>
          <p:cNvPr id="6" name="Footer Placeholder 5">
            <a:extLst>
              <a:ext uri="{FF2B5EF4-FFF2-40B4-BE49-F238E27FC236}">
                <a16:creationId xmlns:a16="http://schemas.microsoft.com/office/drawing/2014/main" id="{359161F0-D253-49A7-9A08-7A0A228146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42C61A-B326-40A7-A286-90D0544BBC34}"/>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6230935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2DF6F-D00F-4CE4-8701-B0062734611B}"/>
              </a:ext>
            </a:extLst>
          </p:cNvPr>
          <p:cNvSpPr>
            <a:spLocks noGrp="1"/>
          </p:cNvSpPr>
          <p:nvPr>
            <p:ph type="title"/>
          </p:nvPr>
        </p:nvSpPr>
        <p:spPr>
          <a:xfrm>
            <a:off x="612649" y="457199"/>
            <a:ext cx="4970822" cy="2667485"/>
          </a:xfrm>
        </p:spPr>
        <p:txBody>
          <a:bodyPr anchor="b">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0A0FF7AB-F851-4425-8407-996C920E6847}"/>
              </a:ext>
            </a:extLst>
          </p:cNvPr>
          <p:cNvSpPr>
            <a:spLocks noGrp="1"/>
          </p:cNvSpPr>
          <p:nvPr>
            <p:ph type="pic" idx="1"/>
          </p:nvPr>
        </p:nvSpPr>
        <p:spPr>
          <a:xfrm>
            <a:off x="6096000" y="457199"/>
            <a:ext cx="5483352" cy="540385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A2ED6CF5-154F-4615-8CDC-E2BFA61FABE2}"/>
              </a:ext>
            </a:extLst>
          </p:cNvPr>
          <p:cNvSpPr>
            <a:spLocks noGrp="1"/>
          </p:cNvSpPr>
          <p:nvPr>
            <p:ph type="body" sz="half" idx="2"/>
          </p:nvPr>
        </p:nvSpPr>
        <p:spPr>
          <a:xfrm>
            <a:off x="612649" y="3322708"/>
            <a:ext cx="4970822" cy="254628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A5C400-0D13-495F-8C4E-EC3CDF5F22AF}"/>
              </a:ext>
            </a:extLst>
          </p:cNvPr>
          <p:cNvSpPr>
            <a:spLocks noGrp="1"/>
          </p:cNvSpPr>
          <p:nvPr>
            <p:ph type="dt" sz="half" idx="10"/>
          </p:nvPr>
        </p:nvSpPr>
        <p:spPr/>
        <p:txBody>
          <a:bodyPr/>
          <a:lstStyle/>
          <a:p>
            <a:fld id="{F199CE6B-5DE6-4A2D-B72E-5E8969F9F56F}" type="datetime1">
              <a:rPr lang="en-US" smtClean="0"/>
              <a:t>9/16/2025</a:t>
            </a:fld>
            <a:endParaRPr lang="en-US"/>
          </a:p>
        </p:txBody>
      </p:sp>
      <p:sp>
        <p:nvSpPr>
          <p:cNvPr id="6" name="Footer Placeholder 5">
            <a:extLst>
              <a:ext uri="{FF2B5EF4-FFF2-40B4-BE49-F238E27FC236}">
                <a16:creationId xmlns:a16="http://schemas.microsoft.com/office/drawing/2014/main" id="{4CB290D7-98AC-45E5-A7D6-73520AFC73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94276C-2BD2-4C4F-AC04-DD3D73768A5D}"/>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4791129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170B0-C1C5-4976-80E8-6B4F90EB362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097593EE-493E-4BCE-8992-24CA63E1E0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80919F-FDDD-42FB-8422-A0665D558D00}"/>
              </a:ext>
            </a:extLst>
          </p:cNvPr>
          <p:cNvSpPr>
            <a:spLocks noGrp="1"/>
          </p:cNvSpPr>
          <p:nvPr>
            <p:ph type="dt" sz="half" idx="10"/>
          </p:nvPr>
        </p:nvSpPr>
        <p:spPr/>
        <p:txBody>
          <a:bodyPr/>
          <a:lstStyle/>
          <a:p>
            <a:fld id="{46AB1048-0047-48CA-88BA-D69B470942CF}" type="datetime1">
              <a:rPr lang="en-US" smtClean="0"/>
              <a:t>9/16/2025</a:t>
            </a:fld>
            <a:endParaRPr lang="en-US"/>
          </a:p>
        </p:txBody>
      </p:sp>
      <p:sp>
        <p:nvSpPr>
          <p:cNvPr id="5" name="Footer Placeholder 4">
            <a:extLst>
              <a:ext uri="{FF2B5EF4-FFF2-40B4-BE49-F238E27FC236}">
                <a16:creationId xmlns:a16="http://schemas.microsoft.com/office/drawing/2014/main" id="{A216D38A-35F8-4667-A1F4-49644471E9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9CC230-78B7-487B-9C95-CB00868F6F1F}"/>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481780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4CB826-D9AA-4689-B8C0-38D999F0D065}"/>
              </a:ext>
            </a:extLst>
          </p:cNvPr>
          <p:cNvSpPr>
            <a:spLocks noGrp="1"/>
          </p:cNvSpPr>
          <p:nvPr>
            <p:ph type="title" orient="vert"/>
          </p:nvPr>
        </p:nvSpPr>
        <p:spPr>
          <a:xfrm>
            <a:off x="8724900" y="557784"/>
            <a:ext cx="2854452" cy="5643420"/>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A61F1CDD-16FB-45E0-9887-24374C567647}"/>
              </a:ext>
            </a:extLst>
          </p:cNvPr>
          <p:cNvSpPr>
            <a:spLocks noGrp="1"/>
          </p:cNvSpPr>
          <p:nvPr>
            <p:ph type="body" orient="vert" idx="1"/>
          </p:nvPr>
        </p:nvSpPr>
        <p:spPr>
          <a:xfrm>
            <a:off x="612648" y="557784"/>
            <a:ext cx="7734300" cy="56434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846397-BBD2-4426-B1F5-FD6EA3CDC866}"/>
              </a:ext>
            </a:extLst>
          </p:cNvPr>
          <p:cNvSpPr>
            <a:spLocks noGrp="1"/>
          </p:cNvSpPr>
          <p:nvPr>
            <p:ph type="dt" sz="half" idx="10"/>
          </p:nvPr>
        </p:nvSpPr>
        <p:spPr/>
        <p:txBody>
          <a:bodyPr/>
          <a:lstStyle/>
          <a:p>
            <a:fld id="{5BD83879-648C-49A9-81A2-0EF5946532D0}" type="datetime1">
              <a:rPr lang="en-US" smtClean="0"/>
              <a:t>9/16/2025</a:t>
            </a:fld>
            <a:endParaRPr lang="en-US"/>
          </a:p>
        </p:txBody>
      </p:sp>
      <p:sp>
        <p:nvSpPr>
          <p:cNvPr id="5" name="Footer Placeholder 4">
            <a:extLst>
              <a:ext uri="{FF2B5EF4-FFF2-40B4-BE49-F238E27FC236}">
                <a16:creationId xmlns:a16="http://schemas.microsoft.com/office/drawing/2014/main" id="{FDAB91E4-73D0-4ACD-8F54-00EE6FB1D6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B28C61-59FE-44D6-A7D6-AAD292232778}"/>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4134056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42E603F-28B7-4831-BF23-65FBAB13D5FB}"/>
              </a:ext>
            </a:extLst>
          </p:cNvPr>
          <p:cNvSpPr/>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reeform: Shape 7">
            <a:extLst>
              <a:ext uri="{FF2B5EF4-FFF2-40B4-BE49-F238E27FC236}">
                <a16:creationId xmlns:a16="http://schemas.microsoft.com/office/drawing/2014/main" id="{4D39700F-2B10-4402-A7DD-06EE2245880D}"/>
              </a:ext>
              <a:ext uri="{C183D7F6-B498-43B3-948B-1728B52AA6E4}">
                <adec:decorative xmlns:adec="http://schemas.microsoft.com/office/drawing/2017/decorative" val="1"/>
              </a:ext>
            </a:extLst>
          </p:cNvPr>
          <p:cNvSpPr/>
          <p:nvPr/>
        </p:nvSpPr>
        <p:spPr>
          <a:xfrm>
            <a:off x="-1" y="232968"/>
            <a:ext cx="9560477" cy="6625032"/>
          </a:xfrm>
          <a:custGeom>
            <a:avLst/>
            <a:gdLst>
              <a:gd name="connsiteX0" fmla="*/ 8831314 w 9263816"/>
              <a:gd name="connsiteY0" fmla="*/ 5943878 h 6858000"/>
              <a:gd name="connsiteX1" fmla="*/ 9179783 w 9263816"/>
              <a:gd name="connsiteY1" fmla="*/ 6086141 h 6858000"/>
              <a:gd name="connsiteX2" fmla="*/ 9260887 w 9263816"/>
              <a:gd name="connsiteY2" fmla="*/ 6279156 h 6858000"/>
              <a:gd name="connsiteX3" fmla="*/ 8925621 w 9263816"/>
              <a:gd name="connsiteY3" fmla="*/ 6708712 h 6858000"/>
              <a:gd name="connsiteX4" fmla="*/ 8496050 w 9263816"/>
              <a:gd name="connsiteY4" fmla="*/ 6373449 h 6858000"/>
              <a:gd name="connsiteX5" fmla="*/ 8831314 w 9263816"/>
              <a:gd name="connsiteY5" fmla="*/ 5943878 h 6858000"/>
              <a:gd name="connsiteX6" fmla="*/ 7397485 w 9263816"/>
              <a:gd name="connsiteY6" fmla="*/ 5931706 h 6858000"/>
              <a:gd name="connsiteX7" fmla="*/ 7917779 w 9263816"/>
              <a:gd name="connsiteY7" fmla="*/ 6191864 h 6858000"/>
              <a:gd name="connsiteX8" fmla="*/ 8013467 w 9263816"/>
              <a:gd name="connsiteY8" fmla="*/ 6375784 h 6858000"/>
              <a:gd name="connsiteX9" fmla="*/ 8021879 w 9263816"/>
              <a:gd name="connsiteY9" fmla="*/ 6753751 h 6858000"/>
              <a:gd name="connsiteX10" fmla="*/ 7981316 w 9263816"/>
              <a:gd name="connsiteY10" fmla="*/ 6858000 h 6858000"/>
              <a:gd name="connsiteX11" fmla="*/ 6819486 w 9263816"/>
              <a:gd name="connsiteY11" fmla="*/ 6858000 h 6858000"/>
              <a:gd name="connsiteX12" fmla="*/ 6785199 w 9263816"/>
              <a:gd name="connsiteY12" fmla="*/ 6781101 h 6858000"/>
              <a:gd name="connsiteX13" fmla="*/ 7196747 w 9263816"/>
              <a:gd name="connsiteY13" fmla="*/ 5964309 h 6858000"/>
              <a:gd name="connsiteX14" fmla="*/ 7397485 w 9263816"/>
              <a:gd name="connsiteY14" fmla="*/ 5931706 h 6858000"/>
              <a:gd name="connsiteX15" fmla="*/ 1505570 w 9263816"/>
              <a:gd name="connsiteY15" fmla="*/ 227178 h 6858000"/>
              <a:gd name="connsiteX16" fmla="*/ 2026489 w 9263816"/>
              <a:gd name="connsiteY16" fmla="*/ 392370 h 6858000"/>
              <a:gd name="connsiteX17" fmla="*/ 2444553 w 9263816"/>
              <a:gd name="connsiteY17" fmla="*/ 1654853 h 6858000"/>
              <a:gd name="connsiteX18" fmla="*/ 3183153 w 9263816"/>
              <a:gd name="connsiteY18" fmla="*/ 2116208 h 6858000"/>
              <a:gd name="connsiteX19" fmla="*/ 4288384 w 9263816"/>
              <a:gd name="connsiteY19" fmla="*/ 1291908 h 6858000"/>
              <a:gd name="connsiteX20" fmla="*/ 5472602 w 9263816"/>
              <a:gd name="connsiteY20" fmla="*/ 1697818 h 6858000"/>
              <a:gd name="connsiteX21" fmla="*/ 5844697 w 9263816"/>
              <a:gd name="connsiteY21" fmla="*/ 3444791 h 6858000"/>
              <a:gd name="connsiteX22" fmla="*/ 6715674 w 9263816"/>
              <a:gd name="connsiteY22" fmla="*/ 4065208 h 6858000"/>
              <a:gd name="connsiteX23" fmla="*/ 8130429 w 9263816"/>
              <a:gd name="connsiteY23" fmla="*/ 4101787 h 6858000"/>
              <a:gd name="connsiteX24" fmla="*/ 8624630 w 9263816"/>
              <a:gd name="connsiteY24" fmla="*/ 4686202 h 6858000"/>
              <a:gd name="connsiteX25" fmla="*/ 8623843 w 9263816"/>
              <a:gd name="connsiteY25" fmla="*/ 4685749 h 6858000"/>
              <a:gd name="connsiteX26" fmla="*/ 8646859 w 9263816"/>
              <a:gd name="connsiteY26" fmla="*/ 4835156 h 6858000"/>
              <a:gd name="connsiteX27" fmla="*/ 8079403 w 9263816"/>
              <a:gd name="connsiteY27" fmla="*/ 5661624 h 6858000"/>
              <a:gd name="connsiteX28" fmla="*/ 6833105 w 9263816"/>
              <a:gd name="connsiteY28" fmla="*/ 5397208 h 6858000"/>
              <a:gd name="connsiteX29" fmla="*/ 5900832 w 9263816"/>
              <a:gd name="connsiteY29" fmla="*/ 5944462 h 6858000"/>
              <a:gd name="connsiteX30" fmla="*/ 6067212 w 9263816"/>
              <a:gd name="connsiteY30" fmla="*/ 6811916 h 6858000"/>
              <a:gd name="connsiteX31" fmla="*/ 6089565 w 9263816"/>
              <a:gd name="connsiteY31" fmla="*/ 6858000 h 6858000"/>
              <a:gd name="connsiteX32" fmla="*/ 0 w 9263816"/>
              <a:gd name="connsiteY32" fmla="*/ 6858000 h 6858000"/>
              <a:gd name="connsiteX33" fmla="*/ 0 w 9263816"/>
              <a:gd name="connsiteY33" fmla="*/ 2181377 h 6858000"/>
              <a:gd name="connsiteX34" fmla="*/ 73069 w 9263816"/>
              <a:gd name="connsiteY34" fmla="*/ 2215839 h 6858000"/>
              <a:gd name="connsiteX35" fmla="*/ 335445 w 9263816"/>
              <a:gd name="connsiteY35" fmla="*/ 2237140 h 6858000"/>
              <a:gd name="connsiteX36" fmla="*/ 752878 w 9263816"/>
              <a:gd name="connsiteY36" fmla="*/ 1445285 h 6858000"/>
              <a:gd name="connsiteX37" fmla="*/ 1202551 w 9263816"/>
              <a:gd name="connsiteY37" fmla="*/ 314229 h 6858000"/>
              <a:gd name="connsiteX38" fmla="*/ 1505570 w 9263816"/>
              <a:gd name="connsiteY38" fmla="*/ 227178 h 6858000"/>
              <a:gd name="connsiteX39" fmla="*/ 3142509 w 9263816"/>
              <a:gd name="connsiteY39" fmla="*/ 68854 h 6858000"/>
              <a:gd name="connsiteX40" fmla="*/ 3490978 w 9263816"/>
              <a:gd name="connsiteY40" fmla="*/ 211117 h 6858000"/>
              <a:gd name="connsiteX41" fmla="*/ 3572083 w 9263816"/>
              <a:gd name="connsiteY41" fmla="*/ 404131 h 6858000"/>
              <a:gd name="connsiteX42" fmla="*/ 3236814 w 9263816"/>
              <a:gd name="connsiteY42" fmla="*/ 833688 h 6858000"/>
              <a:gd name="connsiteX43" fmla="*/ 2807245 w 9263816"/>
              <a:gd name="connsiteY43" fmla="*/ 498425 h 6858000"/>
              <a:gd name="connsiteX44" fmla="*/ 3142509 w 9263816"/>
              <a:gd name="connsiteY44" fmla="*/ 68854 h 6858000"/>
              <a:gd name="connsiteX45" fmla="*/ 0 w 9263816"/>
              <a:gd name="connsiteY45" fmla="*/ 0 h 6858000"/>
              <a:gd name="connsiteX46" fmla="*/ 39858 w 9263816"/>
              <a:gd name="connsiteY46" fmla="*/ 0 h 6858000"/>
              <a:gd name="connsiteX47" fmla="*/ 65022 w 9263816"/>
              <a:gd name="connsiteY47" fmla="*/ 5834 h 6858000"/>
              <a:gd name="connsiteX48" fmla="*/ 389258 w 9263816"/>
              <a:gd name="connsiteY48" fmla="*/ 235630 h 6858000"/>
              <a:gd name="connsiteX49" fmla="*/ 485484 w 9263816"/>
              <a:gd name="connsiteY49" fmla="*/ 420070 h 6858000"/>
              <a:gd name="connsiteX50" fmla="*/ 74229 w 9263816"/>
              <a:gd name="connsiteY50" fmla="*/ 1237955 h 6858000"/>
              <a:gd name="connsiteX51" fmla="*/ 0 w 9263816"/>
              <a:gd name="connsiteY51" fmla="*/ 125447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9263816" h="6858000">
                <a:moveTo>
                  <a:pt x="8831314" y="5943878"/>
                </a:moveTo>
                <a:cubicBezTo>
                  <a:pt x="8964281" y="5927490"/>
                  <a:pt x="9096260" y="5981362"/>
                  <a:pt x="9179783" y="6086141"/>
                </a:cubicBezTo>
                <a:cubicBezTo>
                  <a:pt x="9224074" y="6141769"/>
                  <a:pt x="9252211" y="6208560"/>
                  <a:pt x="9260887" y="6279156"/>
                </a:cubicBezTo>
                <a:cubicBezTo>
                  <a:pt x="9286897" y="6490362"/>
                  <a:pt x="9136845" y="6682672"/>
                  <a:pt x="8925621" y="6708712"/>
                </a:cubicBezTo>
                <a:cubicBezTo>
                  <a:pt x="8714398" y="6734766"/>
                  <a:pt x="8522062" y="6584655"/>
                  <a:pt x="8496050" y="6373449"/>
                </a:cubicBezTo>
                <a:cubicBezTo>
                  <a:pt x="8470038" y="6162229"/>
                  <a:pt x="8620090" y="5969920"/>
                  <a:pt x="8831314" y="5943878"/>
                </a:cubicBezTo>
                <a:close/>
                <a:moveTo>
                  <a:pt x="7397485" y="5931706"/>
                </a:moveTo>
                <a:cubicBezTo>
                  <a:pt x="7598431" y="5931157"/>
                  <a:pt x="7792965" y="6024548"/>
                  <a:pt x="7917779" y="6191864"/>
                </a:cubicBezTo>
                <a:cubicBezTo>
                  <a:pt x="7959204" y="6247714"/>
                  <a:pt x="7991530" y="6309792"/>
                  <a:pt x="8013467" y="6375784"/>
                </a:cubicBezTo>
                <a:cubicBezTo>
                  <a:pt x="8055425" y="6502973"/>
                  <a:pt x="8055748" y="6633888"/>
                  <a:pt x="8021879" y="6753751"/>
                </a:cubicBezTo>
                <a:lnTo>
                  <a:pt x="7981316" y="6858000"/>
                </a:lnTo>
                <a:lnTo>
                  <a:pt x="6819486" y="6858000"/>
                </a:lnTo>
                <a:lnTo>
                  <a:pt x="6785199" y="6781101"/>
                </a:lnTo>
                <a:cubicBezTo>
                  <a:pt x="6673307" y="6441922"/>
                  <a:pt x="6857485" y="6076251"/>
                  <a:pt x="7196747" y="5964309"/>
                </a:cubicBezTo>
                <a:cubicBezTo>
                  <a:pt x="7262809" y="5942509"/>
                  <a:pt x="7330503" y="5931889"/>
                  <a:pt x="7397485" y="5931706"/>
                </a:cubicBezTo>
                <a:close/>
                <a:moveTo>
                  <a:pt x="1505570" y="227178"/>
                </a:moveTo>
                <a:cubicBezTo>
                  <a:pt x="1691018" y="218628"/>
                  <a:pt x="1889853" y="275403"/>
                  <a:pt x="2026489" y="392370"/>
                </a:cubicBezTo>
                <a:cubicBezTo>
                  <a:pt x="2369898" y="685965"/>
                  <a:pt x="2078266" y="1147857"/>
                  <a:pt x="2444553" y="1654853"/>
                </a:cubicBezTo>
                <a:cubicBezTo>
                  <a:pt x="2492906" y="1721679"/>
                  <a:pt x="2800482" y="2144546"/>
                  <a:pt x="3183153" y="2116208"/>
                </a:cubicBezTo>
                <a:cubicBezTo>
                  <a:pt x="3673561" y="2080541"/>
                  <a:pt x="3723222" y="1441614"/>
                  <a:pt x="4288384" y="1291908"/>
                </a:cubicBezTo>
                <a:cubicBezTo>
                  <a:pt x="4689065" y="1185875"/>
                  <a:pt x="5207943" y="1366633"/>
                  <a:pt x="5472602" y="1697818"/>
                </a:cubicBezTo>
                <a:cubicBezTo>
                  <a:pt x="5891294" y="2221754"/>
                  <a:pt x="5408012" y="2790179"/>
                  <a:pt x="5844697" y="3444791"/>
                </a:cubicBezTo>
                <a:cubicBezTo>
                  <a:pt x="6149900" y="3902467"/>
                  <a:pt x="6672672" y="4053594"/>
                  <a:pt x="6715674" y="4065208"/>
                </a:cubicBezTo>
                <a:cubicBezTo>
                  <a:pt x="7326423" y="4232519"/>
                  <a:pt x="7677158" y="3817020"/>
                  <a:pt x="8130429" y="4101787"/>
                </a:cubicBezTo>
                <a:cubicBezTo>
                  <a:pt x="8226340" y="4161985"/>
                  <a:pt x="8536372" y="4356819"/>
                  <a:pt x="8624630" y="4686202"/>
                </a:cubicBezTo>
                <a:lnTo>
                  <a:pt x="8623843" y="4685749"/>
                </a:lnTo>
                <a:cubicBezTo>
                  <a:pt x="8636924" y="4734567"/>
                  <a:pt x="8644635" y="4784678"/>
                  <a:pt x="8646859" y="4835156"/>
                </a:cubicBezTo>
                <a:cubicBezTo>
                  <a:pt x="8662596" y="5196604"/>
                  <a:pt x="8398383" y="5562326"/>
                  <a:pt x="8079403" y="5661624"/>
                </a:cubicBezTo>
                <a:cubicBezTo>
                  <a:pt x="7649807" y="5795217"/>
                  <a:pt x="7430996" y="5350293"/>
                  <a:pt x="6833105" y="5397208"/>
                </a:cubicBezTo>
                <a:cubicBezTo>
                  <a:pt x="6519033" y="5421527"/>
                  <a:pt x="6056658" y="5595550"/>
                  <a:pt x="5900832" y="5944462"/>
                </a:cubicBezTo>
                <a:cubicBezTo>
                  <a:pt x="5770548" y="6236600"/>
                  <a:pt x="5916359" y="6515160"/>
                  <a:pt x="6067212" y="6811916"/>
                </a:cubicBezTo>
                <a:lnTo>
                  <a:pt x="6089565" y="6858000"/>
                </a:lnTo>
                <a:lnTo>
                  <a:pt x="0" y="6858000"/>
                </a:lnTo>
                <a:lnTo>
                  <a:pt x="0" y="2181377"/>
                </a:lnTo>
                <a:lnTo>
                  <a:pt x="73069" y="2215839"/>
                </a:lnTo>
                <a:cubicBezTo>
                  <a:pt x="165116" y="2251829"/>
                  <a:pt x="254486" y="2263171"/>
                  <a:pt x="335445" y="2237140"/>
                </a:cubicBezTo>
                <a:cubicBezTo>
                  <a:pt x="594718" y="2153707"/>
                  <a:pt x="688441" y="1733807"/>
                  <a:pt x="752878" y="1445285"/>
                </a:cubicBezTo>
                <a:cubicBezTo>
                  <a:pt x="925059" y="674068"/>
                  <a:pt x="975076" y="456292"/>
                  <a:pt x="1202551" y="314229"/>
                </a:cubicBezTo>
                <a:cubicBezTo>
                  <a:pt x="1287853" y="260956"/>
                  <a:pt x="1394302" y="232308"/>
                  <a:pt x="1505570" y="227178"/>
                </a:cubicBezTo>
                <a:close/>
                <a:moveTo>
                  <a:pt x="3142509" y="68854"/>
                </a:moveTo>
                <a:cubicBezTo>
                  <a:pt x="3275474" y="52467"/>
                  <a:pt x="3407455" y="106339"/>
                  <a:pt x="3490978" y="211117"/>
                </a:cubicBezTo>
                <a:cubicBezTo>
                  <a:pt x="3535271" y="266744"/>
                  <a:pt x="3563404" y="333535"/>
                  <a:pt x="3572083" y="404131"/>
                </a:cubicBezTo>
                <a:cubicBezTo>
                  <a:pt x="3598092" y="615337"/>
                  <a:pt x="3448040" y="807648"/>
                  <a:pt x="3236814" y="833688"/>
                </a:cubicBezTo>
                <a:cubicBezTo>
                  <a:pt x="3025594" y="859741"/>
                  <a:pt x="2833255" y="709631"/>
                  <a:pt x="2807245" y="498425"/>
                </a:cubicBezTo>
                <a:cubicBezTo>
                  <a:pt x="2781232" y="287207"/>
                  <a:pt x="2931283" y="94896"/>
                  <a:pt x="3142509" y="68854"/>
                </a:cubicBezTo>
                <a:close/>
                <a:moveTo>
                  <a:pt x="0" y="0"/>
                </a:moveTo>
                <a:lnTo>
                  <a:pt x="39858" y="0"/>
                </a:lnTo>
                <a:lnTo>
                  <a:pt x="65022" y="5834"/>
                </a:lnTo>
                <a:cubicBezTo>
                  <a:pt x="191545" y="45606"/>
                  <a:pt x="305874" y="124173"/>
                  <a:pt x="389258" y="235630"/>
                </a:cubicBezTo>
                <a:cubicBezTo>
                  <a:pt x="430983" y="291600"/>
                  <a:pt x="463360" y="353876"/>
                  <a:pt x="485484" y="420070"/>
                </a:cubicBezTo>
                <a:cubicBezTo>
                  <a:pt x="597711" y="759508"/>
                  <a:pt x="413661" y="1125662"/>
                  <a:pt x="74229" y="1237955"/>
                </a:cubicBezTo>
                <a:lnTo>
                  <a:pt x="0" y="1254477"/>
                </a:lnTo>
                <a:close/>
              </a:path>
            </a:pathLst>
          </a:custGeom>
          <a:solidFill>
            <a:schemeClr val="bg1"/>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Placeholder 1">
            <a:extLst>
              <a:ext uri="{FF2B5EF4-FFF2-40B4-BE49-F238E27FC236}">
                <a16:creationId xmlns:a16="http://schemas.microsoft.com/office/drawing/2014/main" id="{B760C036-BBCE-4F9E-AD56-DD36D4407B25}"/>
              </a:ext>
            </a:extLst>
          </p:cNvPr>
          <p:cNvSpPr>
            <a:spLocks noGrp="1"/>
          </p:cNvSpPr>
          <p:nvPr>
            <p:ph type="title"/>
          </p:nvPr>
        </p:nvSpPr>
        <p:spPr>
          <a:xfrm>
            <a:off x="609600" y="557784"/>
            <a:ext cx="10972800" cy="132556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3A5D7EC-1E6A-473F-B5A4-18CDFB6CF95A}"/>
              </a:ext>
            </a:extLst>
          </p:cNvPr>
          <p:cNvSpPr>
            <a:spLocks noGrp="1"/>
          </p:cNvSpPr>
          <p:nvPr>
            <p:ph type="body" idx="1"/>
          </p:nvPr>
        </p:nvSpPr>
        <p:spPr>
          <a:xfrm>
            <a:off x="609600" y="2106204"/>
            <a:ext cx="10972800" cy="403653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F9981C7-34D5-49A4-949D-715FD4BD8FE0}"/>
              </a:ext>
            </a:extLst>
          </p:cNvPr>
          <p:cNvSpPr>
            <a:spLocks noGrp="1"/>
          </p:cNvSpPr>
          <p:nvPr>
            <p:ph type="dt" sz="half" idx="2"/>
          </p:nvPr>
        </p:nvSpPr>
        <p:spPr>
          <a:xfrm>
            <a:off x="609600" y="6356350"/>
            <a:ext cx="2743200" cy="365125"/>
          </a:xfrm>
          <a:prstGeom prst="rect">
            <a:avLst/>
          </a:prstGeom>
        </p:spPr>
        <p:txBody>
          <a:bodyPr vert="horz" lIns="91440" tIns="45720" rIns="91440" bIns="45720" rtlCol="0" anchor="ctr"/>
          <a:lstStyle>
            <a:lvl1pPr algn="l">
              <a:defRPr lang="en-US" sz="800" kern="1200" cap="all" spc="200" smtClean="0">
                <a:solidFill>
                  <a:schemeClr val="tx1"/>
                </a:solidFill>
                <a:latin typeface="+mn-lt"/>
                <a:ea typeface="+mn-ea"/>
                <a:cs typeface="Segoe UI Semilight" panose="020B0402040204020203" pitchFamily="34" charset="0"/>
              </a:defRPr>
            </a:lvl1pPr>
          </a:lstStyle>
          <a:p>
            <a:fld id="{F481A142-DA77-4A5F-AD1F-14E6C18F0F5F}" type="datetime1">
              <a:rPr lang="en-US" smtClean="0"/>
              <a:t>9/16/2025</a:t>
            </a:fld>
            <a:endParaRPr lang="en-US" dirty="0"/>
          </a:p>
        </p:txBody>
      </p:sp>
      <p:sp>
        <p:nvSpPr>
          <p:cNvPr id="5" name="Footer Placeholder 4">
            <a:extLst>
              <a:ext uri="{FF2B5EF4-FFF2-40B4-BE49-F238E27FC236}">
                <a16:creationId xmlns:a16="http://schemas.microsoft.com/office/drawing/2014/main" id="{FA85CE6E-733D-4C60-B40B-C7C10CB5AF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en-US" sz="800" kern="1200" cap="all" spc="200" dirty="0">
                <a:solidFill>
                  <a:schemeClr val="tx1"/>
                </a:solidFill>
                <a:latin typeface="+mn-lt"/>
                <a:ea typeface="+mn-ea"/>
                <a:cs typeface="Segoe UI Semilight" panose="020B0402040204020203" pitchFamily="34" charset="0"/>
              </a:defRPr>
            </a:lvl1pPr>
          </a:lstStyle>
          <a:p>
            <a:endParaRPr lang="en-US" dirty="0"/>
          </a:p>
        </p:txBody>
      </p:sp>
      <p:sp>
        <p:nvSpPr>
          <p:cNvPr id="6" name="Slide Number Placeholder 5">
            <a:extLst>
              <a:ext uri="{FF2B5EF4-FFF2-40B4-BE49-F238E27FC236}">
                <a16:creationId xmlns:a16="http://schemas.microsoft.com/office/drawing/2014/main" id="{92D80D8B-7909-4114-8EBA-C3086DC62B08}"/>
              </a:ext>
            </a:extLst>
          </p:cNvPr>
          <p:cNvSpPr>
            <a:spLocks noGrp="1"/>
          </p:cNvSpPr>
          <p:nvPr>
            <p:ph type="sldNum" sz="quarter" idx="4"/>
          </p:nvPr>
        </p:nvSpPr>
        <p:spPr>
          <a:xfrm>
            <a:off x="10134600" y="6356350"/>
            <a:ext cx="1447800" cy="365125"/>
          </a:xfrm>
          <a:prstGeom prst="rect">
            <a:avLst/>
          </a:prstGeom>
        </p:spPr>
        <p:txBody>
          <a:bodyPr vert="horz" lIns="91440" tIns="45720" rIns="91440" bIns="45720" rtlCol="0" anchor="ctr"/>
          <a:lstStyle>
            <a:lvl1pPr algn="r">
              <a:defRPr lang="en-US" sz="800" kern="1200" cap="all" spc="200" smtClean="0">
                <a:solidFill>
                  <a:schemeClr val="tx1"/>
                </a:solidFill>
                <a:latin typeface="+mn-lt"/>
                <a:ea typeface="+mn-ea"/>
                <a:cs typeface="Segoe UI Semilight" panose="020B0402040204020203" pitchFamily="34" charset="0"/>
              </a:defRPr>
            </a:lvl1pPr>
          </a:lstStyle>
          <a:p>
            <a:fld id="{1F646F3F-274D-499B-ABBE-824EB4ABDC3D}" type="slidenum">
              <a:rPr lang="en-US" smtClean="0"/>
              <a:pPr/>
              <a:t>‹#›</a:t>
            </a:fld>
            <a:endParaRPr lang="en-US"/>
          </a:p>
        </p:txBody>
      </p:sp>
    </p:spTree>
    <p:extLst>
      <p:ext uri="{BB962C8B-B14F-4D97-AF65-F5344CB8AC3E}">
        <p14:creationId xmlns:p14="http://schemas.microsoft.com/office/powerpoint/2010/main" val="1691466985"/>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18" r:id="rId6"/>
    <p:sldLayoutId id="2147483714" r:id="rId7"/>
    <p:sldLayoutId id="2147483715" r:id="rId8"/>
    <p:sldLayoutId id="2147483716" r:id="rId9"/>
    <p:sldLayoutId id="2147483717" r:id="rId10"/>
    <p:sldLayoutId id="2147483719" r:id="rId11"/>
  </p:sldLayoutIdLst>
  <p:hf sldNum="0" hdr="0" ftr="0" dt="0"/>
  <p:txStyles>
    <p:titleStyle>
      <a:lvl1pPr algn="l" defTabSz="914400" rtl="0" eaLnBrk="1" latinLnBrk="0" hangingPunct="1">
        <a:lnSpc>
          <a:spcPct val="10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Clr>
          <a:schemeClr val="accent5"/>
        </a:buClr>
        <a:buFont typeface="Avenir Next LT Pro" panose="020B0504020202020204" pitchFamily="34" charset="0"/>
        <a:buNone/>
        <a:defRPr sz="2000" kern="1200">
          <a:solidFill>
            <a:schemeClr val="tx1"/>
          </a:solidFill>
          <a:latin typeface="+mn-lt"/>
          <a:ea typeface="+mn-ea"/>
          <a:cs typeface="+mn-cs"/>
        </a:defRPr>
      </a:lvl1pPr>
      <a:lvl2pPr marL="228600" indent="0" algn="l" defTabSz="914400" rtl="0" eaLnBrk="1" latinLnBrk="0" hangingPunct="1">
        <a:lnSpc>
          <a:spcPct val="110000"/>
        </a:lnSpc>
        <a:spcBef>
          <a:spcPts val="500"/>
        </a:spcBef>
        <a:buClr>
          <a:schemeClr val="accent5"/>
        </a:buClr>
        <a:buFont typeface="Avenir Next LT Pro" panose="020B0504020202020204" pitchFamily="34" charset="0"/>
        <a:buNone/>
        <a:defRPr sz="1800" kern="1200">
          <a:solidFill>
            <a:schemeClr val="tx1"/>
          </a:solidFill>
          <a:latin typeface="+mn-lt"/>
          <a:ea typeface="+mn-ea"/>
          <a:cs typeface="+mn-cs"/>
        </a:defRPr>
      </a:lvl2pPr>
      <a:lvl3pPr marL="457200" indent="0" algn="l" defTabSz="914400" rtl="0" eaLnBrk="1" latinLnBrk="0" hangingPunct="1">
        <a:lnSpc>
          <a:spcPct val="110000"/>
        </a:lnSpc>
        <a:spcBef>
          <a:spcPts val="500"/>
        </a:spcBef>
        <a:buClr>
          <a:schemeClr val="accent5"/>
        </a:buClr>
        <a:buFont typeface="Avenir Next LT Pro" panose="020B0504020202020204" pitchFamily="34" charset="0"/>
        <a:buNone/>
        <a:defRPr sz="1600" kern="1200">
          <a:solidFill>
            <a:schemeClr val="tx1"/>
          </a:solidFill>
          <a:latin typeface="+mn-lt"/>
          <a:ea typeface="+mn-ea"/>
          <a:cs typeface="+mn-cs"/>
        </a:defRPr>
      </a:lvl3pPr>
      <a:lvl4pPr marL="685800" indent="0" algn="l" defTabSz="914400" rtl="0" eaLnBrk="1" latinLnBrk="0" hangingPunct="1">
        <a:lnSpc>
          <a:spcPct val="110000"/>
        </a:lnSpc>
        <a:spcBef>
          <a:spcPts val="500"/>
        </a:spcBef>
        <a:buClr>
          <a:schemeClr val="accent5"/>
        </a:buClr>
        <a:buFont typeface="Avenir Next LT Pro" panose="020B05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10000"/>
        </a:lnSpc>
        <a:spcBef>
          <a:spcPts val="500"/>
        </a:spcBef>
        <a:buClr>
          <a:schemeClr val="accent5"/>
        </a:buClr>
        <a:buFont typeface="Avenir Next LT Pro" panose="020B05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7.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1.png"/><Relationship Id="rId1" Type="http://schemas.openxmlformats.org/officeDocument/2006/relationships/slideLayout" Target="../slideLayouts/slideLayout2.xml"/><Relationship Id="rId5" Type="http://schemas.microsoft.com/office/2007/relationships/hdphoto" Target="../media/hdphoto8.wdp"/><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Background Fill">
            <a:extLst>
              <a:ext uri="{FF2B5EF4-FFF2-40B4-BE49-F238E27FC236}">
                <a16:creationId xmlns:a16="http://schemas.microsoft.com/office/drawing/2014/main" id="{68CA250C-CF5A-4736-9249-D6111F7C55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32274B4-B001-4088-B01D-E6999509E2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38817BA-C20E-DF6B-48D5-407331916E26}"/>
              </a:ext>
            </a:extLst>
          </p:cNvPr>
          <p:cNvSpPr>
            <a:spLocks noGrp="1"/>
          </p:cNvSpPr>
          <p:nvPr>
            <p:ph type="ctrTitle"/>
          </p:nvPr>
        </p:nvSpPr>
        <p:spPr>
          <a:xfrm>
            <a:off x="467858" y="1817540"/>
            <a:ext cx="4681595" cy="2902478"/>
          </a:xfrm>
        </p:spPr>
        <p:txBody>
          <a:bodyPr>
            <a:noAutofit/>
          </a:bodyPr>
          <a:lstStyle/>
          <a:p>
            <a:r>
              <a:rPr lang="en-NG" sz="3200" b="1" dirty="0">
                <a:latin typeface="Georgia" panose="02040502050405020303" pitchFamily="18" charset="0"/>
              </a:rPr>
              <a:t>THE SENIOR ADVOCATE OF NIGERIA: ORIGIN, EVOLUTION</a:t>
            </a:r>
            <a:r>
              <a:rPr lang="en-US" sz="3200" b="1" dirty="0">
                <a:latin typeface="Georgia" panose="02040502050405020303" pitchFamily="18" charset="0"/>
              </a:rPr>
              <a:t>,</a:t>
            </a:r>
            <a:r>
              <a:rPr lang="en-NG" sz="3200" b="1" dirty="0">
                <a:latin typeface="Georgia" panose="02040502050405020303" pitchFamily="18" charset="0"/>
              </a:rPr>
              <a:t> AND ROLE OF THE RANK IN SHAPING NIGERIA'S LEGAL PROFESSION</a:t>
            </a:r>
            <a:endParaRPr lang="en-US" sz="3200" b="1" dirty="0">
              <a:latin typeface="Georgia" panose="02040502050405020303" pitchFamily="18" charset="0"/>
            </a:endParaRPr>
          </a:p>
        </p:txBody>
      </p:sp>
      <p:sp>
        <p:nvSpPr>
          <p:cNvPr id="3" name="Subtitle 2">
            <a:extLst>
              <a:ext uri="{FF2B5EF4-FFF2-40B4-BE49-F238E27FC236}">
                <a16:creationId xmlns:a16="http://schemas.microsoft.com/office/drawing/2014/main" id="{FA1FB575-F7EA-96C2-2595-E993DB962564}"/>
              </a:ext>
            </a:extLst>
          </p:cNvPr>
          <p:cNvSpPr>
            <a:spLocks noGrp="1"/>
          </p:cNvSpPr>
          <p:nvPr>
            <p:ph type="subTitle" idx="1"/>
          </p:nvPr>
        </p:nvSpPr>
        <p:spPr>
          <a:xfrm>
            <a:off x="115692" y="5214171"/>
            <a:ext cx="6868206" cy="1086045"/>
          </a:xfrm>
        </p:spPr>
        <p:txBody>
          <a:bodyPr>
            <a:normAutofit/>
          </a:bodyPr>
          <a:lstStyle/>
          <a:p>
            <a:r>
              <a:rPr lang="en-US" sz="3500" dirty="0">
                <a:latin typeface="Georgia" panose="02040502050405020303" pitchFamily="18" charset="0"/>
              </a:rPr>
              <a:t>PROF. YUSUF ALI SAN, </a:t>
            </a:r>
            <a:r>
              <a:rPr lang="en-US" sz="1400" b="1" dirty="0">
                <a:latin typeface="Georgia" panose="02040502050405020303" pitchFamily="18" charset="0"/>
              </a:rPr>
              <a:t>FCIArb.</a:t>
            </a:r>
            <a:endParaRPr lang="en-GB" sz="1400" dirty="0"/>
          </a:p>
        </p:txBody>
      </p:sp>
      <p:pic>
        <p:nvPicPr>
          <p:cNvPr id="4" name="Picture 3">
            <a:extLst>
              <a:ext uri="{FF2B5EF4-FFF2-40B4-BE49-F238E27FC236}">
                <a16:creationId xmlns:a16="http://schemas.microsoft.com/office/drawing/2014/main" id="{AF4D44E9-DBE0-4703-C25B-A5073DE761A8}"/>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t="2615" b="2615"/>
          <a:stretch/>
        </p:blipFill>
        <p:spPr>
          <a:xfrm>
            <a:off x="4955602" y="10"/>
            <a:ext cx="7236398" cy="6857990"/>
          </a:xfrm>
          <a:custGeom>
            <a:avLst/>
            <a:gdLst/>
            <a:ahLst/>
            <a:cxnLst/>
            <a:rect l="l" t="t" r="r" b="b"/>
            <a:pathLst>
              <a:path w="7726675" h="6858000">
                <a:moveTo>
                  <a:pt x="2975226" y="5978334"/>
                </a:moveTo>
                <a:cubicBezTo>
                  <a:pt x="3002582" y="5978928"/>
                  <a:pt x="3030286" y="5982273"/>
                  <a:pt x="3058007" y="5988576"/>
                </a:cubicBezTo>
                <a:cubicBezTo>
                  <a:pt x="3279778" y="6038998"/>
                  <a:pt x="3418684" y="6259656"/>
                  <a:pt x="3368261" y="6481427"/>
                </a:cubicBezTo>
                <a:cubicBezTo>
                  <a:pt x="3317839" y="6703198"/>
                  <a:pt x="3097182" y="6842104"/>
                  <a:pt x="2875410" y="6791681"/>
                </a:cubicBezTo>
                <a:cubicBezTo>
                  <a:pt x="2653640" y="6741259"/>
                  <a:pt x="2514734" y="6520601"/>
                  <a:pt x="2565157" y="6298830"/>
                </a:cubicBezTo>
                <a:cubicBezTo>
                  <a:pt x="2609276" y="6104780"/>
                  <a:pt x="2783732" y="5974174"/>
                  <a:pt x="2975226" y="5978334"/>
                </a:cubicBezTo>
                <a:close/>
                <a:moveTo>
                  <a:pt x="542891" y="1298362"/>
                </a:moveTo>
                <a:cubicBezTo>
                  <a:pt x="578216" y="1299129"/>
                  <a:pt x="613991" y="1303448"/>
                  <a:pt x="649789" y="1311587"/>
                </a:cubicBezTo>
                <a:cubicBezTo>
                  <a:pt x="936170" y="1376700"/>
                  <a:pt x="1115545" y="1661643"/>
                  <a:pt x="1050432" y="1948025"/>
                </a:cubicBezTo>
                <a:cubicBezTo>
                  <a:pt x="985319" y="2234407"/>
                  <a:pt x="700376" y="2413781"/>
                  <a:pt x="413995" y="2348669"/>
                </a:cubicBezTo>
                <a:cubicBezTo>
                  <a:pt x="127612" y="2283556"/>
                  <a:pt x="-51762" y="1998612"/>
                  <a:pt x="13351" y="1712231"/>
                </a:cubicBezTo>
                <a:cubicBezTo>
                  <a:pt x="70325" y="1461647"/>
                  <a:pt x="295606" y="1292990"/>
                  <a:pt x="542891" y="1298362"/>
                </a:cubicBezTo>
                <a:close/>
                <a:moveTo>
                  <a:pt x="362049" y="446831"/>
                </a:moveTo>
                <a:cubicBezTo>
                  <a:pt x="382746" y="447281"/>
                  <a:pt x="403706" y="449811"/>
                  <a:pt x="424679" y="454579"/>
                </a:cubicBezTo>
                <a:cubicBezTo>
                  <a:pt x="592463" y="492727"/>
                  <a:pt x="697554" y="659668"/>
                  <a:pt x="659405" y="827452"/>
                </a:cubicBezTo>
                <a:cubicBezTo>
                  <a:pt x="621257" y="995236"/>
                  <a:pt x="454318" y="1100327"/>
                  <a:pt x="286534" y="1062179"/>
                </a:cubicBezTo>
                <a:cubicBezTo>
                  <a:pt x="118749" y="1024031"/>
                  <a:pt x="13658" y="857091"/>
                  <a:pt x="51806" y="689306"/>
                </a:cubicBezTo>
                <a:cubicBezTo>
                  <a:pt x="85186" y="542495"/>
                  <a:pt x="217172" y="443684"/>
                  <a:pt x="362049" y="446831"/>
                </a:cubicBezTo>
                <a:close/>
                <a:moveTo>
                  <a:pt x="688320" y="0"/>
                </a:moveTo>
                <a:lnTo>
                  <a:pt x="5442022" y="0"/>
                </a:lnTo>
                <a:lnTo>
                  <a:pt x="7726675" y="0"/>
                </a:lnTo>
                <a:lnTo>
                  <a:pt x="7726675" y="988372"/>
                </a:lnTo>
                <a:lnTo>
                  <a:pt x="7726675" y="6858000"/>
                </a:lnTo>
                <a:lnTo>
                  <a:pt x="4265234" y="6858000"/>
                </a:lnTo>
                <a:lnTo>
                  <a:pt x="4167452" y="6648946"/>
                </a:lnTo>
                <a:cubicBezTo>
                  <a:pt x="4064668" y="6438534"/>
                  <a:pt x="3951418" y="6237194"/>
                  <a:pt x="3802376" y="6067515"/>
                </a:cubicBezTo>
                <a:cubicBezTo>
                  <a:pt x="3433898" y="5648543"/>
                  <a:pt x="2855445" y="5560200"/>
                  <a:pt x="2314714" y="5492960"/>
                </a:cubicBezTo>
                <a:cubicBezTo>
                  <a:pt x="1689319" y="5415368"/>
                  <a:pt x="1105502" y="5269445"/>
                  <a:pt x="626568" y="4822392"/>
                </a:cubicBezTo>
                <a:cubicBezTo>
                  <a:pt x="42544" y="4277286"/>
                  <a:pt x="59772" y="3691233"/>
                  <a:pt x="462831" y="3184007"/>
                </a:cubicBezTo>
                <a:cubicBezTo>
                  <a:pt x="688845" y="2899538"/>
                  <a:pt x="972083" y="2660548"/>
                  <a:pt x="1228189" y="2399566"/>
                </a:cubicBezTo>
                <a:cubicBezTo>
                  <a:pt x="1460698" y="2161897"/>
                  <a:pt x="1522193" y="1866062"/>
                  <a:pt x="1384674" y="1566341"/>
                </a:cubicBezTo>
                <a:cubicBezTo>
                  <a:pt x="1239184" y="1249484"/>
                  <a:pt x="1095206" y="930335"/>
                  <a:pt x="922279" y="628332"/>
                </a:cubicBezTo>
                <a:cubicBezTo>
                  <a:pt x="805583" y="424593"/>
                  <a:pt x="731712" y="225291"/>
                  <a:pt x="693729" y="33341"/>
                </a:cubicBezTo>
                <a:close/>
              </a:path>
            </a:pathLst>
          </a:custGeom>
        </p:spPr>
      </p:pic>
    </p:spTree>
    <p:extLst>
      <p:ext uri="{BB962C8B-B14F-4D97-AF65-F5344CB8AC3E}">
        <p14:creationId xmlns:p14="http://schemas.microsoft.com/office/powerpoint/2010/main" val="27057704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2CD97-233A-36BA-512D-63A2C29DF573}"/>
            </a:ext>
          </a:extLst>
        </p:cNvPr>
        <p:cNvGrpSpPr/>
        <p:nvPr/>
      </p:nvGrpSpPr>
      <p:grpSpPr>
        <a:xfrm>
          <a:off x="0" y="0"/>
          <a:ext cx="0" cy="0"/>
          <a:chOff x="0" y="0"/>
          <a:chExt cx="0" cy="0"/>
        </a:xfrm>
      </p:grpSpPr>
      <p:sp useBgFill="1">
        <p:nvSpPr>
          <p:cNvPr id="8" name="Background Fill">
            <a:extLst>
              <a:ext uri="{FF2B5EF4-FFF2-40B4-BE49-F238E27FC236}">
                <a16:creationId xmlns:a16="http://schemas.microsoft.com/office/drawing/2014/main" id="{9FA11AAE-9556-56F6-E6A6-9AE124B6B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FB30BA1-F19F-4E6F-B0B3-2B9687BD81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0792C12-6906-1DCE-53D1-C5120B3E1CEA}"/>
              </a:ext>
            </a:extLst>
          </p:cNvPr>
          <p:cNvSpPr>
            <a:spLocks noGrp="1"/>
          </p:cNvSpPr>
          <p:nvPr>
            <p:ph type="title"/>
          </p:nvPr>
        </p:nvSpPr>
        <p:spPr>
          <a:xfrm>
            <a:off x="1057162" y="295439"/>
            <a:ext cx="8197977" cy="832708"/>
          </a:xfrm>
        </p:spPr>
        <p:txBody>
          <a:bodyPr>
            <a:normAutofit/>
          </a:bodyPr>
          <a:lstStyle/>
          <a:p>
            <a:r>
              <a:rPr lang="en-GB" sz="4000" b="1" dirty="0">
                <a:latin typeface="Georgia" panose="02040502050405020303" pitchFamily="18" charset="0"/>
              </a:rPr>
              <a:t>Presentation Outline</a:t>
            </a:r>
          </a:p>
        </p:txBody>
      </p:sp>
      <p:sp>
        <p:nvSpPr>
          <p:cNvPr id="3" name="Content Placeholder 2">
            <a:extLst>
              <a:ext uri="{FF2B5EF4-FFF2-40B4-BE49-F238E27FC236}">
                <a16:creationId xmlns:a16="http://schemas.microsoft.com/office/drawing/2014/main" id="{ECA5ACE4-A0A5-C49E-1F5E-52EB7F8DF995}"/>
              </a:ext>
            </a:extLst>
          </p:cNvPr>
          <p:cNvSpPr>
            <a:spLocks noGrp="1"/>
          </p:cNvSpPr>
          <p:nvPr>
            <p:ph idx="1"/>
          </p:nvPr>
        </p:nvSpPr>
        <p:spPr>
          <a:xfrm>
            <a:off x="1057163" y="971100"/>
            <a:ext cx="8197976" cy="5523715"/>
          </a:xfrm>
        </p:spPr>
        <p:txBody>
          <a:bodyPr anchor="b">
            <a:noAutofit/>
          </a:bodyPr>
          <a:lstStyle/>
          <a:p>
            <a:pPr algn="just"/>
            <a:endParaRPr lang="en-US" b="1" dirty="0">
              <a:solidFill>
                <a:schemeClr val="tx1"/>
              </a:solidFill>
              <a:latin typeface="Georgia" panose="02040502050405020303" pitchFamily="18" charset="0"/>
            </a:endParaRPr>
          </a:p>
          <a:p>
            <a:pPr marL="342900" indent="-342900" algn="just">
              <a:lnSpc>
                <a:spcPct val="100000"/>
              </a:lnSpc>
              <a:buClr>
                <a:schemeClr val="tx1"/>
              </a:buClr>
              <a:buFont typeface="Wingdings" panose="05000000000000000000" pitchFamily="2" charset="2"/>
              <a:buChar char="§"/>
            </a:pPr>
            <a:r>
              <a:rPr lang="en-US" b="1" dirty="0">
                <a:latin typeface="Georgia" panose="02040502050405020303" pitchFamily="18" charset="0"/>
              </a:rPr>
              <a:t>Abstract </a:t>
            </a:r>
          </a:p>
          <a:p>
            <a:pPr marL="342900" indent="-342900" algn="just">
              <a:lnSpc>
                <a:spcPct val="100000"/>
              </a:lnSpc>
              <a:buClr>
                <a:schemeClr val="tx1"/>
              </a:buClr>
              <a:buFont typeface="Wingdings" panose="05000000000000000000" pitchFamily="2" charset="2"/>
              <a:buChar char="§"/>
            </a:pPr>
            <a:r>
              <a:rPr lang="en-US" b="1" dirty="0">
                <a:solidFill>
                  <a:schemeClr val="tx1"/>
                </a:solidFill>
                <a:latin typeface="Georgia" panose="02040502050405020303" pitchFamily="18" charset="0"/>
              </a:rPr>
              <a:t>Introduction </a:t>
            </a:r>
            <a:endParaRPr lang="en-US" b="1" dirty="0">
              <a:latin typeface="Georgia" panose="02040502050405020303" pitchFamily="18" charset="0"/>
            </a:endParaRPr>
          </a:p>
          <a:p>
            <a:pPr marL="342900" indent="-342900" algn="just">
              <a:lnSpc>
                <a:spcPct val="100000"/>
              </a:lnSpc>
              <a:buClr>
                <a:schemeClr val="tx1"/>
              </a:buClr>
              <a:buFont typeface="Wingdings" panose="05000000000000000000" pitchFamily="2" charset="2"/>
              <a:buChar char="§"/>
            </a:pPr>
            <a:r>
              <a:rPr lang="en-US" b="1" dirty="0">
                <a:latin typeface="Georgia" panose="02040502050405020303" pitchFamily="18" charset="0"/>
              </a:rPr>
              <a:t>The </a:t>
            </a:r>
            <a:r>
              <a:rPr lang="en-NG" b="1" dirty="0">
                <a:latin typeface="Georgia" panose="02040502050405020303" pitchFamily="18" charset="0"/>
              </a:rPr>
              <a:t>Rank of S</a:t>
            </a:r>
            <a:r>
              <a:rPr lang="en-US" b="1" dirty="0">
                <a:latin typeface="Georgia" panose="02040502050405020303" pitchFamily="18" charset="0"/>
              </a:rPr>
              <a:t>AN </a:t>
            </a:r>
            <a:r>
              <a:rPr lang="en-NG" b="1" dirty="0">
                <a:latin typeface="Georgia" panose="02040502050405020303" pitchFamily="18" charset="0"/>
              </a:rPr>
              <a:t>– meaning and what it represents </a:t>
            </a:r>
            <a:endParaRPr lang="en-US" b="1" dirty="0">
              <a:latin typeface="Georgia" panose="02040502050405020303" pitchFamily="18" charset="0"/>
            </a:endParaRPr>
          </a:p>
          <a:p>
            <a:pPr marL="342900" indent="-342900" algn="just">
              <a:lnSpc>
                <a:spcPct val="100000"/>
              </a:lnSpc>
              <a:buClr>
                <a:schemeClr val="tx1"/>
              </a:buClr>
              <a:buFont typeface="Wingdings" panose="05000000000000000000" pitchFamily="2" charset="2"/>
              <a:buChar char="§"/>
            </a:pPr>
            <a:r>
              <a:rPr lang="en-US" b="1" dirty="0">
                <a:latin typeface="Georgia" panose="02040502050405020303" pitchFamily="18" charset="0"/>
              </a:rPr>
              <a:t>Historical Foundation and Evolution of the Rank of SAN</a:t>
            </a:r>
          </a:p>
          <a:p>
            <a:pPr marL="342900" indent="-342900" algn="just">
              <a:lnSpc>
                <a:spcPct val="100000"/>
              </a:lnSpc>
              <a:buClr>
                <a:schemeClr val="tx1"/>
              </a:buClr>
              <a:buFont typeface="Wingdings" panose="05000000000000000000" pitchFamily="2" charset="2"/>
              <a:buChar char="§"/>
            </a:pPr>
            <a:r>
              <a:rPr lang="en-US" b="1" dirty="0">
                <a:latin typeface="Georgia" panose="02040502050405020303" pitchFamily="18" charset="0"/>
              </a:rPr>
              <a:t>Privileges and Restrictions of the Rank of SAN</a:t>
            </a:r>
          </a:p>
          <a:p>
            <a:pPr marL="342900" indent="-342900" algn="just">
              <a:lnSpc>
                <a:spcPct val="100000"/>
              </a:lnSpc>
              <a:buClr>
                <a:schemeClr val="tx1"/>
              </a:buClr>
              <a:buFont typeface="Wingdings" panose="05000000000000000000" pitchFamily="2" charset="2"/>
              <a:buChar char="§"/>
            </a:pPr>
            <a:r>
              <a:rPr lang="en-US" b="1" dirty="0">
                <a:latin typeface="Georgia" panose="02040502050405020303" pitchFamily="18" charset="0"/>
              </a:rPr>
              <a:t>The Role and Significance of the Rank of SAN in shaping the Legal Profession </a:t>
            </a:r>
          </a:p>
          <a:p>
            <a:pPr marL="342900" indent="-342900" algn="just">
              <a:lnSpc>
                <a:spcPct val="100000"/>
              </a:lnSpc>
              <a:buClr>
                <a:schemeClr val="tx1"/>
              </a:buClr>
              <a:buFont typeface="Wingdings" panose="05000000000000000000" pitchFamily="2" charset="2"/>
              <a:buChar char="§"/>
            </a:pPr>
            <a:r>
              <a:rPr lang="en-US" b="1" dirty="0">
                <a:latin typeface="Georgia" panose="02040502050405020303" pitchFamily="18" charset="0"/>
              </a:rPr>
              <a:t>Challenges and Criticisms of the SAN Rank </a:t>
            </a:r>
          </a:p>
          <a:p>
            <a:pPr marL="342900" indent="-342900" algn="just">
              <a:lnSpc>
                <a:spcPct val="100000"/>
              </a:lnSpc>
              <a:buClr>
                <a:schemeClr val="tx1"/>
              </a:buClr>
              <a:buFont typeface="Wingdings" panose="05000000000000000000" pitchFamily="2" charset="2"/>
              <a:buChar char="§"/>
            </a:pPr>
            <a:r>
              <a:rPr lang="en-US" b="1" dirty="0">
                <a:latin typeface="Georgia" panose="02040502050405020303" pitchFamily="18" charset="0"/>
              </a:rPr>
              <a:t>The Future of the Rank of SAN </a:t>
            </a:r>
          </a:p>
          <a:p>
            <a:pPr marL="342900" indent="-342900" algn="just">
              <a:lnSpc>
                <a:spcPct val="100000"/>
              </a:lnSpc>
              <a:buClr>
                <a:schemeClr val="tx1"/>
              </a:buClr>
              <a:buFont typeface="Wingdings" panose="05000000000000000000" pitchFamily="2" charset="2"/>
              <a:buChar char="§"/>
            </a:pPr>
            <a:r>
              <a:rPr lang="en-US" b="1" dirty="0">
                <a:latin typeface="Georgia" panose="02040502050405020303" pitchFamily="18" charset="0"/>
              </a:rPr>
              <a:t>Core Attributes of a SAN </a:t>
            </a:r>
          </a:p>
          <a:p>
            <a:pPr marL="342900" indent="-342900" algn="just">
              <a:lnSpc>
                <a:spcPct val="100000"/>
              </a:lnSpc>
              <a:buClr>
                <a:schemeClr val="tx1"/>
              </a:buClr>
              <a:buFont typeface="Wingdings" panose="05000000000000000000" pitchFamily="2" charset="2"/>
              <a:buChar char="§"/>
            </a:pPr>
            <a:r>
              <a:rPr lang="en-US" b="1" dirty="0">
                <a:latin typeface="Georgia" panose="02040502050405020303" pitchFamily="18" charset="0"/>
              </a:rPr>
              <a:t>A Charge to the new SANs</a:t>
            </a:r>
          </a:p>
          <a:p>
            <a:pPr marL="342900" indent="-342900" algn="just">
              <a:lnSpc>
                <a:spcPct val="100000"/>
              </a:lnSpc>
              <a:buClr>
                <a:schemeClr val="tx1"/>
              </a:buClr>
              <a:buFont typeface="Wingdings" panose="05000000000000000000" pitchFamily="2" charset="2"/>
              <a:buChar char="§"/>
            </a:pPr>
            <a:r>
              <a:rPr lang="en-US" b="1" dirty="0">
                <a:latin typeface="Georgia" panose="02040502050405020303" pitchFamily="18" charset="0"/>
              </a:rPr>
              <a:t>Conclusion </a:t>
            </a:r>
          </a:p>
        </p:txBody>
      </p:sp>
      <p:sp>
        <p:nvSpPr>
          <p:cNvPr id="12" name="Freeform: Shape 11">
            <a:extLst>
              <a:ext uri="{FF2B5EF4-FFF2-40B4-BE49-F238E27FC236}">
                <a16:creationId xmlns:a16="http://schemas.microsoft.com/office/drawing/2014/main" id="{72F83D32-700A-9CD7-84FE-BCFAAEAAF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58188" y="0"/>
            <a:ext cx="2933812" cy="2750153"/>
          </a:xfrm>
          <a:custGeom>
            <a:avLst/>
            <a:gdLst>
              <a:gd name="connsiteX0" fmla="*/ 1067830 w 2933812"/>
              <a:gd name="connsiteY0" fmla="*/ 776732 h 2750153"/>
              <a:gd name="connsiteX1" fmla="*/ 1305537 w 2933812"/>
              <a:gd name="connsiteY1" fmla="*/ 842083 h 2750153"/>
              <a:gd name="connsiteX2" fmla="*/ 1421053 w 2933812"/>
              <a:gd name="connsiteY2" fmla="*/ 1397856 h 2750153"/>
              <a:gd name="connsiteX3" fmla="*/ 865267 w 2933812"/>
              <a:gd name="connsiteY3" fmla="*/ 1513301 h 2750153"/>
              <a:gd name="connsiteX4" fmla="*/ 749819 w 2933812"/>
              <a:gd name="connsiteY4" fmla="*/ 957568 h 2750153"/>
              <a:gd name="connsiteX5" fmla="*/ 836727 w 2933812"/>
              <a:gd name="connsiteY5" fmla="*/ 862679 h 2750153"/>
              <a:gd name="connsiteX6" fmla="*/ 1067830 w 2933812"/>
              <a:gd name="connsiteY6" fmla="*/ 776732 h 2750153"/>
              <a:gd name="connsiteX7" fmla="*/ 209205 w 2933812"/>
              <a:gd name="connsiteY7" fmla="*/ 551704 h 2750153"/>
              <a:gd name="connsiteX8" fmla="*/ 328901 w 2933812"/>
              <a:gd name="connsiteY8" fmla="*/ 567267 h 2750153"/>
              <a:gd name="connsiteX9" fmla="*/ 460887 w 2933812"/>
              <a:gd name="connsiteY9" fmla="*/ 878648 h 2750153"/>
              <a:gd name="connsiteX10" fmla="*/ 149506 w 2933812"/>
              <a:gd name="connsiteY10" fmla="*/ 1010633 h 2750153"/>
              <a:gd name="connsiteX11" fmla="*/ 17517 w 2933812"/>
              <a:gd name="connsiteY11" fmla="*/ 699260 h 2750153"/>
              <a:gd name="connsiteX12" fmla="*/ 97142 w 2933812"/>
              <a:gd name="connsiteY12" fmla="*/ 596577 h 2750153"/>
              <a:gd name="connsiteX13" fmla="*/ 209205 w 2933812"/>
              <a:gd name="connsiteY13" fmla="*/ 551704 h 2750153"/>
              <a:gd name="connsiteX14" fmla="*/ 603014 w 2933812"/>
              <a:gd name="connsiteY14" fmla="*/ 0 h 2750153"/>
              <a:gd name="connsiteX15" fmla="*/ 2933812 w 2933812"/>
              <a:gd name="connsiteY15" fmla="*/ 0 h 2750153"/>
              <a:gd name="connsiteX16" fmla="*/ 2933812 w 2933812"/>
              <a:gd name="connsiteY16" fmla="*/ 2748233 h 2750153"/>
              <a:gd name="connsiteX17" fmla="*/ 2877044 w 2933812"/>
              <a:gd name="connsiteY17" fmla="*/ 2704219 h 2750153"/>
              <a:gd name="connsiteX18" fmla="*/ 1987800 w 2933812"/>
              <a:gd name="connsiteY18" fmla="*/ 2707378 h 2750153"/>
              <a:gd name="connsiteX19" fmla="*/ 1571775 w 2933812"/>
              <a:gd name="connsiteY19" fmla="*/ 2085562 h 2750153"/>
              <a:gd name="connsiteX20" fmla="*/ 2085622 w 2933812"/>
              <a:gd name="connsiteY20" fmla="*/ 1038354 h 2750153"/>
              <a:gd name="connsiteX21" fmla="*/ 1614635 w 2933812"/>
              <a:gd name="connsiteY21" fmla="*/ 560521 h 2750153"/>
              <a:gd name="connsiteX22" fmla="*/ 825009 w 2933812"/>
              <a:gd name="connsiteY22" fmla="*/ 518839 h 2750153"/>
              <a:gd name="connsiteX23" fmla="*/ 599925 w 2933812"/>
              <a:gd name="connsiteY23" fmla="*/ 14372 h 2750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933812" h="2750153">
                <a:moveTo>
                  <a:pt x="1067830" y="776732"/>
                </a:moveTo>
                <a:cubicBezTo>
                  <a:pt x="1150031" y="773119"/>
                  <a:pt x="1233332" y="794722"/>
                  <a:pt x="1305537" y="842083"/>
                </a:cubicBezTo>
                <a:cubicBezTo>
                  <a:pt x="1490941" y="963689"/>
                  <a:pt x="1542616" y="1212493"/>
                  <a:pt x="1421053" y="1397856"/>
                </a:cubicBezTo>
                <a:cubicBezTo>
                  <a:pt x="1299424" y="1583173"/>
                  <a:pt x="1050671" y="1634906"/>
                  <a:pt x="865267" y="1513301"/>
                </a:cubicBezTo>
                <a:cubicBezTo>
                  <a:pt x="679936" y="1391729"/>
                  <a:pt x="628260" y="1142925"/>
                  <a:pt x="749819" y="957568"/>
                </a:cubicBezTo>
                <a:cubicBezTo>
                  <a:pt x="773570" y="921529"/>
                  <a:pt x="802922" y="889506"/>
                  <a:pt x="836727" y="862679"/>
                </a:cubicBezTo>
                <a:cubicBezTo>
                  <a:pt x="904529" y="809175"/>
                  <a:pt x="985629" y="780345"/>
                  <a:pt x="1067830" y="776732"/>
                </a:cubicBezTo>
                <a:close/>
                <a:moveTo>
                  <a:pt x="209205" y="551704"/>
                </a:moveTo>
                <a:cubicBezTo>
                  <a:pt x="249147" y="546653"/>
                  <a:pt x="290360" y="551675"/>
                  <a:pt x="328901" y="567267"/>
                </a:cubicBezTo>
                <a:cubicBezTo>
                  <a:pt x="451346" y="616809"/>
                  <a:pt x="510410" y="756201"/>
                  <a:pt x="460887" y="878648"/>
                </a:cubicBezTo>
                <a:cubicBezTo>
                  <a:pt x="411366" y="1001087"/>
                  <a:pt x="271948" y="1060182"/>
                  <a:pt x="149506" y="1010633"/>
                </a:cubicBezTo>
                <a:cubicBezTo>
                  <a:pt x="27060" y="961092"/>
                  <a:pt x="-32003" y="821699"/>
                  <a:pt x="17517" y="699260"/>
                </a:cubicBezTo>
                <a:cubicBezTo>
                  <a:pt x="34058" y="658332"/>
                  <a:pt x="61655" y="622811"/>
                  <a:pt x="97142" y="596577"/>
                </a:cubicBezTo>
                <a:cubicBezTo>
                  <a:pt x="130594" y="571878"/>
                  <a:pt x="169264" y="556754"/>
                  <a:pt x="209205" y="551704"/>
                </a:cubicBezTo>
                <a:close/>
                <a:moveTo>
                  <a:pt x="603014" y="0"/>
                </a:moveTo>
                <a:lnTo>
                  <a:pt x="2933812" y="0"/>
                </a:lnTo>
                <a:lnTo>
                  <a:pt x="2933812" y="2748233"/>
                </a:lnTo>
                <a:lnTo>
                  <a:pt x="2877044" y="2704219"/>
                </a:lnTo>
                <a:cubicBezTo>
                  <a:pt x="2590402" y="2543052"/>
                  <a:pt x="2331640" y="2859871"/>
                  <a:pt x="1987800" y="2707378"/>
                </a:cubicBezTo>
                <a:cubicBezTo>
                  <a:pt x="1763640" y="2607782"/>
                  <a:pt x="1580044" y="2342268"/>
                  <a:pt x="1571775" y="2085562"/>
                </a:cubicBezTo>
                <a:cubicBezTo>
                  <a:pt x="1556983" y="1612648"/>
                  <a:pt x="2147977" y="1430482"/>
                  <a:pt x="2085622" y="1038354"/>
                </a:cubicBezTo>
                <a:cubicBezTo>
                  <a:pt x="2048252" y="804151"/>
                  <a:pt x="1799013" y="625551"/>
                  <a:pt x="1614635" y="560521"/>
                </a:cubicBezTo>
                <a:cubicBezTo>
                  <a:pt x="1263737" y="436354"/>
                  <a:pt x="1061091" y="667936"/>
                  <a:pt x="825009" y="518839"/>
                </a:cubicBezTo>
                <a:cubicBezTo>
                  <a:pt x="671642" y="421917"/>
                  <a:pt x="576178" y="209445"/>
                  <a:pt x="599925" y="1437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Tree>
    <p:extLst>
      <p:ext uri="{BB962C8B-B14F-4D97-AF65-F5344CB8AC3E}">
        <p14:creationId xmlns:p14="http://schemas.microsoft.com/office/powerpoint/2010/main" val="22033571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1091E-8780-84EB-4E4A-F0803D7EBFFA}"/>
            </a:ext>
          </a:extLst>
        </p:cNvPr>
        <p:cNvGrpSpPr/>
        <p:nvPr/>
      </p:nvGrpSpPr>
      <p:grpSpPr>
        <a:xfrm>
          <a:off x="0" y="0"/>
          <a:ext cx="0" cy="0"/>
          <a:chOff x="0" y="0"/>
          <a:chExt cx="0" cy="0"/>
        </a:xfrm>
      </p:grpSpPr>
      <p:sp useBgFill="1">
        <p:nvSpPr>
          <p:cNvPr id="13" name="Background Fill">
            <a:extLst>
              <a:ext uri="{FF2B5EF4-FFF2-40B4-BE49-F238E27FC236}">
                <a16:creationId xmlns:a16="http://schemas.microsoft.com/office/drawing/2014/main" id="{4D277E49-004D-DFF4-4E5B-5C742E1113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5DF7FD9-1903-2CAA-EE22-FF5CD7D7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 name="Title 1">
            <a:extLst>
              <a:ext uri="{FF2B5EF4-FFF2-40B4-BE49-F238E27FC236}">
                <a16:creationId xmlns:a16="http://schemas.microsoft.com/office/drawing/2014/main" id="{19066316-94EE-E1EF-2F03-301DABA6C2F6}"/>
              </a:ext>
            </a:extLst>
          </p:cNvPr>
          <p:cNvSpPr>
            <a:spLocks noGrp="1"/>
          </p:cNvSpPr>
          <p:nvPr>
            <p:ph type="title"/>
          </p:nvPr>
        </p:nvSpPr>
        <p:spPr>
          <a:xfrm>
            <a:off x="5908192" y="-167457"/>
            <a:ext cx="5919373" cy="1611920"/>
          </a:xfrm>
        </p:spPr>
        <p:txBody>
          <a:bodyPr>
            <a:normAutofit/>
          </a:bodyPr>
          <a:lstStyle/>
          <a:p>
            <a:r>
              <a:rPr lang="en-GB" sz="4000" b="1" dirty="0">
                <a:latin typeface="Georgia" panose="02040502050405020303" pitchFamily="18" charset="0"/>
              </a:rPr>
              <a:t>ABSTRACT </a:t>
            </a:r>
          </a:p>
        </p:txBody>
      </p:sp>
      <p:pic>
        <p:nvPicPr>
          <p:cNvPr id="15" name="Picture 14">
            <a:extLst>
              <a:ext uri="{FF2B5EF4-FFF2-40B4-BE49-F238E27FC236}">
                <a16:creationId xmlns:a16="http://schemas.microsoft.com/office/drawing/2014/main" id="{6C2E9050-6DA5-22B7-F4E4-581CA10FE615}"/>
              </a:ext>
            </a:extLst>
          </p:cNvPr>
          <p:cNvPicPr>
            <a:picLocks noChangeAspect="1"/>
          </p:cNvPicPr>
          <p:nvPr/>
        </p:nvPicPr>
        <p:blipFill>
          <a:blip r:embed="rId3">
            <a:extLst>
              <a:ext uri="{28A0092B-C50C-407E-A947-70E740481C1C}">
                <a14:useLocalDpi xmlns:a14="http://schemas.microsoft.com/office/drawing/2010/main" val="0"/>
              </a:ext>
            </a:extLst>
          </a:blip>
          <a:srcRect l="8365" r="8365"/>
          <a:stretch/>
        </p:blipFill>
        <p:spPr>
          <a:xfrm>
            <a:off x="0" y="428016"/>
            <a:ext cx="5354223" cy="6429973"/>
          </a:xfrm>
          <a:custGeom>
            <a:avLst/>
            <a:gdLst/>
            <a:ahLst/>
            <a:cxnLst/>
            <a:rect l="l" t="t" r="r" b="b"/>
            <a:pathLst>
              <a:path w="5710652" h="6858000">
                <a:moveTo>
                  <a:pt x="4831301" y="0"/>
                </a:moveTo>
                <a:lnTo>
                  <a:pt x="5696109" y="0"/>
                </a:lnTo>
                <a:lnTo>
                  <a:pt x="5706418" y="42969"/>
                </a:lnTo>
                <a:cubicBezTo>
                  <a:pt x="5714414" y="100391"/>
                  <a:pt x="5711283" y="160329"/>
                  <a:pt x="5695333" y="219852"/>
                </a:cubicBezTo>
                <a:cubicBezTo>
                  <a:pt x="5631536" y="457945"/>
                  <a:pt x="5386806" y="599240"/>
                  <a:pt x="5148712" y="535443"/>
                </a:cubicBezTo>
                <a:cubicBezTo>
                  <a:pt x="4940381" y="479621"/>
                  <a:pt x="4806160" y="285271"/>
                  <a:pt x="4818599" y="78052"/>
                </a:cubicBezTo>
                <a:close/>
                <a:moveTo>
                  <a:pt x="0" y="0"/>
                </a:moveTo>
                <a:lnTo>
                  <a:pt x="545808" y="0"/>
                </a:lnTo>
                <a:lnTo>
                  <a:pt x="4212872" y="0"/>
                </a:lnTo>
                <a:lnTo>
                  <a:pt x="4204748" y="184996"/>
                </a:lnTo>
                <a:cubicBezTo>
                  <a:pt x="4203390" y="263520"/>
                  <a:pt x="4204263" y="341910"/>
                  <a:pt x="4207775" y="419995"/>
                </a:cubicBezTo>
                <a:cubicBezTo>
                  <a:pt x="4220964" y="709488"/>
                  <a:pt x="4449625" y="891535"/>
                  <a:pt x="4655737" y="1068099"/>
                </a:cubicBezTo>
                <a:cubicBezTo>
                  <a:pt x="5169527" y="1508061"/>
                  <a:pt x="5344373" y="2032158"/>
                  <a:pt x="5103604" y="2589405"/>
                </a:cubicBezTo>
                <a:cubicBezTo>
                  <a:pt x="5010230" y="2805523"/>
                  <a:pt x="4828675" y="2993264"/>
                  <a:pt x="4657611" y="3164269"/>
                </a:cubicBezTo>
                <a:cubicBezTo>
                  <a:pt x="4198817" y="3622744"/>
                  <a:pt x="4217616" y="4154456"/>
                  <a:pt x="4499219" y="4641255"/>
                </a:cubicBezTo>
                <a:cubicBezTo>
                  <a:pt x="4699839" y="4986832"/>
                  <a:pt x="4940395" y="5311556"/>
                  <a:pt x="5110950" y="5670858"/>
                </a:cubicBezTo>
                <a:cubicBezTo>
                  <a:pt x="5277001" y="6019042"/>
                  <a:pt x="5375520" y="6366409"/>
                  <a:pt x="5396522" y="6707670"/>
                </a:cubicBezTo>
                <a:lnTo>
                  <a:pt x="5398895" y="6858000"/>
                </a:lnTo>
                <a:lnTo>
                  <a:pt x="0" y="6858000"/>
                </a:lnTo>
                <a:close/>
              </a:path>
            </a:pathLst>
          </a:custGeom>
        </p:spPr>
      </p:pic>
      <p:sp>
        <p:nvSpPr>
          <p:cNvPr id="3" name="Content Placeholder 2">
            <a:extLst>
              <a:ext uri="{FF2B5EF4-FFF2-40B4-BE49-F238E27FC236}">
                <a16:creationId xmlns:a16="http://schemas.microsoft.com/office/drawing/2014/main" id="{70FFEE97-ECC2-8777-4D06-357C3A0268E0}"/>
              </a:ext>
            </a:extLst>
          </p:cNvPr>
          <p:cNvSpPr>
            <a:spLocks noGrp="1"/>
          </p:cNvSpPr>
          <p:nvPr>
            <p:ph idx="1"/>
          </p:nvPr>
        </p:nvSpPr>
        <p:spPr>
          <a:xfrm>
            <a:off x="5745083" y="1532407"/>
            <a:ext cx="6082482" cy="4158274"/>
          </a:xfrm>
        </p:spPr>
        <p:txBody>
          <a:bodyPr anchor="t">
            <a:noAutofit/>
          </a:bodyPr>
          <a:lstStyle/>
          <a:p>
            <a:pPr algn="just"/>
            <a:r>
              <a:rPr lang="en-NG" b="1" i="1" dirty="0">
                <a:latin typeface="Georgia" panose="02040502050405020303" pitchFamily="18" charset="0"/>
              </a:rPr>
              <a:t>The </a:t>
            </a:r>
            <a:r>
              <a:rPr lang="en-US" b="1" i="1" dirty="0">
                <a:latin typeface="Georgia" panose="02040502050405020303" pitchFamily="18" charset="0"/>
              </a:rPr>
              <a:t>R</a:t>
            </a:r>
            <a:r>
              <a:rPr lang="en-NG" b="1" i="1" dirty="0" err="1">
                <a:latin typeface="Georgia" panose="02040502050405020303" pitchFamily="18" charset="0"/>
              </a:rPr>
              <a:t>ank</a:t>
            </a:r>
            <a:r>
              <a:rPr lang="en-NG" b="1" i="1" dirty="0">
                <a:latin typeface="Georgia" panose="02040502050405020303" pitchFamily="18" charset="0"/>
              </a:rPr>
              <a:t> of Senior Advocate of Nigeria (SAN), remains the highest professional distinction in Nigeria’s legal system.</a:t>
            </a:r>
            <a:endParaRPr lang="en-US" b="1" i="1" dirty="0">
              <a:latin typeface="Georgia" panose="02040502050405020303" pitchFamily="18" charset="0"/>
            </a:endParaRPr>
          </a:p>
          <a:p>
            <a:pPr algn="just"/>
            <a:r>
              <a:rPr lang="en-NG" b="1" i="1" dirty="0">
                <a:latin typeface="Georgia" panose="02040502050405020303" pitchFamily="18" charset="0"/>
              </a:rPr>
              <a:t>Holders of the rank have played pivotal roles in landmark </a:t>
            </a:r>
            <a:r>
              <a:rPr lang="en-US" b="1" i="1" dirty="0">
                <a:latin typeface="Georgia" panose="02040502050405020303" pitchFamily="18" charset="0"/>
              </a:rPr>
              <a:t>cases </a:t>
            </a:r>
            <a:r>
              <a:rPr lang="en-NG" b="1" i="1" dirty="0">
                <a:latin typeface="Georgia" panose="02040502050405020303" pitchFamily="18" charset="0"/>
              </a:rPr>
              <a:t>and contributed significantly to</a:t>
            </a:r>
            <a:r>
              <a:rPr lang="en-US" b="1" i="1" dirty="0">
                <a:latin typeface="Georgia" panose="02040502050405020303" pitchFamily="18" charset="0"/>
              </a:rPr>
              <a:t> the legal profession.</a:t>
            </a:r>
          </a:p>
          <a:p>
            <a:pPr algn="just"/>
            <a:r>
              <a:rPr lang="en-NG" b="1" i="1" dirty="0">
                <a:latin typeface="Georgia" panose="02040502050405020303" pitchFamily="18" charset="0"/>
              </a:rPr>
              <a:t>This paper traces the origin and evolution of the SAN rank, critically examines its transformative role in shaping Nigeria’s legal profession, and argues that sustaining its legacy require</a:t>
            </a:r>
            <a:r>
              <a:rPr lang="en-US" b="1" i="1" dirty="0">
                <a:latin typeface="Georgia" panose="02040502050405020303" pitchFamily="18" charset="0"/>
              </a:rPr>
              <a:t>s </a:t>
            </a:r>
            <a:r>
              <a:rPr lang="en-NG" b="1" i="1" dirty="0">
                <a:latin typeface="Georgia" panose="02040502050405020303" pitchFamily="18" charset="0"/>
              </a:rPr>
              <a:t>a renewed commitment to excellence and service to justice.</a:t>
            </a:r>
            <a:endParaRPr lang="en-NG" b="1" dirty="0">
              <a:latin typeface="Georgia" panose="02040502050405020303" pitchFamily="18" charset="0"/>
            </a:endParaRPr>
          </a:p>
        </p:txBody>
      </p:sp>
    </p:spTree>
    <p:extLst>
      <p:ext uri="{BB962C8B-B14F-4D97-AF65-F5344CB8AC3E}">
        <p14:creationId xmlns:p14="http://schemas.microsoft.com/office/powerpoint/2010/main" val="6710983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Background Fill">
            <a:extLst>
              <a:ext uri="{FF2B5EF4-FFF2-40B4-BE49-F238E27FC236}">
                <a16:creationId xmlns:a16="http://schemas.microsoft.com/office/drawing/2014/main" id="{B937640E-EF7A-4A6C-A950-D12B7D5C92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6ADA084-C86B-4F3C-8077-6A8999CC46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 name="Title 1">
            <a:extLst>
              <a:ext uri="{FF2B5EF4-FFF2-40B4-BE49-F238E27FC236}">
                <a16:creationId xmlns:a16="http://schemas.microsoft.com/office/drawing/2014/main" id="{79565184-8048-C23C-41E3-38658229A863}"/>
              </a:ext>
            </a:extLst>
          </p:cNvPr>
          <p:cNvSpPr>
            <a:spLocks noGrp="1"/>
          </p:cNvSpPr>
          <p:nvPr>
            <p:ph type="title"/>
          </p:nvPr>
        </p:nvSpPr>
        <p:spPr>
          <a:xfrm>
            <a:off x="5818326" y="304303"/>
            <a:ext cx="5919373" cy="878453"/>
          </a:xfrm>
        </p:spPr>
        <p:txBody>
          <a:bodyPr>
            <a:normAutofit/>
          </a:bodyPr>
          <a:lstStyle/>
          <a:p>
            <a:r>
              <a:rPr lang="en-GB" sz="4000" b="1" dirty="0">
                <a:latin typeface="Georgia" panose="02040502050405020303" pitchFamily="18" charset="0"/>
              </a:rPr>
              <a:t>Introduction</a:t>
            </a:r>
          </a:p>
        </p:txBody>
      </p:sp>
      <p:pic>
        <p:nvPicPr>
          <p:cNvPr id="5" name="Picture 4">
            <a:extLst>
              <a:ext uri="{FF2B5EF4-FFF2-40B4-BE49-F238E27FC236}">
                <a16:creationId xmlns:a16="http://schemas.microsoft.com/office/drawing/2014/main" id="{B3015F04-7C7A-31ED-2B1D-6692574C0789}"/>
              </a:ext>
            </a:extLst>
          </p:cNvPr>
          <p:cNvPicPr>
            <a:picLocks noChangeAspect="1"/>
          </p:cNvPicPr>
          <p:nvPr/>
        </p:nvPicPr>
        <p:blipFill>
          <a:blip r:embed="rId2">
            <a:extLst>
              <a:ext uri="{28A0092B-C50C-407E-A947-70E740481C1C}">
                <a14:useLocalDpi xmlns:a14="http://schemas.microsoft.com/office/drawing/2010/main" val="0"/>
              </a:ext>
            </a:extLst>
          </a:blip>
          <a:srcRect t="7548" b="7548"/>
          <a:stretch/>
        </p:blipFill>
        <p:spPr>
          <a:xfrm>
            <a:off x="0" y="0"/>
            <a:ext cx="5710632" cy="6857990"/>
          </a:xfrm>
          <a:custGeom>
            <a:avLst/>
            <a:gdLst/>
            <a:ahLst/>
            <a:cxnLst/>
            <a:rect l="l" t="t" r="r" b="b"/>
            <a:pathLst>
              <a:path w="5710652" h="6858000">
                <a:moveTo>
                  <a:pt x="4831301" y="0"/>
                </a:moveTo>
                <a:lnTo>
                  <a:pt x="5696109" y="0"/>
                </a:lnTo>
                <a:lnTo>
                  <a:pt x="5706418" y="42969"/>
                </a:lnTo>
                <a:cubicBezTo>
                  <a:pt x="5714414" y="100391"/>
                  <a:pt x="5711283" y="160329"/>
                  <a:pt x="5695333" y="219852"/>
                </a:cubicBezTo>
                <a:cubicBezTo>
                  <a:pt x="5631536" y="457945"/>
                  <a:pt x="5386806" y="599240"/>
                  <a:pt x="5148712" y="535443"/>
                </a:cubicBezTo>
                <a:cubicBezTo>
                  <a:pt x="4940381" y="479621"/>
                  <a:pt x="4806160" y="285271"/>
                  <a:pt x="4818599" y="78052"/>
                </a:cubicBezTo>
                <a:close/>
                <a:moveTo>
                  <a:pt x="0" y="0"/>
                </a:moveTo>
                <a:lnTo>
                  <a:pt x="545808" y="0"/>
                </a:lnTo>
                <a:lnTo>
                  <a:pt x="4212872" y="0"/>
                </a:lnTo>
                <a:lnTo>
                  <a:pt x="4204748" y="184996"/>
                </a:lnTo>
                <a:cubicBezTo>
                  <a:pt x="4203390" y="263520"/>
                  <a:pt x="4204263" y="341910"/>
                  <a:pt x="4207775" y="419995"/>
                </a:cubicBezTo>
                <a:cubicBezTo>
                  <a:pt x="4220964" y="709488"/>
                  <a:pt x="4449625" y="891535"/>
                  <a:pt x="4655737" y="1068099"/>
                </a:cubicBezTo>
                <a:cubicBezTo>
                  <a:pt x="5169527" y="1508061"/>
                  <a:pt x="5344373" y="2032158"/>
                  <a:pt x="5103604" y="2589405"/>
                </a:cubicBezTo>
                <a:cubicBezTo>
                  <a:pt x="5010230" y="2805523"/>
                  <a:pt x="4828675" y="2993264"/>
                  <a:pt x="4657611" y="3164269"/>
                </a:cubicBezTo>
                <a:cubicBezTo>
                  <a:pt x="4198817" y="3622744"/>
                  <a:pt x="4217616" y="4154456"/>
                  <a:pt x="4499219" y="4641255"/>
                </a:cubicBezTo>
                <a:cubicBezTo>
                  <a:pt x="4699839" y="4986832"/>
                  <a:pt x="4940395" y="5311556"/>
                  <a:pt x="5110950" y="5670858"/>
                </a:cubicBezTo>
                <a:cubicBezTo>
                  <a:pt x="5277001" y="6019042"/>
                  <a:pt x="5375520" y="6366409"/>
                  <a:pt x="5396522" y="6707670"/>
                </a:cubicBezTo>
                <a:lnTo>
                  <a:pt x="5398895" y="6858000"/>
                </a:lnTo>
                <a:lnTo>
                  <a:pt x="0" y="6858000"/>
                </a:lnTo>
                <a:close/>
              </a:path>
            </a:pathLst>
          </a:custGeom>
        </p:spPr>
      </p:pic>
      <p:sp>
        <p:nvSpPr>
          <p:cNvPr id="3" name="Content Placeholder 2">
            <a:extLst>
              <a:ext uri="{FF2B5EF4-FFF2-40B4-BE49-F238E27FC236}">
                <a16:creationId xmlns:a16="http://schemas.microsoft.com/office/drawing/2014/main" id="{5574EA7C-8746-7030-100A-F26ABEAC0FD5}"/>
              </a:ext>
            </a:extLst>
          </p:cNvPr>
          <p:cNvSpPr>
            <a:spLocks noGrp="1"/>
          </p:cNvSpPr>
          <p:nvPr>
            <p:ph idx="1"/>
          </p:nvPr>
        </p:nvSpPr>
        <p:spPr>
          <a:xfrm>
            <a:off x="5469686" y="1249005"/>
            <a:ext cx="6268013" cy="5304691"/>
          </a:xfrm>
        </p:spPr>
        <p:txBody>
          <a:bodyPr anchor="t">
            <a:noAutofit/>
          </a:bodyPr>
          <a:lstStyle/>
          <a:p>
            <a:pPr marL="342900" indent="-342900" algn="just">
              <a:lnSpc>
                <a:spcPct val="100000"/>
              </a:lnSpc>
              <a:buClr>
                <a:schemeClr val="tx2">
                  <a:lumMod val="50000"/>
                </a:schemeClr>
              </a:buClr>
              <a:buFont typeface="Wingdings" panose="05000000000000000000" pitchFamily="2" charset="2"/>
              <a:buChar char="§"/>
            </a:pPr>
            <a:r>
              <a:rPr lang="en-NG" sz="1800" b="1" dirty="0">
                <a:latin typeface="Georgia" panose="02040502050405020303" pitchFamily="18" charset="0"/>
              </a:rPr>
              <a:t>The ranking of courtroom advocates for exceptional contributions to the administration of justice is a historical tradition practiced in the United Kingdom (UK). The title is referred to as King’s Counsel or Queen’s Counsel</a:t>
            </a:r>
            <a:r>
              <a:rPr lang="en-US" sz="1800" b="1" dirty="0">
                <a:latin typeface="Georgia" panose="02040502050405020303" pitchFamily="18" charset="0"/>
              </a:rPr>
              <a:t>,</a:t>
            </a:r>
            <a:r>
              <a:rPr lang="en-NG" sz="1800" b="1" dirty="0">
                <a:latin typeface="Georgia" panose="02040502050405020303" pitchFamily="18" charset="0"/>
              </a:rPr>
              <a:t> depending on the monarch in power. </a:t>
            </a:r>
            <a:endParaRPr lang="en-US" sz="1800" b="1" dirty="0">
              <a:latin typeface="Georgia" panose="02040502050405020303" pitchFamily="18" charset="0"/>
            </a:endParaRPr>
          </a:p>
          <a:p>
            <a:pPr marL="342900" indent="-342900" algn="just">
              <a:lnSpc>
                <a:spcPct val="100000"/>
              </a:lnSpc>
              <a:buClr>
                <a:schemeClr val="tx2">
                  <a:lumMod val="50000"/>
                </a:schemeClr>
              </a:buClr>
              <a:buFont typeface="Wingdings" panose="05000000000000000000" pitchFamily="2" charset="2"/>
              <a:buChar char="§"/>
            </a:pPr>
            <a:r>
              <a:rPr lang="en-NG" sz="1800" b="1" dirty="0">
                <a:latin typeface="Georgia" panose="02040502050405020303" pitchFamily="18" charset="0"/>
              </a:rPr>
              <a:t>In Nigeria, this distinction is encapsulated in the conferment of the rank of Senior Advocate of Nigeria (SAN)</a:t>
            </a:r>
            <a:endParaRPr lang="en-US" sz="1800" b="1" dirty="0">
              <a:latin typeface="Georgia" panose="02040502050405020303" pitchFamily="18" charset="0"/>
            </a:endParaRPr>
          </a:p>
          <a:p>
            <a:pPr marL="342900" indent="-342900" algn="just">
              <a:lnSpc>
                <a:spcPct val="100000"/>
              </a:lnSpc>
              <a:buClr>
                <a:schemeClr val="tx2">
                  <a:lumMod val="50000"/>
                </a:schemeClr>
              </a:buClr>
              <a:buFont typeface="Wingdings" panose="05000000000000000000" pitchFamily="2" charset="2"/>
              <a:buChar char="§"/>
            </a:pPr>
            <a:r>
              <a:rPr lang="en-NG" sz="1800" b="1" dirty="0">
                <a:latin typeface="Georgia" panose="02040502050405020303" pitchFamily="18" charset="0"/>
              </a:rPr>
              <a:t>The conferment of the rank of SAN represents the highest mark of distinction and honour attainable by a legal practitioner in Nigeria.</a:t>
            </a:r>
            <a:endParaRPr lang="en-US" sz="1800" b="1" dirty="0">
              <a:latin typeface="Georgia" panose="02040502050405020303" pitchFamily="18" charset="0"/>
            </a:endParaRPr>
          </a:p>
          <a:p>
            <a:pPr marL="342900" indent="-342900" algn="just">
              <a:lnSpc>
                <a:spcPct val="100000"/>
              </a:lnSpc>
              <a:buClr>
                <a:schemeClr val="tx2">
                  <a:lumMod val="50000"/>
                </a:schemeClr>
              </a:buClr>
              <a:buFont typeface="Wingdings" panose="05000000000000000000" pitchFamily="2" charset="2"/>
              <a:buChar char="§"/>
            </a:pPr>
            <a:r>
              <a:rPr lang="en-NG" sz="1800" b="1" dirty="0">
                <a:latin typeface="Georgia" panose="02040502050405020303" pitchFamily="18" charset="0"/>
              </a:rPr>
              <a:t>In this presentation, we will examine the origin of the SAN rank, its evolution over the years, and the profound role it continues to play in shaping the Nigerian legal profession. </a:t>
            </a:r>
          </a:p>
        </p:txBody>
      </p:sp>
    </p:spTree>
    <p:extLst>
      <p:ext uri="{BB962C8B-B14F-4D97-AF65-F5344CB8AC3E}">
        <p14:creationId xmlns:p14="http://schemas.microsoft.com/office/powerpoint/2010/main" val="2079686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Background Fill">
            <a:extLst>
              <a:ext uri="{FF2B5EF4-FFF2-40B4-BE49-F238E27FC236}">
                <a16:creationId xmlns:a16="http://schemas.microsoft.com/office/drawing/2014/main" id="{B937640E-EF7A-4A6C-A950-D12B7D5C92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D9E6557-0E93-4B4F-8AD1-1A7E3870CD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Freeform: Shape 12">
            <a:extLst>
              <a:ext uri="{FF2B5EF4-FFF2-40B4-BE49-F238E27FC236}">
                <a16:creationId xmlns:a16="http://schemas.microsoft.com/office/drawing/2014/main" id="{06B84358-2894-45F1-8753-B1EC1E593D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28517" y="-2"/>
            <a:ext cx="7742945" cy="6858001"/>
          </a:xfrm>
          <a:custGeom>
            <a:avLst/>
            <a:gdLst>
              <a:gd name="connsiteX0" fmla="*/ 615190 w 7742945"/>
              <a:gd name="connsiteY0" fmla="*/ 3536636 h 6858001"/>
              <a:gd name="connsiteX1" fmla="*/ 1124778 w 7742945"/>
              <a:gd name="connsiteY1" fmla="*/ 4046224 h 6858001"/>
              <a:gd name="connsiteX2" fmla="*/ 615190 w 7742945"/>
              <a:gd name="connsiteY2" fmla="*/ 4555812 h 6858001"/>
              <a:gd name="connsiteX3" fmla="*/ 105602 w 7742945"/>
              <a:gd name="connsiteY3" fmla="*/ 4046224 h 6858001"/>
              <a:gd name="connsiteX4" fmla="*/ 615190 w 7742945"/>
              <a:gd name="connsiteY4" fmla="*/ 3536636 h 6858001"/>
              <a:gd name="connsiteX5" fmla="*/ 14543 w 7742945"/>
              <a:gd name="connsiteY5" fmla="*/ 1 h 6858001"/>
              <a:gd name="connsiteX6" fmla="*/ 879351 w 7742945"/>
              <a:gd name="connsiteY6" fmla="*/ 1 h 6858001"/>
              <a:gd name="connsiteX7" fmla="*/ 892053 w 7742945"/>
              <a:gd name="connsiteY7" fmla="*/ 78053 h 6858001"/>
              <a:gd name="connsiteX8" fmla="*/ 561940 w 7742945"/>
              <a:gd name="connsiteY8" fmla="*/ 535444 h 6858001"/>
              <a:gd name="connsiteX9" fmla="*/ 15319 w 7742945"/>
              <a:gd name="connsiteY9" fmla="*/ 219853 h 6858001"/>
              <a:gd name="connsiteX10" fmla="*/ 4234 w 7742945"/>
              <a:gd name="connsiteY10" fmla="*/ 42970 h 6858001"/>
              <a:gd name="connsiteX11" fmla="*/ 2617781 w 7742945"/>
              <a:gd name="connsiteY11" fmla="*/ 0 h 6858001"/>
              <a:gd name="connsiteX12" fmla="*/ 7742945 w 7742945"/>
              <a:gd name="connsiteY12" fmla="*/ 0 h 6858001"/>
              <a:gd name="connsiteX13" fmla="*/ 7742945 w 7742945"/>
              <a:gd name="connsiteY13" fmla="*/ 6858000 h 6858001"/>
              <a:gd name="connsiteX14" fmla="*/ 5726653 w 7742945"/>
              <a:gd name="connsiteY14" fmla="*/ 6858000 h 6858001"/>
              <a:gd name="connsiteX15" fmla="*/ 5726653 w 7742945"/>
              <a:gd name="connsiteY15" fmla="*/ 6858001 h 6858001"/>
              <a:gd name="connsiteX16" fmla="*/ 311757 w 7742945"/>
              <a:gd name="connsiteY16" fmla="*/ 6858001 h 6858001"/>
              <a:gd name="connsiteX17" fmla="*/ 314130 w 7742945"/>
              <a:gd name="connsiteY17" fmla="*/ 6707671 h 6858001"/>
              <a:gd name="connsiteX18" fmla="*/ 599702 w 7742945"/>
              <a:gd name="connsiteY18" fmla="*/ 5670859 h 6858001"/>
              <a:gd name="connsiteX19" fmla="*/ 1211433 w 7742945"/>
              <a:gd name="connsiteY19" fmla="*/ 4641256 h 6858001"/>
              <a:gd name="connsiteX20" fmla="*/ 1053041 w 7742945"/>
              <a:gd name="connsiteY20" fmla="*/ 3164270 h 6858001"/>
              <a:gd name="connsiteX21" fmla="*/ 607048 w 7742945"/>
              <a:gd name="connsiteY21" fmla="*/ 2589406 h 6858001"/>
              <a:gd name="connsiteX22" fmla="*/ 1054915 w 7742945"/>
              <a:gd name="connsiteY22" fmla="*/ 1068100 h 6858001"/>
              <a:gd name="connsiteX23" fmla="*/ 1502877 w 7742945"/>
              <a:gd name="connsiteY23" fmla="*/ 419996 h 6858001"/>
              <a:gd name="connsiteX24" fmla="*/ 1505904 w 7742945"/>
              <a:gd name="connsiteY24" fmla="*/ 184997 h 6858001"/>
              <a:gd name="connsiteX25" fmla="*/ 1497780 w 7742945"/>
              <a:gd name="connsiteY25" fmla="*/ 1 h 6858001"/>
              <a:gd name="connsiteX26" fmla="*/ 2617781 w 7742945"/>
              <a:gd name="connsiteY26"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742945" h="6858001">
                <a:moveTo>
                  <a:pt x="615190" y="3536636"/>
                </a:moveTo>
                <a:cubicBezTo>
                  <a:pt x="896628" y="3536636"/>
                  <a:pt x="1124778" y="3764786"/>
                  <a:pt x="1124778" y="4046224"/>
                </a:cubicBezTo>
                <a:cubicBezTo>
                  <a:pt x="1124778" y="4327662"/>
                  <a:pt x="896628" y="4555812"/>
                  <a:pt x="615190" y="4555812"/>
                </a:cubicBezTo>
                <a:cubicBezTo>
                  <a:pt x="333752" y="4555812"/>
                  <a:pt x="105602" y="4327662"/>
                  <a:pt x="105602" y="4046224"/>
                </a:cubicBezTo>
                <a:cubicBezTo>
                  <a:pt x="105602" y="3764786"/>
                  <a:pt x="333752" y="3536636"/>
                  <a:pt x="615190" y="3536636"/>
                </a:cubicBezTo>
                <a:close/>
                <a:moveTo>
                  <a:pt x="14543" y="1"/>
                </a:moveTo>
                <a:lnTo>
                  <a:pt x="879351" y="1"/>
                </a:lnTo>
                <a:lnTo>
                  <a:pt x="892053" y="78053"/>
                </a:lnTo>
                <a:cubicBezTo>
                  <a:pt x="904492" y="285272"/>
                  <a:pt x="770271" y="479622"/>
                  <a:pt x="561940" y="535444"/>
                </a:cubicBezTo>
                <a:cubicBezTo>
                  <a:pt x="323846" y="599241"/>
                  <a:pt x="79116" y="457946"/>
                  <a:pt x="15319" y="219853"/>
                </a:cubicBezTo>
                <a:cubicBezTo>
                  <a:pt x="-631" y="160330"/>
                  <a:pt x="-3762" y="100392"/>
                  <a:pt x="4234" y="42970"/>
                </a:cubicBezTo>
                <a:close/>
                <a:moveTo>
                  <a:pt x="2617781" y="0"/>
                </a:moveTo>
                <a:lnTo>
                  <a:pt x="7742945" y="0"/>
                </a:lnTo>
                <a:lnTo>
                  <a:pt x="7742945" y="6858000"/>
                </a:lnTo>
                <a:lnTo>
                  <a:pt x="5726653" y="6858000"/>
                </a:lnTo>
                <a:lnTo>
                  <a:pt x="5726653" y="6858001"/>
                </a:lnTo>
                <a:lnTo>
                  <a:pt x="311757" y="6858001"/>
                </a:lnTo>
                <a:lnTo>
                  <a:pt x="314130" y="6707671"/>
                </a:lnTo>
                <a:cubicBezTo>
                  <a:pt x="335132" y="6366410"/>
                  <a:pt x="433651" y="6019043"/>
                  <a:pt x="599702" y="5670859"/>
                </a:cubicBezTo>
                <a:cubicBezTo>
                  <a:pt x="770257" y="5311557"/>
                  <a:pt x="1010813" y="4986833"/>
                  <a:pt x="1211433" y="4641256"/>
                </a:cubicBezTo>
                <a:cubicBezTo>
                  <a:pt x="1493036" y="4154457"/>
                  <a:pt x="1511835" y="3622745"/>
                  <a:pt x="1053041" y="3164270"/>
                </a:cubicBezTo>
                <a:cubicBezTo>
                  <a:pt x="881977" y="2993265"/>
                  <a:pt x="700422" y="2805524"/>
                  <a:pt x="607048" y="2589406"/>
                </a:cubicBezTo>
                <a:cubicBezTo>
                  <a:pt x="366279" y="2032159"/>
                  <a:pt x="541125" y="1508062"/>
                  <a:pt x="1054915" y="1068100"/>
                </a:cubicBezTo>
                <a:cubicBezTo>
                  <a:pt x="1261027" y="891536"/>
                  <a:pt x="1489688" y="709489"/>
                  <a:pt x="1502877" y="419996"/>
                </a:cubicBezTo>
                <a:cubicBezTo>
                  <a:pt x="1506389" y="341911"/>
                  <a:pt x="1507262" y="263521"/>
                  <a:pt x="1505904" y="184997"/>
                </a:cubicBezTo>
                <a:lnTo>
                  <a:pt x="1497780" y="1"/>
                </a:lnTo>
                <a:lnTo>
                  <a:pt x="2617781" y="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33DEA38-AD46-EDC2-BA14-5E5F9A950280}"/>
              </a:ext>
            </a:extLst>
          </p:cNvPr>
          <p:cNvSpPr>
            <a:spLocks noGrp="1"/>
          </p:cNvSpPr>
          <p:nvPr>
            <p:ph type="title"/>
          </p:nvPr>
        </p:nvSpPr>
        <p:spPr>
          <a:xfrm>
            <a:off x="0" y="2379853"/>
            <a:ext cx="5292142" cy="2775243"/>
          </a:xfrm>
        </p:spPr>
        <p:txBody>
          <a:bodyPr anchor="t">
            <a:normAutofit/>
          </a:bodyPr>
          <a:lstStyle/>
          <a:p>
            <a:r>
              <a:rPr lang="en-US" sz="4000" b="1" dirty="0">
                <a:latin typeface="Georgia" panose="02040502050405020303" pitchFamily="18" charset="0"/>
              </a:rPr>
              <a:t>This presentation will address the following questions:</a:t>
            </a:r>
            <a:endParaRPr lang="en-GB" sz="4000" b="1" dirty="0">
              <a:latin typeface="Georgia" panose="02040502050405020303" pitchFamily="18" charset="0"/>
            </a:endParaRPr>
          </a:p>
        </p:txBody>
      </p:sp>
      <p:graphicFrame>
        <p:nvGraphicFramePr>
          <p:cNvPr id="5" name="Content Placeholder 2">
            <a:extLst>
              <a:ext uri="{FF2B5EF4-FFF2-40B4-BE49-F238E27FC236}">
                <a16:creationId xmlns:a16="http://schemas.microsoft.com/office/drawing/2014/main" id="{5DFEA7F3-D62C-D1C4-0F1A-7CC4FB1FA46D}"/>
              </a:ext>
            </a:extLst>
          </p:cNvPr>
          <p:cNvGraphicFramePr>
            <a:graphicFrameLocks noGrp="1"/>
          </p:cNvGraphicFramePr>
          <p:nvPr>
            <p:ph idx="1"/>
            <p:extLst>
              <p:ext uri="{D42A27DB-BD31-4B8C-83A1-F6EECF244321}">
                <p14:modId xmlns:p14="http://schemas.microsoft.com/office/powerpoint/2010/main" val="407042611"/>
              </p:ext>
            </p:extLst>
          </p:nvPr>
        </p:nvGraphicFramePr>
        <p:xfrm>
          <a:off x="5857462" y="594068"/>
          <a:ext cx="6334538" cy="59790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Arrow: Right 3">
            <a:extLst>
              <a:ext uri="{FF2B5EF4-FFF2-40B4-BE49-F238E27FC236}">
                <a16:creationId xmlns:a16="http://schemas.microsoft.com/office/drawing/2014/main" id="{49AA01C8-643D-EF0A-840C-4C31E79AE761}"/>
              </a:ext>
            </a:extLst>
          </p:cNvPr>
          <p:cNvSpPr/>
          <p:nvPr/>
        </p:nvSpPr>
        <p:spPr>
          <a:xfrm>
            <a:off x="2932009" y="4293704"/>
            <a:ext cx="1761862" cy="636105"/>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TextBox 7">
            <a:extLst>
              <a:ext uri="{FF2B5EF4-FFF2-40B4-BE49-F238E27FC236}">
                <a16:creationId xmlns:a16="http://schemas.microsoft.com/office/drawing/2014/main" id="{2EAF3A96-1758-70AC-1206-E2CD8B4551C9}"/>
              </a:ext>
            </a:extLst>
          </p:cNvPr>
          <p:cNvSpPr txBox="1"/>
          <p:nvPr/>
        </p:nvSpPr>
        <p:spPr>
          <a:xfrm>
            <a:off x="7215809" y="50728"/>
            <a:ext cx="1046921" cy="1323439"/>
          </a:xfrm>
          <a:prstGeom prst="rect">
            <a:avLst/>
          </a:prstGeom>
          <a:noFill/>
        </p:spPr>
        <p:txBody>
          <a:bodyPr wrap="square" rtlCol="0">
            <a:spAutoFit/>
          </a:bodyPr>
          <a:lstStyle/>
          <a:p>
            <a:pPr algn="ctr"/>
            <a:r>
              <a:rPr lang="en-GB" sz="8000" b="1" dirty="0">
                <a:latin typeface="Georgia" panose="02040502050405020303" pitchFamily="18" charset="0"/>
              </a:rPr>
              <a:t>1</a:t>
            </a:r>
          </a:p>
        </p:txBody>
      </p:sp>
      <p:sp>
        <p:nvSpPr>
          <p:cNvPr id="10" name="TextBox 9">
            <a:extLst>
              <a:ext uri="{FF2B5EF4-FFF2-40B4-BE49-F238E27FC236}">
                <a16:creationId xmlns:a16="http://schemas.microsoft.com/office/drawing/2014/main" id="{D4C09E38-9BB1-722F-BBAA-57D2DD3D7485}"/>
              </a:ext>
            </a:extLst>
          </p:cNvPr>
          <p:cNvSpPr txBox="1"/>
          <p:nvPr/>
        </p:nvSpPr>
        <p:spPr>
          <a:xfrm>
            <a:off x="9591675" y="50728"/>
            <a:ext cx="1046921" cy="1323439"/>
          </a:xfrm>
          <a:prstGeom prst="rect">
            <a:avLst/>
          </a:prstGeom>
          <a:noFill/>
        </p:spPr>
        <p:txBody>
          <a:bodyPr wrap="square" rtlCol="0">
            <a:spAutoFit/>
          </a:bodyPr>
          <a:lstStyle/>
          <a:p>
            <a:pPr algn="ctr"/>
            <a:r>
              <a:rPr lang="en-GB" sz="8000" b="1" dirty="0">
                <a:latin typeface="Georgia" panose="02040502050405020303" pitchFamily="18" charset="0"/>
              </a:rPr>
              <a:t>2</a:t>
            </a:r>
          </a:p>
        </p:txBody>
      </p:sp>
      <p:sp>
        <p:nvSpPr>
          <p:cNvPr id="12" name="TextBox 11">
            <a:extLst>
              <a:ext uri="{FF2B5EF4-FFF2-40B4-BE49-F238E27FC236}">
                <a16:creationId xmlns:a16="http://schemas.microsoft.com/office/drawing/2014/main" id="{D3DD20F1-B301-64D4-7858-70EB88388BA2}"/>
              </a:ext>
            </a:extLst>
          </p:cNvPr>
          <p:cNvSpPr txBox="1"/>
          <p:nvPr/>
        </p:nvSpPr>
        <p:spPr>
          <a:xfrm>
            <a:off x="7215809" y="5602212"/>
            <a:ext cx="1046921" cy="1323439"/>
          </a:xfrm>
          <a:prstGeom prst="rect">
            <a:avLst/>
          </a:prstGeom>
          <a:noFill/>
        </p:spPr>
        <p:txBody>
          <a:bodyPr wrap="square" rtlCol="0">
            <a:spAutoFit/>
          </a:bodyPr>
          <a:lstStyle/>
          <a:p>
            <a:pPr algn="ctr"/>
            <a:r>
              <a:rPr lang="en-GB" sz="8000" b="1" dirty="0">
                <a:latin typeface="Georgia" panose="02040502050405020303" pitchFamily="18" charset="0"/>
              </a:rPr>
              <a:t>3</a:t>
            </a:r>
          </a:p>
        </p:txBody>
      </p:sp>
      <p:sp>
        <p:nvSpPr>
          <p:cNvPr id="14" name="TextBox 13">
            <a:extLst>
              <a:ext uri="{FF2B5EF4-FFF2-40B4-BE49-F238E27FC236}">
                <a16:creationId xmlns:a16="http://schemas.microsoft.com/office/drawing/2014/main" id="{420DE3B5-7B95-60EF-880C-E61832A6F8D6}"/>
              </a:ext>
            </a:extLst>
          </p:cNvPr>
          <p:cNvSpPr txBox="1"/>
          <p:nvPr/>
        </p:nvSpPr>
        <p:spPr>
          <a:xfrm>
            <a:off x="9591674" y="5584257"/>
            <a:ext cx="1046921" cy="1323439"/>
          </a:xfrm>
          <a:prstGeom prst="rect">
            <a:avLst/>
          </a:prstGeom>
          <a:noFill/>
        </p:spPr>
        <p:txBody>
          <a:bodyPr wrap="square" rtlCol="0">
            <a:spAutoFit/>
          </a:bodyPr>
          <a:lstStyle/>
          <a:p>
            <a:pPr algn="ctr"/>
            <a:r>
              <a:rPr lang="en-GB" sz="8000" b="1" dirty="0">
                <a:latin typeface="Georgia" panose="02040502050405020303" pitchFamily="18" charset="0"/>
              </a:rPr>
              <a:t>4</a:t>
            </a:r>
          </a:p>
        </p:txBody>
      </p:sp>
    </p:spTree>
    <p:extLst>
      <p:ext uri="{BB962C8B-B14F-4D97-AF65-F5344CB8AC3E}">
        <p14:creationId xmlns:p14="http://schemas.microsoft.com/office/powerpoint/2010/main" val="2051856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199" name="Background Fill">
            <a:extLst>
              <a:ext uri="{FF2B5EF4-FFF2-40B4-BE49-F238E27FC236}">
                <a16:creationId xmlns:a16="http://schemas.microsoft.com/office/drawing/2014/main" id="{B937640E-EF7A-4A6C-A950-D12B7D5C92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01" name="Rectangle 8200">
            <a:extLst>
              <a:ext uri="{FF2B5EF4-FFF2-40B4-BE49-F238E27FC236}">
                <a16:creationId xmlns:a16="http://schemas.microsoft.com/office/drawing/2014/main" id="{76ADA084-C86B-4F3C-8077-6A8999CC46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 name="Title 1">
            <a:extLst>
              <a:ext uri="{FF2B5EF4-FFF2-40B4-BE49-F238E27FC236}">
                <a16:creationId xmlns:a16="http://schemas.microsoft.com/office/drawing/2014/main" id="{D21DD78D-0C25-EED4-70CD-9F91409CD343}"/>
              </a:ext>
            </a:extLst>
          </p:cNvPr>
          <p:cNvSpPr>
            <a:spLocks noGrp="1"/>
          </p:cNvSpPr>
          <p:nvPr>
            <p:ph type="title"/>
          </p:nvPr>
        </p:nvSpPr>
        <p:spPr>
          <a:xfrm>
            <a:off x="638319" y="0"/>
            <a:ext cx="7231358" cy="1849108"/>
          </a:xfrm>
        </p:spPr>
        <p:txBody>
          <a:bodyPr>
            <a:noAutofit/>
          </a:bodyPr>
          <a:lstStyle/>
          <a:p>
            <a:pPr>
              <a:lnSpc>
                <a:spcPct val="90000"/>
              </a:lnSpc>
            </a:pPr>
            <a:r>
              <a:rPr lang="en-GB" sz="4000" b="1" dirty="0">
                <a:latin typeface="Georgia" panose="02040502050405020303" pitchFamily="18" charset="0"/>
              </a:rPr>
              <a:t>The Rank of SAN: meaning and what it represents</a:t>
            </a:r>
          </a:p>
        </p:txBody>
      </p:sp>
      <p:sp>
        <p:nvSpPr>
          <p:cNvPr id="4" name="Content Placeholder 2">
            <a:extLst>
              <a:ext uri="{FF2B5EF4-FFF2-40B4-BE49-F238E27FC236}">
                <a16:creationId xmlns:a16="http://schemas.microsoft.com/office/drawing/2014/main" id="{0FAB40AA-6A14-C5D0-B29E-93AFD6069D95}"/>
              </a:ext>
            </a:extLst>
          </p:cNvPr>
          <p:cNvSpPr>
            <a:spLocks noGrp="1"/>
          </p:cNvSpPr>
          <p:nvPr>
            <p:ph sz="half" idx="1"/>
          </p:nvPr>
        </p:nvSpPr>
        <p:spPr>
          <a:xfrm>
            <a:off x="136187" y="1849108"/>
            <a:ext cx="6433690" cy="4717062"/>
          </a:xfrm>
        </p:spPr>
        <p:txBody>
          <a:bodyPr anchor="t">
            <a:noAutofit/>
          </a:bodyPr>
          <a:lstStyle/>
          <a:p>
            <a:pPr marL="342900" indent="-342900">
              <a:buClr>
                <a:schemeClr val="tx2">
                  <a:lumMod val="50000"/>
                </a:schemeClr>
              </a:buClr>
              <a:buFont typeface="Wingdings" panose="05000000000000000000" pitchFamily="2" charset="2"/>
              <a:buChar char="§"/>
            </a:pPr>
            <a:r>
              <a:rPr lang="en-NG" sz="1800" b="1" dirty="0">
                <a:latin typeface="Georgia" panose="02040502050405020303" pitchFamily="18" charset="0"/>
              </a:rPr>
              <a:t>SAN stands for Senior Advocate of Nigeria.</a:t>
            </a:r>
            <a:endParaRPr lang="en-US" sz="1800" b="1" dirty="0">
              <a:latin typeface="Georgia" panose="02040502050405020303" pitchFamily="18" charset="0"/>
            </a:endParaRPr>
          </a:p>
          <a:p>
            <a:pPr marL="342900" indent="-342900">
              <a:buClr>
                <a:schemeClr val="tx2">
                  <a:lumMod val="50000"/>
                </a:schemeClr>
              </a:buClr>
              <a:buFont typeface="Wingdings" panose="05000000000000000000" pitchFamily="2" charset="2"/>
              <a:buChar char="§"/>
            </a:pPr>
            <a:r>
              <a:rPr lang="en-NG" sz="1800" b="1" dirty="0">
                <a:latin typeface="Georgia" panose="02040502050405020303" pitchFamily="18" charset="0"/>
              </a:rPr>
              <a:t> It is an honorary rank</a:t>
            </a:r>
            <a:r>
              <a:rPr lang="en-US" sz="1800" b="1" dirty="0">
                <a:latin typeface="Georgia" panose="02040502050405020303" pitchFamily="18" charset="0"/>
              </a:rPr>
              <a:t> </a:t>
            </a:r>
            <a:r>
              <a:rPr lang="en-NG" sz="1800" b="1" dirty="0">
                <a:latin typeface="Georgia" panose="02040502050405020303" pitchFamily="18" charset="0"/>
              </a:rPr>
              <a:t>that is conferred on</a:t>
            </a:r>
            <a:r>
              <a:rPr lang="en-US" sz="1800" b="1" dirty="0">
                <a:latin typeface="Georgia" panose="02040502050405020303" pitchFamily="18" charset="0"/>
              </a:rPr>
              <a:t> </a:t>
            </a:r>
            <a:r>
              <a:rPr lang="en-NG" sz="1800" b="1" dirty="0">
                <a:latin typeface="Georgia" panose="02040502050405020303" pitchFamily="18" charset="0"/>
              </a:rPr>
              <a:t>distinguished legal practitioners in Nigeria with not less than ten years </a:t>
            </a:r>
            <a:r>
              <a:rPr lang="en-US" sz="1800" b="1" dirty="0">
                <a:latin typeface="Georgia" panose="02040502050405020303" pitchFamily="18" charset="0"/>
              </a:rPr>
              <a:t>post-call</a:t>
            </a:r>
            <a:r>
              <a:rPr lang="en-NG" sz="1800" b="1" dirty="0">
                <a:latin typeface="Georgia" panose="02040502050405020303" pitchFamily="18" charset="0"/>
              </a:rPr>
              <a:t> practice experience</a:t>
            </a:r>
            <a:r>
              <a:rPr lang="en-US" sz="1800" b="1" dirty="0">
                <a:latin typeface="Georgia" panose="02040502050405020303" pitchFamily="18" charset="0"/>
              </a:rPr>
              <a:t> and who have </a:t>
            </a:r>
            <a:r>
              <a:rPr lang="en-NG" sz="1800" b="1" dirty="0">
                <a:latin typeface="Georgia" panose="02040502050405020303" pitchFamily="18" charset="0"/>
              </a:rPr>
              <a:t>achieved recognition for their </a:t>
            </a:r>
            <a:r>
              <a:rPr lang="en-US" sz="1800" b="1" dirty="0">
                <a:latin typeface="Georgia" panose="02040502050405020303" pitchFamily="18" charset="0"/>
              </a:rPr>
              <a:t>advocacy </a:t>
            </a:r>
            <a:r>
              <a:rPr lang="en-NG" sz="1800" b="1" dirty="0">
                <a:latin typeface="Georgia" panose="02040502050405020303" pitchFamily="18" charset="0"/>
              </a:rPr>
              <a:t>and contributions to the </a:t>
            </a:r>
            <a:r>
              <a:rPr lang="en-US" sz="1800" b="1" dirty="0">
                <a:latin typeface="Georgia" panose="02040502050405020303" pitchFamily="18" charset="0"/>
              </a:rPr>
              <a:t>profession</a:t>
            </a:r>
            <a:r>
              <a:rPr lang="en-NG" sz="1800" b="1" dirty="0">
                <a:latin typeface="Georgia" panose="02040502050405020303" pitchFamily="18" charset="0"/>
              </a:rPr>
              <a:t>.</a:t>
            </a:r>
            <a:endParaRPr lang="en-US" sz="1800" b="1" dirty="0">
              <a:latin typeface="Georgia" panose="02040502050405020303" pitchFamily="18" charset="0"/>
            </a:endParaRPr>
          </a:p>
          <a:p>
            <a:pPr marL="342900" indent="-342900">
              <a:buClr>
                <a:schemeClr val="tx2">
                  <a:lumMod val="50000"/>
                </a:schemeClr>
              </a:buClr>
              <a:buFont typeface="Wingdings" panose="05000000000000000000" pitchFamily="2" charset="2"/>
              <a:buChar char="§"/>
            </a:pPr>
            <a:r>
              <a:rPr lang="en-US" sz="1800" b="1" dirty="0">
                <a:latin typeface="Georgia" panose="02040502050405020303" pitchFamily="18" charset="0"/>
              </a:rPr>
              <a:t>It may </a:t>
            </a:r>
            <a:r>
              <a:rPr lang="en-NG" sz="1800" b="1" dirty="0">
                <a:latin typeface="Georgia" panose="02040502050405020303" pitchFamily="18" charset="0"/>
              </a:rPr>
              <a:t>also be conferred on a legal pr</a:t>
            </a:r>
            <a:r>
              <a:rPr lang="en-US" sz="1800" b="1" dirty="0" err="1">
                <a:latin typeface="Georgia" panose="02040502050405020303" pitchFamily="18" charset="0"/>
              </a:rPr>
              <a:t>actitioner</a:t>
            </a:r>
            <a:r>
              <a:rPr lang="en-NG" sz="1800" b="1" dirty="0">
                <a:latin typeface="Georgia" panose="02040502050405020303" pitchFamily="18" charset="0"/>
              </a:rPr>
              <a:t> who is not engaged in full and active practice but has excelled in the academic sphere.</a:t>
            </a:r>
            <a:endParaRPr lang="en-US" sz="1800" b="1" dirty="0">
              <a:latin typeface="Georgia" panose="02040502050405020303" pitchFamily="18" charset="0"/>
            </a:endParaRPr>
          </a:p>
          <a:p>
            <a:pPr marL="342900" indent="-342900">
              <a:buClr>
                <a:schemeClr val="tx2">
                  <a:lumMod val="50000"/>
                </a:schemeClr>
              </a:buClr>
              <a:buFont typeface="Wingdings" panose="05000000000000000000" pitchFamily="2" charset="2"/>
              <a:buChar char="§"/>
            </a:pPr>
            <a:r>
              <a:rPr lang="en-US" sz="1800" b="1" dirty="0">
                <a:latin typeface="Georgia" panose="02040502050405020303" pitchFamily="18" charset="0"/>
              </a:rPr>
              <a:t>T</a:t>
            </a:r>
            <a:r>
              <a:rPr lang="en-NG" sz="1800" b="1" dirty="0">
                <a:latin typeface="Georgia" panose="02040502050405020303" pitchFamily="18" charset="0"/>
              </a:rPr>
              <a:t>he SAN rank represents the pinnacle of achievement at the Bar, symbolizing not only exceptional skill in legal practice but also the highest standards of professional ethics.</a:t>
            </a:r>
            <a:endParaRPr lang="en-US" sz="1800" b="1" dirty="0">
              <a:latin typeface="Georgia" panose="02040502050405020303" pitchFamily="18" charset="0"/>
            </a:endParaRPr>
          </a:p>
        </p:txBody>
      </p:sp>
      <p:pic>
        <p:nvPicPr>
          <p:cNvPr id="8194" name="Picture 2">
            <a:extLst>
              <a:ext uri="{FF2B5EF4-FFF2-40B4-BE49-F238E27FC236}">
                <a16:creationId xmlns:a16="http://schemas.microsoft.com/office/drawing/2014/main" id="{DCC7664B-1218-9B86-DDF3-25FA08DDE0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31" r="431"/>
          <a:stretch/>
        </p:blipFill>
        <p:spPr bwMode="auto">
          <a:xfrm>
            <a:off x="6521480" y="1138136"/>
            <a:ext cx="5670520" cy="5719864"/>
          </a:xfrm>
          <a:custGeom>
            <a:avLst/>
            <a:gdLst/>
            <a:ahLst/>
            <a:cxnLst/>
            <a:rect l="l" t="t" r="r" b="b"/>
            <a:pathLst>
              <a:path w="6312802" h="6367736">
                <a:moveTo>
                  <a:pt x="789715" y="708127"/>
                </a:moveTo>
                <a:cubicBezTo>
                  <a:pt x="845978" y="711650"/>
                  <a:pt x="901296" y="724302"/>
                  <a:pt x="953475" y="745602"/>
                </a:cubicBezTo>
                <a:cubicBezTo>
                  <a:pt x="1173612" y="834890"/>
                  <a:pt x="1309905" y="1073925"/>
                  <a:pt x="1278834" y="1315681"/>
                </a:cubicBezTo>
                <a:cubicBezTo>
                  <a:pt x="1233750" y="1669869"/>
                  <a:pt x="880524" y="1881517"/>
                  <a:pt x="560369" y="1747304"/>
                </a:cubicBezTo>
                <a:cubicBezTo>
                  <a:pt x="338151" y="1654256"/>
                  <a:pt x="204742" y="1408974"/>
                  <a:pt x="242538" y="1164574"/>
                </a:cubicBezTo>
                <a:cubicBezTo>
                  <a:pt x="286421" y="880774"/>
                  <a:pt x="529219" y="692590"/>
                  <a:pt x="789715" y="708127"/>
                </a:cubicBezTo>
                <a:close/>
                <a:moveTo>
                  <a:pt x="2877121" y="364348"/>
                </a:moveTo>
                <a:cubicBezTo>
                  <a:pt x="2901561" y="365790"/>
                  <a:pt x="2925601" y="371235"/>
                  <a:pt x="2948310" y="380363"/>
                </a:cubicBezTo>
                <a:cubicBezTo>
                  <a:pt x="3044405" y="419202"/>
                  <a:pt x="3103503" y="523063"/>
                  <a:pt x="3089970" y="628607"/>
                </a:cubicBezTo>
                <a:cubicBezTo>
                  <a:pt x="3070190" y="782758"/>
                  <a:pt x="2916600" y="874848"/>
                  <a:pt x="2777343" y="816472"/>
                </a:cubicBezTo>
                <a:cubicBezTo>
                  <a:pt x="2680608" y="775952"/>
                  <a:pt x="2622552" y="669287"/>
                  <a:pt x="2639048" y="562863"/>
                </a:cubicBezTo>
                <a:cubicBezTo>
                  <a:pt x="2658106" y="439382"/>
                  <a:pt x="2763810" y="357542"/>
                  <a:pt x="2877121" y="364348"/>
                </a:cubicBezTo>
                <a:close/>
                <a:moveTo>
                  <a:pt x="5725514" y="29060"/>
                </a:moveTo>
                <a:lnTo>
                  <a:pt x="5748657" y="29701"/>
                </a:lnTo>
                <a:cubicBezTo>
                  <a:pt x="5935681" y="36387"/>
                  <a:pt x="6081789" y="65616"/>
                  <a:pt x="6194082" y="113315"/>
                </a:cubicBezTo>
                <a:lnTo>
                  <a:pt x="6312802" y="183322"/>
                </a:lnTo>
                <a:lnTo>
                  <a:pt x="6312802" y="6367736"/>
                </a:lnTo>
                <a:lnTo>
                  <a:pt x="3171877" y="6367736"/>
                </a:lnTo>
                <a:lnTo>
                  <a:pt x="3171635" y="6367591"/>
                </a:lnTo>
                <a:lnTo>
                  <a:pt x="2683232" y="6367591"/>
                </a:lnTo>
                <a:lnTo>
                  <a:pt x="2683031" y="6367736"/>
                </a:lnTo>
                <a:lnTo>
                  <a:pt x="1006759" y="6367736"/>
                </a:lnTo>
                <a:lnTo>
                  <a:pt x="1017798" y="6253705"/>
                </a:lnTo>
                <a:cubicBezTo>
                  <a:pt x="1043303" y="6019815"/>
                  <a:pt x="1065826" y="5776617"/>
                  <a:pt x="897420" y="5565130"/>
                </a:cubicBezTo>
                <a:cubicBezTo>
                  <a:pt x="700507" y="5318087"/>
                  <a:pt x="491822" y="5428997"/>
                  <a:pt x="271526" y="5130943"/>
                </a:cubicBezTo>
                <a:cubicBezTo>
                  <a:pt x="108646" y="4910648"/>
                  <a:pt x="-26366" y="4708290"/>
                  <a:pt x="39940" y="4415201"/>
                </a:cubicBezTo>
                <a:cubicBezTo>
                  <a:pt x="128666" y="4023216"/>
                  <a:pt x="467878" y="3870268"/>
                  <a:pt x="464356" y="3587268"/>
                </a:cubicBezTo>
                <a:cubicBezTo>
                  <a:pt x="460351" y="3247094"/>
                  <a:pt x="43943" y="3178950"/>
                  <a:pt x="3183" y="2791128"/>
                </a:cubicBezTo>
                <a:cubicBezTo>
                  <a:pt x="-23403" y="2538162"/>
                  <a:pt x="118896" y="2235225"/>
                  <a:pt x="343758" y="2095087"/>
                </a:cubicBezTo>
                <a:cubicBezTo>
                  <a:pt x="758163" y="1836512"/>
                  <a:pt x="1225342" y="2272862"/>
                  <a:pt x="1543093" y="2013487"/>
                </a:cubicBezTo>
                <a:cubicBezTo>
                  <a:pt x="1732879" y="1858534"/>
                  <a:pt x="1763790" y="1542064"/>
                  <a:pt x="1726873" y="1342749"/>
                </a:cubicBezTo>
                <a:cubicBezTo>
                  <a:pt x="1656484" y="963255"/>
                  <a:pt x="1345299" y="901114"/>
                  <a:pt x="1356831" y="612032"/>
                </a:cubicBezTo>
                <a:cubicBezTo>
                  <a:pt x="1365319" y="397180"/>
                  <a:pt x="1547578" y="171600"/>
                  <a:pt x="1773239" y="121551"/>
                </a:cubicBezTo>
                <a:cubicBezTo>
                  <a:pt x="1804789" y="114503"/>
                  <a:pt x="1837013" y="110980"/>
                  <a:pt x="1869333" y="110980"/>
                </a:cubicBezTo>
                <a:cubicBezTo>
                  <a:pt x="2087466" y="110980"/>
                  <a:pt x="2259155" y="271137"/>
                  <a:pt x="2312167" y="320866"/>
                </a:cubicBezTo>
                <a:cubicBezTo>
                  <a:pt x="2563133" y="555255"/>
                  <a:pt x="2364538" y="842498"/>
                  <a:pt x="2568899" y="1194363"/>
                </a:cubicBezTo>
                <a:cubicBezTo>
                  <a:pt x="2600650" y="1246494"/>
                  <a:pt x="2637078" y="1295662"/>
                  <a:pt x="2677726" y="1341226"/>
                </a:cubicBezTo>
                <a:cubicBezTo>
                  <a:pt x="2757804" y="1432276"/>
                  <a:pt x="2906990" y="1416261"/>
                  <a:pt x="2964327" y="1310316"/>
                </a:cubicBezTo>
                <a:cubicBezTo>
                  <a:pt x="3059059" y="1135183"/>
                  <a:pt x="3149628" y="938831"/>
                  <a:pt x="3333248" y="887741"/>
                </a:cubicBezTo>
                <a:cubicBezTo>
                  <a:pt x="3690239" y="788365"/>
                  <a:pt x="3902767" y="1378543"/>
                  <a:pt x="4272730" y="1307994"/>
                </a:cubicBezTo>
                <a:cubicBezTo>
                  <a:pt x="4426320" y="1278686"/>
                  <a:pt x="4515368" y="1152802"/>
                  <a:pt x="4596327" y="996810"/>
                </a:cubicBezTo>
                <a:cubicBezTo>
                  <a:pt x="4618829" y="953326"/>
                  <a:pt x="4640770" y="907521"/>
                  <a:pt x="4663272" y="860676"/>
                </a:cubicBezTo>
                <a:cubicBezTo>
                  <a:pt x="4732781" y="613153"/>
                  <a:pt x="4835282" y="115946"/>
                  <a:pt x="5572324" y="40189"/>
                </a:cubicBezTo>
                <a:cubicBezTo>
                  <a:pt x="5622910" y="31543"/>
                  <a:pt x="5674208" y="27859"/>
                  <a:pt x="5725514" y="29060"/>
                </a:cubicBezTo>
                <a:close/>
                <a:moveTo>
                  <a:pt x="4169348" y="793"/>
                </a:moveTo>
                <a:cubicBezTo>
                  <a:pt x="4219966" y="3995"/>
                  <a:pt x="4269734" y="15368"/>
                  <a:pt x="4316693" y="34505"/>
                </a:cubicBezTo>
                <a:cubicBezTo>
                  <a:pt x="4514808" y="114584"/>
                  <a:pt x="4637488" y="329676"/>
                  <a:pt x="4609540" y="547569"/>
                </a:cubicBezTo>
                <a:cubicBezTo>
                  <a:pt x="4568620" y="865801"/>
                  <a:pt x="4251108" y="1055907"/>
                  <a:pt x="3962986" y="935790"/>
                </a:cubicBezTo>
                <a:cubicBezTo>
                  <a:pt x="3762790" y="852028"/>
                  <a:pt x="3642672" y="631491"/>
                  <a:pt x="3676946" y="411355"/>
                </a:cubicBezTo>
                <a:cubicBezTo>
                  <a:pt x="3716424" y="155985"/>
                  <a:pt x="3934959" y="-13061"/>
                  <a:pt x="4169348" y="793"/>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0510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9" name="Background Fill">
            <a:extLst>
              <a:ext uri="{FF2B5EF4-FFF2-40B4-BE49-F238E27FC236}">
                <a16:creationId xmlns:a16="http://schemas.microsoft.com/office/drawing/2014/main" id="{B937640E-EF7A-4A6C-A950-D12B7D5C92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94CCE7A-BF63-4F34-A790-506292F49D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F066AA63-76B1-4DA5-BDFB-DB2FD4E001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44776" y="211090"/>
            <a:ext cx="5544176" cy="6646910"/>
          </a:xfrm>
          <a:custGeom>
            <a:avLst/>
            <a:gdLst>
              <a:gd name="connsiteX0" fmla="*/ 4779974 w 5544176"/>
              <a:gd name="connsiteY0" fmla="*/ 685250 h 6646910"/>
              <a:gd name="connsiteX1" fmla="*/ 5309474 w 5544176"/>
              <a:gd name="connsiteY1" fmla="*/ 1126951 h 6646910"/>
              <a:gd name="connsiteX2" fmla="*/ 5001910 w 5544176"/>
              <a:gd name="connsiteY2" fmla="*/ 1690856 h 6646910"/>
              <a:gd name="connsiteX3" fmla="*/ 4306656 w 5544176"/>
              <a:gd name="connsiteY3" fmla="*/ 1273177 h 6646910"/>
              <a:gd name="connsiteX4" fmla="*/ 4621504 w 5544176"/>
              <a:gd name="connsiteY4" fmla="*/ 721515 h 6646910"/>
              <a:gd name="connsiteX5" fmla="*/ 4779974 w 5544176"/>
              <a:gd name="connsiteY5" fmla="*/ 685250 h 6646910"/>
              <a:gd name="connsiteX6" fmla="*/ 2760003 w 5544176"/>
              <a:gd name="connsiteY6" fmla="*/ 352577 h 6646910"/>
              <a:gd name="connsiteX7" fmla="*/ 2990385 w 5544176"/>
              <a:gd name="connsiteY7" fmla="*/ 544679 h 6646910"/>
              <a:gd name="connsiteX8" fmla="*/ 2856557 w 5544176"/>
              <a:gd name="connsiteY8" fmla="*/ 790095 h 6646910"/>
              <a:gd name="connsiteX9" fmla="*/ 2554030 w 5544176"/>
              <a:gd name="connsiteY9" fmla="*/ 608299 h 6646910"/>
              <a:gd name="connsiteX10" fmla="*/ 2691113 w 5544176"/>
              <a:gd name="connsiteY10" fmla="*/ 368075 h 6646910"/>
              <a:gd name="connsiteX11" fmla="*/ 2760003 w 5544176"/>
              <a:gd name="connsiteY11" fmla="*/ 352577 h 6646910"/>
              <a:gd name="connsiteX12" fmla="*/ 3630 w 5544176"/>
              <a:gd name="connsiteY12" fmla="*/ 28121 h 6646910"/>
              <a:gd name="connsiteX13" fmla="*/ 151871 w 5544176"/>
              <a:gd name="connsiteY13" fmla="*/ 38891 h 6646910"/>
              <a:gd name="connsiteX14" fmla="*/ 1031555 w 5544176"/>
              <a:gd name="connsiteY14" fmla="*/ 832871 h 6646910"/>
              <a:gd name="connsiteX15" fmla="*/ 1096338 w 5544176"/>
              <a:gd name="connsiteY15" fmla="*/ 964607 h 6646910"/>
              <a:gd name="connsiteX16" fmla="*/ 1409481 w 5544176"/>
              <a:gd name="connsiteY16" fmla="*/ 1265738 h 6646910"/>
              <a:gd name="connsiteX17" fmla="*/ 2318612 w 5544176"/>
              <a:gd name="connsiteY17" fmla="*/ 859062 h 6646910"/>
              <a:gd name="connsiteX18" fmla="*/ 2675615 w 5544176"/>
              <a:gd name="connsiteY18" fmla="*/ 1267985 h 6646910"/>
              <a:gd name="connsiteX19" fmla="*/ 2952957 w 5544176"/>
              <a:gd name="connsiteY19" fmla="*/ 1297896 h 6646910"/>
              <a:gd name="connsiteX20" fmla="*/ 3058268 w 5544176"/>
              <a:gd name="connsiteY20" fmla="*/ 1155778 h 6646910"/>
              <a:gd name="connsiteX21" fmla="*/ 3306706 w 5544176"/>
              <a:gd name="connsiteY21" fmla="*/ 310500 h 6646910"/>
              <a:gd name="connsiteX22" fmla="*/ 3735234 w 5544176"/>
              <a:gd name="connsiteY22" fmla="*/ 107395 h 6646910"/>
              <a:gd name="connsiteX23" fmla="*/ 3828224 w 5544176"/>
              <a:gd name="connsiteY23" fmla="*/ 117624 h 6646910"/>
              <a:gd name="connsiteX24" fmla="*/ 4231180 w 5544176"/>
              <a:gd name="connsiteY24" fmla="*/ 592260 h 6646910"/>
              <a:gd name="connsiteX25" fmla="*/ 3873092 w 5544176"/>
              <a:gd name="connsiteY25" fmla="*/ 1299370 h 6646910"/>
              <a:gd name="connsiteX26" fmla="*/ 4050935 w 5544176"/>
              <a:gd name="connsiteY26" fmla="*/ 1948439 h 6646910"/>
              <a:gd name="connsiteX27" fmla="*/ 5211525 w 5544176"/>
              <a:gd name="connsiteY27" fmla="*/ 2027402 h 6646910"/>
              <a:gd name="connsiteX28" fmla="*/ 5541097 w 5544176"/>
              <a:gd name="connsiteY28" fmla="*/ 2700958 h 6646910"/>
              <a:gd name="connsiteX29" fmla="*/ 5094823 w 5544176"/>
              <a:gd name="connsiteY29" fmla="*/ 3471378 h 6646910"/>
              <a:gd name="connsiteX30" fmla="*/ 5505528 w 5544176"/>
              <a:gd name="connsiteY30" fmla="*/ 4272564 h 6646910"/>
              <a:gd name="connsiteX31" fmla="*/ 5281423 w 5544176"/>
              <a:gd name="connsiteY31" fmla="*/ 4965183 h 6646910"/>
              <a:gd name="connsiteX32" fmla="*/ 4675749 w 5544176"/>
              <a:gd name="connsiteY32" fmla="*/ 5385343 h 6646910"/>
              <a:gd name="connsiteX33" fmla="*/ 4508838 w 5544176"/>
              <a:gd name="connsiteY33" fmla="*/ 6598516 h 6646910"/>
              <a:gd name="connsiteX34" fmla="*/ 4472787 w 5544176"/>
              <a:gd name="connsiteY34" fmla="*/ 6646910 h 6646910"/>
              <a:gd name="connsiteX35" fmla="*/ 3367517 w 5544176"/>
              <a:gd name="connsiteY35" fmla="*/ 6646910 h 6646910"/>
              <a:gd name="connsiteX36" fmla="*/ 2998981 w 5544176"/>
              <a:gd name="connsiteY36" fmla="*/ 6646910 h 6646910"/>
              <a:gd name="connsiteX37" fmla="*/ 2648733 w 5544176"/>
              <a:gd name="connsiteY37" fmla="*/ 6646910 h 6646910"/>
              <a:gd name="connsiteX38" fmla="*/ 0 w 5544176"/>
              <a:gd name="connsiteY38" fmla="*/ 6646910 h 6646910"/>
              <a:gd name="connsiteX39" fmla="*/ 0 w 5544176"/>
              <a:gd name="connsiteY39" fmla="*/ 28222 h 6646910"/>
              <a:gd name="connsiteX40" fmla="*/ 1509522 w 5544176"/>
              <a:gd name="connsiteY40" fmla="*/ 767 h 6646910"/>
              <a:gd name="connsiteX41" fmla="*/ 1986017 w 5544176"/>
              <a:gd name="connsiteY41" fmla="*/ 398066 h 6646910"/>
              <a:gd name="connsiteX42" fmla="*/ 1709217 w 5544176"/>
              <a:gd name="connsiteY42" fmla="*/ 905558 h 6646910"/>
              <a:gd name="connsiteX43" fmla="*/ 1083551 w 5544176"/>
              <a:gd name="connsiteY43" fmla="*/ 529879 h 6646910"/>
              <a:gd name="connsiteX44" fmla="*/ 1366937 w 5544176"/>
              <a:gd name="connsiteY44" fmla="*/ 33390 h 6646910"/>
              <a:gd name="connsiteX45" fmla="*/ 1509522 w 5544176"/>
              <a:gd name="connsiteY45" fmla="*/ 767 h 664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544176" h="6646910">
                <a:moveTo>
                  <a:pt x="4779974" y="685250"/>
                </a:moveTo>
                <a:cubicBezTo>
                  <a:pt x="5032054" y="670215"/>
                  <a:pt x="5267008" y="852320"/>
                  <a:pt x="5309474" y="1126951"/>
                </a:cubicBezTo>
                <a:cubicBezTo>
                  <a:pt x="5346050" y="1363456"/>
                  <a:pt x="5216949" y="1600813"/>
                  <a:pt x="5001910" y="1690856"/>
                </a:cubicBezTo>
                <a:cubicBezTo>
                  <a:pt x="4692098" y="1820733"/>
                  <a:pt x="4350283" y="1615922"/>
                  <a:pt x="4306656" y="1273177"/>
                </a:cubicBezTo>
                <a:cubicBezTo>
                  <a:pt x="4276590" y="1039231"/>
                  <a:pt x="4408479" y="807918"/>
                  <a:pt x="4621504" y="721515"/>
                </a:cubicBezTo>
                <a:cubicBezTo>
                  <a:pt x="4671997" y="700903"/>
                  <a:pt x="4725528" y="688659"/>
                  <a:pt x="4779974" y="685250"/>
                </a:cubicBezTo>
                <a:close/>
                <a:moveTo>
                  <a:pt x="2760003" y="352577"/>
                </a:moveTo>
                <a:cubicBezTo>
                  <a:pt x="2869653" y="345991"/>
                  <a:pt x="2971942" y="425187"/>
                  <a:pt x="2990385" y="544679"/>
                </a:cubicBezTo>
                <a:cubicBezTo>
                  <a:pt x="3006348" y="647665"/>
                  <a:pt x="2950167" y="750884"/>
                  <a:pt x="2856557" y="790095"/>
                </a:cubicBezTo>
                <a:cubicBezTo>
                  <a:pt x="2721799" y="846585"/>
                  <a:pt x="2573171" y="757470"/>
                  <a:pt x="2554030" y="608299"/>
                </a:cubicBezTo>
                <a:cubicBezTo>
                  <a:pt x="2540934" y="506165"/>
                  <a:pt x="2598123" y="405659"/>
                  <a:pt x="2691113" y="368075"/>
                </a:cubicBezTo>
                <a:cubicBezTo>
                  <a:pt x="2713089" y="359242"/>
                  <a:pt x="2736352" y="353973"/>
                  <a:pt x="2760003" y="352577"/>
                </a:cubicBezTo>
                <a:close/>
                <a:moveTo>
                  <a:pt x="3630" y="28121"/>
                </a:moveTo>
                <a:cubicBezTo>
                  <a:pt x="53278" y="26959"/>
                  <a:pt x="102920" y="30524"/>
                  <a:pt x="151871" y="38891"/>
                </a:cubicBezTo>
                <a:cubicBezTo>
                  <a:pt x="865103" y="112200"/>
                  <a:pt x="964292" y="593344"/>
                  <a:pt x="1031555" y="832871"/>
                </a:cubicBezTo>
                <a:cubicBezTo>
                  <a:pt x="1053330" y="878203"/>
                  <a:pt x="1074563" y="922528"/>
                  <a:pt x="1096338" y="964607"/>
                </a:cubicBezTo>
                <a:cubicBezTo>
                  <a:pt x="1174682" y="1115560"/>
                  <a:pt x="1260852" y="1237377"/>
                  <a:pt x="1409481" y="1265738"/>
                </a:cubicBezTo>
                <a:cubicBezTo>
                  <a:pt x="1767492" y="1334008"/>
                  <a:pt x="1973154" y="762896"/>
                  <a:pt x="2318612" y="859062"/>
                </a:cubicBezTo>
                <a:cubicBezTo>
                  <a:pt x="2496300" y="908501"/>
                  <a:pt x="2583943" y="1098510"/>
                  <a:pt x="2675615" y="1267985"/>
                </a:cubicBezTo>
                <a:cubicBezTo>
                  <a:pt x="2731099" y="1370507"/>
                  <a:pt x="2875466" y="1386005"/>
                  <a:pt x="2952957" y="1297896"/>
                </a:cubicBezTo>
                <a:cubicBezTo>
                  <a:pt x="2992292" y="1253804"/>
                  <a:pt x="3027543" y="1206225"/>
                  <a:pt x="3058268" y="1155778"/>
                </a:cubicBezTo>
                <a:cubicBezTo>
                  <a:pt x="3256027" y="815280"/>
                  <a:pt x="3063848" y="537317"/>
                  <a:pt x="3306706" y="310500"/>
                </a:cubicBezTo>
                <a:cubicBezTo>
                  <a:pt x="3358006" y="262378"/>
                  <a:pt x="3524148" y="107395"/>
                  <a:pt x="3735234" y="107395"/>
                </a:cubicBezTo>
                <a:cubicBezTo>
                  <a:pt x="3766510" y="107395"/>
                  <a:pt x="3797693" y="110804"/>
                  <a:pt x="3828224" y="117624"/>
                </a:cubicBezTo>
                <a:cubicBezTo>
                  <a:pt x="4046595" y="166056"/>
                  <a:pt x="4222967" y="384349"/>
                  <a:pt x="4231180" y="592260"/>
                </a:cubicBezTo>
                <a:cubicBezTo>
                  <a:pt x="4242339" y="872003"/>
                  <a:pt x="3941207" y="932136"/>
                  <a:pt x="3873092" y="1299370"/>
                </a:cubicBezTo>
                <a:cubicBezTo>
                  <a:pt x="3837368" y="1492245"/>
                  <a:pt x="3867280" y="1798492"/>
                  <a:pt x="4050935" y="1948439"/>
                </a:cubicBezTo>
                <a:cubicBezTo>
                  <a:pt x="4358421" y="2199435"/>
                  <a:pt x="4810507" y="1777182"/>
                  <a:pt x="5211525" y="2027402"/>
                </a:cubicBezTo>
                <a:cubicBezTo>
                  <a:pt x="5429122" y="2163013"/>
                  <a:pt x="5566824" y="2456164"/>
                  <a:pt x="5541097" y="2700958"/>
                </a:cubicBezTo>
                <a:cubicBezTo>
                  <a:pt x="5501654" y="3076251"/>
                  <a:pt x="5098698" y="3142194"/>
                  <a:pt x="5094823" y="3471378"/>
                </a:cubicBezTo>
                <a:cubicBezTo>
                  <a:pt x="5091415" y="3745236"/>
                  <a:pt x="5419668" y="3893242"/>
                  <a:pt x="5505528" y="4272564"/>
                </a:cubicBezTo>
                <a:cubicBezTo>
                  <a:pt x="5569691" y="4556184"/>
                  <a:pt x="5439041" y="4752005"/>
                  <a:pt x="5281423" y="4965183"/>
                </a:cubicBezTo>
                <a:cubicBezTo>
                  <a:pt x="5068244" y="5253608"/>
                  <a:pt x="4866301" y="5146281"/>
                  <a:pt x="4675749" y="5385343"/>
                </a:cubicBezTo>
                <a:cubicBezTo>
                  <a:pt x="4370191" y="5769070"/>
                  <a:pt x="4714176" y="6260683"/>
                  <a:pt x="4508838" y="6598516"/>
                </a:cubicBezTo>
                <a:lnTo>
                  <a:pt x="4472787" y="6646910"/>
                </a:lnTo>
                <a:lnTo>
                  <a:pt x="3367517" y="6646910"/>
                </a:lnTo>
                <a:lnTo>
                  <a:pt x="2998981" y="6646910"/>
                </a:lnTo>
                <a:lnTo>
                  <a:pt x="2648733" y="6646910"/>
                </a:lnTo>
                <a:lnTo>
                  <a:pt x="0" y="6646910"/>
                </a:lnTo>
                <a:lnTo>
                  <a:pt x="0" y="28222"/>
                </a:lnTo>
                <a:close/>
                <a:moveTo>
                  <a:pt x="1509522" y="767"/>
                </a:moveTo>
                <a:cubicBezTo>
                  <a:pt x="1736339" y="-12639"/>
                  <a:pt x="1947814" y="150946"/>
                  <a:pt x="1986017" y="398066"/>
                </a:cubicBezTo>
                <a:cubicBezTo>
                  <a:pt x="2019183" y="611090"/>
                  <a:pt x="1902946" y="824502"/>
                  <a:pt x="1709217" y="905558"/>
                </a:cubicBezTo>
                <a:cubicBezTo>
                  <a:pt x="1430403" y="1021795"/>
                  <a:pt x="1123149" y="837830"/>
                  <a:pt x="1083551" y="529879"/>
                </a:cubicBezTo>
                <a:cubicBezTo>
                  <a:pt x="1056506" y="319025"/>
                  <a:pt x="1175223" y="110882"/>
                  <a:pt x="1366937" y="33390"/>
                </a:cubicBezTo>
                <a:cubicBezTo>
                  <a:pt x="1412379" y="14871"/>
                  <a:pt x="1460539" y="3866"/>
                  <a:pt x="1509522" y="76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D6AA8B0-A417-B6F9-120D-AFC63D496F67}"/>
              </a:ext>
            </a:extLst>
          </p:cNvPr>
          <p:cNvSpPr>
            <a:spLocks noGrp="1"/>
          </p:cNvSpPr>
          <p:nvPr>
            <p:ph type="title"/>
          </p:nvPr>
        </p:nvSpPr>
        <p:spPr>
          <a:xfrm>
            <a:off x="46383" y="202477"/>
            <a:ext cx="7368208" cy="1179063"/>
          </a:xfrm>
        </p:spPr>
        <p:txBody>
          <a:bodyPr>
            <a:normAutofit fontScale="90000"/>
          </a:bodyPr>
          <a:lstStyle/>
          <a:p>
            <a:r>
              <a:rPr lang="en-GB" sz="4000" b="1" dirty="0">
                <a:latin typeface="Georgia" panose="02040502050405020303" pitchFamily="18" charset="0"/>
              </a:rPr>
              <a:t>History and Evolution of the Rank of SAN</a:t>
            </a:r>
          </a:p>
        </p:txBody>
      </p:sp>
      <p:pic>
        <p:nvPicPr>
          <p:cNvPr id="16" name="Graphic 15">
            <a:extLst>
              <a:ext uri="{FF2B5EF4-FFF2-40B4-BE49-F238E27FC236}">
                <a16:creationId xmlns:a16="http://schemas.microsoft.com/office/drawing/2014/main" id="{8DB62E20-BD38-2DC2-D53D-FC28D26E723E}"/>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p:blipFill>
        <p:spPr>
          <a:xfrm>
            <a:off x="7585343" y="535021"/>
            <a:ext cx="4493220" cy="6120502"/>
          </a:xfrm>
          <a:prstGeom prst="rect">
            <a:avLst/>
          </a:prstGeom>
          <a:gradFill>
            <a:gsLst>
              <a:gs pos="74000">
                <a:schemeClr val="tx1"/>
              </a:gs>
              <a:gs pos="83000">
                <a:schemeClr val="accent1">
                  <a:lumMod val="45000"/>
                  <a:lumOff val="55000"/>
                </a:schemeClr>
              </a:gs>
            </a:gsLst>
            <a:path path="rect">
              <a:fillToRect l="100000" t="100000"/>
            </a:path>
          </a:gradFill>
          <a:ln>
            <a:noFill/>
          </a:ln>
          <a:effectLst>
            <a:softEdge rad="0"/>
          </a:effectLst>
          <a:scene3d>
            <a:camera prst="orthographicFront"/>
            <a:lightRig rig="threePt" dir="t"/>
          </a:scene3d>
          <a:sp3d prstMaterial="dkEdge">
            <a:bevelB prst="angle"/>
          </a:sp3d>
        </p:spPr>
      </p:pic>
      <p:sp>
        <p:nvSpPr>
          <p:cNvPr id="3" name="Content Placeholder 2">
            <a:extLst>
              <a:ext uri="{FF2B5EF4-FFF2-40B4-BE49-F238E27FC236}">
                <a16:creationId xmlns:a16="http://schemas.microsoft.com/office/drawing/2014/main" id="{C32B3235-5833-78DF-1374-25A32352EDB9}"/>
              </a:ext>
            </a:extLst>
          </p:cNvPr>
          <p:cNvSpPr>
            <a:spLocks noGrp="1"/>
          </p:cNvSpPr>
          <p:nvPr>
            <p:ph idx="1"/>
          </p:nvPr>
        </p:nvSpPr>
        <p:spPr>
          <a:xfrm>
            <a:off x="113437" y="1391342"/>
            <a:ext cx="7468857" cy="5264181"/>
          </a:xfrm>
        </p:spPr>
        <p:txBody>
          <a:bodyPr anchor="t">
            <a:noAutofit/>
          </a:bodyPr>
          <a:lstStyle/>
          <a:p>
            <a:pPr marL="342900" indent="-342900">
              <a:buClr>
                <a:schemeClr val="tx2">
                  <a:lumMod val="50000"/>
                </a:schemeClr>
              </a:buClr>
              <a:buFont typeface="Wingdings" panose="05000000000000000000" pitchFamily="2" charset="2"/>
              <a:buChar char="§"/>
            </a:pPr>
            <a:r>
              <a:rPr lang="en-NG" b="1" dirty="0">
                <a:latin typeface="Georgia" panose="02040502050405020303" pitchFamily="18" charset="0"/>
              </a:rPr>
              <a:t>The introduction of the rank of S</a:t>
            </a:r>
            <a:r>
              <a:rPr lang="en-US" b="1" dirty="0">
                <a:latin typeface="Georgia" panose="02040502050405020303" pitchFamily="18" charset="0"/>
              </a:rPr>
              <a:t>AN </a:t>
            </a:r>
            <a:r>
              <a:rPr lang="en-NG" b="1" dirty="0">
                <a:latin typeface="Georgia" panose="02040502050405020303" pitchFamily="18" charset="0"/>
              </a:rPr>
              <a:t>began with the introduction of English laws in Nigeria and the efforts of Nigerian lawyers to attain the prestigious rank of Queen’s Counsel.</a:t>
            </a:r>
            <a:endParaRPr lang="en-US" b="1" dirty="0">
              <a:latin typeface="Georgia" panose="02040502050405020303" pitchFamily="18" charset="0"/>
            </a:endParaRPr>
          </a:p>
          <a:p>
            <a:pPr marL="342900" indent="-342900">
              <a:buClr>
                <a:schemeClr val="tx2">
                  <a:lumMod val="50000"/>
                </a:schemeClr>
              </a:buClr>
              <a:buFont typeface="Wingdings" panose="05000000000000000000" pitchFamily="2" charset="2"/>
              <a:buChar char="§"/>
            </a:pPr>
            <a:r>
              <a:rPr lang="en-NG" b="1" dirty="0">
                <a:latin typeface="Georgia" panose="02040502050405020303" pitchFamily="18" charset="0"/>
              </a:rPr>
              <a:t>The Queen’s Counsel (QC), or King’s Counsel (KC) when the reigning monarch is male, originated from England</a:t>
            </a:r>
            <a:r>
              <a:rPr lang="en-US" b="1" dirty="0">
                <a:latin typeface="Georgia" panose="02040502050405020303" pitchFamily="18" charset="0"/>
              </a:rPr>
              <a:t>. </a:t>
            </a:r>
          </a:p>
          <a:p>
            <a:pPr marL="342900" indent="-342900">
              <a:buClr>
                <a:schemeClr val="tx2">
                  <a:lumMod val="50000"/>
                </a:schemeClr>
              </a:buClr>
              <a:buFont typeface="Wingdings" panose="05000000000000000000" pitchFamily="2" charset="2"/>
              <a:buChar char="§"/>
            </a:pPr>
            <a:r>
              <a:rPr lang="en-NG" b="1" dirty="0">
                <a:latin typeface="Georgia" panose="02040502050405020303" pitchFamily="18" charset="0"/>
              </a:rPr>
              <a:t>The first Queen’s Counsel was Sir Francis Bacon, who received a patent granting him precedence at the bar in 1603. </a:t>
            </a:r>
            <a:endParaRPr lang="en-US" b="1" dirty="0">
              <a:latin typeface="Georgia" panose="02040502050405020303" pitchFamily="18" charset="0"/>
            </a:endParaRPr>
          </a:p>
          <a:p>
            <a:pPr marL="342900" indent="-342900">
              <a:buClr>
                <a:schemeClr val="tx2">
                  <a:lumMod val="50000"/>
                </a:schemeClr>
              </a:buClr>
              <a:buFont typeface="Wingdings" panose="05000000000000000000" pitchFamily="2" charset="2"/>
              <a:buChar char="§"/>
            </a:pPr>
            <a:r>
              <a:rPr lang="en-NG" b="1" dirty="0">
                <a:latin typeface="Georgia" panose="02040502050405020303" pitchFamily="18" charset="0"/>
              </a:rPr>
              <a:t>The rank of the Queen’s Counsel is linked to our colonial roots. The history of Nigeria’s present legal system can be traced directly to the introduction of English law into the then Lagos colony</a:t>
            </a:r>
            <a:r>
              <a:rPr lang="en-US" b="1" dirty="0">
                <a:latin typeface="Georgia" panose="02040502050405020303" pitchFamily="18" charset="0"/>
              </a:rPr>
              <a:t>. </a:t>
            </a:r>
          </a:p>
        </p:txBody>
      </p:sp>
    </p:spTree>
    <p:extLst>
      <p:ext uri="{BB962C8B-B14F-4D97-AF65-F5344CB8AC3E}">
        <p14:creationId xmlns:p14="http://schemas.microsoft.com/office/powerpoint/2010/main" val="39802636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75557-8E8D-3A3B-FFA4-CEB3C4E11BEE}"/>
            </a:ext>
          </a:extLst>
        </p:cNvPr>
        <p:cNvGrpSpPr/>
        <p:nvPr/>
      </p:nvGrpSpPr>
      <p:grpSpPr>
        <a:xfrm>
          <a:off x="0" y="0"/>
          <a:ext cx="0" cy="0"/>
          <a:chOff x="0" y="0"/>
          <a:chExt cx="0" cy="0"/>
        </a:xfrm>
      </p:grpSpPr>
      <p:sp useBgFill="1">
        <p:nvSpPr>
          <p:cNvPr id="19" name="Background Fill">
            <a:extLst>
              <a:ext uri="{FF2B5EF4-FFF2-40B4-BE49-F238E27FC236}">
                <a16:creationId xmlns:a16="http://schemas.microsoft.com/office/drawing/2014/main" id="{AA8EF122-80C7-4EC6-1C1B-691A12A770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8CB43FC-AC21-3841-A6DA-EE082335B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841933E5-E88B-BE25-0161-5DDF3E0714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44776" y="211090"/>
            <a:ext cx="5544176" cy="6646910"/>
          </a:xfrm>
          <a:custGeom>
            <a:avLst/>
            <a:gdLst>
              <a:gd name="connsiteX0" fmla="*/ 4779974 w 5544176"/>
              <a:gd name="connsiteY0" fmla="*/ 685250 h 6646910"/>
              <a:gd name="connsiteX1" fmla="*/ 5309474 w 5544176"/>
              <a:gd name="connsiteY1" fmla="*/ 1126951 h 6646910"/>
              <a:gd name="connsiteX2" fmla="*/ 5001910 w 5544176"/>
              <a:gd name="connsiteY2" fmla="*/ 1690856 h 6646910"/>
              <a:gd name="connsiteX3" fmla="*/ 4306656 w 5544176"/>
              <a:gd name="connsiteY3" fmla="*/ 1273177 h 6646910"/>
              <a:gd name="connsiteX4" fmla="*/ 4621504 w 5544176"/>
              <a:gd name="connsiteY4" fmla="*/ 721515 h 6646910"/>
              <a:gd name="connsiteX5" fmla="*/ 4779974 w 5544176"/>
              <a:gd name="connsiteY5" fmla="*/ 685250 h 6646910"/>
              <a:gd name="connsiteX6" fmla="*/ 2760003 w 5544176"/>
              <a:gd name="connsiteY6" fmla="*/ 352577 h 6646910"/>
              <a:gd name="connsiteX7" fmla="*/ 2990385 w 5544176"/>
              <a:gd name="connsiteY7" fmla="*/ 544679 h 6646910"/>
              <a:gd name="connsiteX8" fmla="*/ 2856557 w 5544176"/>
              <a:gd name="connsiteY8" fmla="*/ 790095 h 6646910"/>
              <a:gd name="connsiteX9" fmla="*/ 2554030 w 5544176"/>
              <a:gd name="connsiteY9" fmla="*/ 608299 h 6646910"/>
              <a:gd name="connsiteX10" fmla="*/ 2691113 w 5544176"/>
              <a:gd name="connsiteY10" fmla="*/ 368075 h 6646910"/>
              <a:gd name="connsiteX11" fmla="*/ 2760003 w 5544176"/>
              <a:gd name="connsiteY11" fmla="*/ 352577 h 6646910"/>
              <a:gd name="connsiteX12" fmla="*/ 3630 w 5544176"/>
              <a:gd name="connsiteY12" fmla="*/ 28121 h 6646910"/>
              <a:gd name="connsiteX13" fmla="*/ 151871 w 5544176"/>
              <a:gd name="connsiteY13" fmla="*/ 38891 h 6646910"/>
              <a:gd name="connsiteX14" fmla="*/ 1031555 w 5544176"/>
              <a:gd name="connsiteY14" fmla="*/ 832871 h 6646910"/>
              <a:gd name="connsiteX15" fmla="*/ 1096338 w 5544176"/>
              <a:gd name="connsiteY15" fmla="*/ 964607 h 6646910"/>
              <a:gd name="connsiteX16" fmla="*/ 1409481 w 5544176"/>
              <a:gd name="connsiteY16" fmla="*/ 1265738 h 6646910"/>
              <a:gd name="connsiteX17" fmla="*/ 2318612 w 5544176"/>
              <a:gd name="connsiteY17" fmla="*/ 859062 h 6646910"/>
              <a:gd name="connsiteX18" fmla="*/ 2675615 w 5544176"/>
              <a:gd name="connsiteY18" fmla="*/ 1267985 h 6646910"/>
              <a:gd name="connsiteX19" fmla="*/ 2952957 w 5544176"/>
              <a:gd name="connsiteY19" fmla="*/ 1297896 h 6646910"/>
              <a:gd name="connsiteX20" fmla="*/ 3058268 w 5544176"/>
              <a:gd name="connsiteY20" fmla="*/ 1155778 h 6646910"/>
              <a:gd name="connsiteX21" fmla="*/ 3306706 w 5544176"/>
              <a:gd name="connsiteY21" fmla="*/ 310500 h 6646910"/>
              <a:gd name="connsiteX22" fmla="*/ 3735234 w 5544176"/>
              <a:gd name="connsiteY22" fmla="*/ 107395 h 6646910"/>
              <a:gd name="connsiteX23" fmla="*/ 3828224 w 5544176"/>
              <a:gd name="connsiteY23" fmla="*/ 117624 h 6646910"/>
              <a:gd name="connsiteX24" fmla="*/ 4231180 w 5544176"/>
              <a:gd name="connsiteY24" fmla="*/ 592260 h 6646910"/>
              <a:gd name="connsiteX25" fmla="*/ 3873092 w 5544176"/>
              <a:gd name="connsiteY25" fmla="*/ 1299370 h 6646910"/>
              <a:gd name="connsiteX26" fmla="*/ 4050935 w 5544176"/>
              <a:gd name="connsiteY26" fmla="*/ 1948439 h 6646910"/>
              <a:gd name="connsiteX27" fmla="*/ 5211525 w 5544176"/>
              <a:gd name="connsiteY27" fmla="*/ 2027402 h 6646910"/>
              <a:gd name="connsiteX28" fmla="*/ 5541097 w 5544176"/>
              <a:gd name="connsiteY28" fmla="*/ 2700958 h 6646910"/>
              <a:gd name="connsiteX29" fmla="*/ 5094823 w 5544176"/>
              <a:gd name="connsiteY29" fmla="*/ 3471378 h 6646910"/>
              <a:gd name="connsiteX30" fmla="*/ 5505528 w 5544176"/>
              <a:gd name="connsiteY30" fmla="*/ 4272564 h 6646910"/>
              <a:gd name="connsiteX31" fmla="*/ 5281423 w 5544176"/>
              <a:gd name="connsiteY31" fmla="*/ 4965183 h 6646910"/>
              <a:gd name="connsiteX32" fmla="*/ 4675749 w 5544176"/>
              <a:gd name="connsiteY32" fmla="*/ 5385343 h 6646910"/>
              <a:gd name="connsiteX33" fmla="*/ 4508838 w 5544176"/>
              <a:gd name="connsiteY33" fmla="*/ 6598516 h 6646910"/>
              <a:gd name="connsiteX34" fmla="*/ 4472787 w 5544176"/>
              <a:gd name="connsiteY34" fmla="*/ 6646910 h 6646910"/>
              <a:gd name="connsiteX35" fmla="*/ 3367517 w 5544176"/>
              <a:gd name="connsiteY35" fmla="*/ 6646910 h 6646910"/>
              <a:gd name="connsiteX36" fmla="*/ 2998981 w 5544176"/>
              <a:gd name="connsiteY36" fmla="*/ 6646910 h 6646910"/>
              <a:gd name="connsiteX37" fmla="*/ 2648733 w 5544176"/>
              <a:gd name="connsiteY37" fmla="*/ 6646910 h 6646910"/>
              <a:gd name="connsiteX38" fmla="*/ 0 w 5544176"/>
              <a:gd name="connsiteY38" fmla="*/ 6646910 h 6646910"/>
              <a:gd name="connsiteX39" fmla="*/ 0 w 5544176"/>
              <a:gd name="connsiteY39" fmla="*/ 28222 h 6646910"/>
              <a:gd name="connsiteX40" fmla="*/ 1509522 w 5544176"/>
              <a:gd name="connsiteY40" fmla="*/ 767 h 6646910"/>
              <a:gd name="connsiteX41" fmla="*/ 1986017 w 5544176"/>
              <a:gd name="connsiteY41" fmla="*/ 398066 h 6646910"/>
              <a:gd name="connsiteX42" fmla="*/ 1709217 w 5544176"/>
              <a:gd name="connsiteY42" fmla="*/ 905558 h 6646910"/>
              <a:gd name="connsiteX43" fmla="*/ 1083551 w 5544176"/>
              <a:gd name="connsiteY43" fmla="*/ 529879 h 6646910"/>
              <a:gd name="connsiteX44" fmla="*/ 1366937 w 5544176"/>
              <a:gd name="connsiteY44" fmla="*/ 33390 h 6646910"/>
              <a:gd name="connsiteX45" fmla="*/ 1509522 w 5544176"/>
              <a:gd name="connsiteY45" fmla="*/ 767 h 664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544176" h="6646910">
                <a:moveTo>
                  <a:pt x="4779974" y="685250"/>
                </a:moveTo>
                <a:cubicBezTo>
                  <a:pt x="5032054" y="670215"/>
                  <a:pt x="5267008" y="852320"/>
                  <a:pt x="5309474" y="1126951"/>
                </a:cubicBezTo>
                <a:cubicBezTo>
                  <a:pt x="5346050" y="1363456"/>
                  <a:pt x="5216949" y="1600813"/>
                  <a:pt x="5001910" y="1690856"/>
                </a:cubicBezTo>
                <a:cubicBezTo>
                  <a:pt x="4692098" y="1820733"/>
                  <a:pt x="4350283" y="1615922"/>
                  <a:pt x="4306656" y="1273177"/>
                </a:cubicBezTo>
                <a:cubicBezTo>
                  <a:pt x="4276590" y="1039231"/>
                  <a:pt x="4408479" y="807918"/>
                  <a:pt x="4621504" y="721515"/>
                </a:cubicBezTo>
                <a:cubicBezTo>
                  <a:pt x="4671997" y="700903"/>
                  <a:pt x="4725528" y="688659"/>
                  <a:pt x="4779974" y="685250"/>
                </a:cubicBezTo>
                <a:close/>
                <a:moveTo>
                  <a:pt x="2760003" y="352577"/>
                </a:moveTo>
                <a:cubicBezTo>
                  <a:pt x="2869653" y="345991"/>
                  <a:pt x="2971942" y="425187"/>
                  <a:pt x="2990385" y="544679"/>
                </a:cubicBezTo>
                <a:cubicBezTo>
                  <a:pt x="3006348" y="647665"/>
                  <a:pt x="2950167" y="750884"/>
                  <a:pt x="2856557" y="790095"/>
                </a:cubicBezTo>
                <a:cubicBezTo>
                  <a:pt x="2721799" y="846585"/>
                  <a:pt x="2573171" y="757470"/>
                  <a:pt x="2554030" y="608299"/>
                </a:cubicBezTo>
                <a:cubicBezTo>
                  <a:pt x="2540934" y="506165"/>
                  <a:pt x="2598123" y="405659"/>
                  <a:pt x="2691113" y="368075"/>
                </a:cubicBezTo>
                <a:cubicBezTo>
                  <a:pt x="2713089" y="359242"/>
                  <a:pt x="2736352" y="353973"/>
                  <a:pt x="2760003" y="352577"/>
                </a:cubicBezTo>
                <a:close/>
                <a:moveTo>
                  <a:pt x="3630" y="28121"/>
                </a:moveTo>
                <a:cubicBezTo>
                  <a:pt x="53278" y="26959"/>
                  <a:pt x="102920" y="30524"/>
                  <a:pt x="151871" y="38891"/>
                </a:cubicBezTo>
                <a:cubicBezTo>
                  <a:pt x="865103" y="112200"/>
                  <a:pt x="964292" y="593344"/>
                  <a:pt x="1031555" y="832871"/>
                </a:cubicBezTo>
                <a:cubicBezTo>
                  <a:pt x="1053330" y="878203"/>
                  <a:pt x="1074563" y="922528"/>
                  <a:pt x="1096338" y="964607"/>
                </a:cubicBezTo>
                <a:cubicBezTo>
                  <a:pt x="1174682" y="1115560"/>
                  <a:pt x="1260852" y="1237377"/>
                  <a:pt x="1409481" y="1265738"/>
                </a:cubicBezTo>
                <a:cubicBezTo>
                  <a:pt x="1767492" y="1334008"/>
                  <a:pt x="1973154" y="762896"/>
                  <a:pt x="2318612" y="859062"/>
                </a:cubicBezTo>
                <a:cubicBezTo>
                  <a:pt x="2496300" y="908501"/>
                  <a:pt x="2583943" y="1098510"/>
                  <a:pt x="2675615" y="1267985"/>
                </a:cubicBezTo>
                <a:cubicBezTo>
                  <a:pt x="2731099" y="1370507"/>
                  <a:pt x="2875466" y="1386005"/>
                  <a:pt x="2952957" y="1297896"/>
                </a:cubicBezTo>
                <a:cubicBezTo>
                  <a:pt x="2992292" y="1253804"/>
                  <a:pt x="3027543" y="1206225"/>
                  <a:pt x="3058268" y="1155778"/>
                </a:cubicBezTo>
                <a:cubicBezTo>
                  <a:pt x="3256027" y="815280"/>
                  <a:pt x="3063848" y="537317"/>
                  <a:pt x="3306706" y="310500"/>
                </a:cubicBezTo>
                <a:cubicBezTo>
                  <a:pt x="3358006" y="262378"/>
                  <a:pt x="3524148" y="107395"/>
                  <a:pt x="3735234" y="107395"/>
                </a:cubicBezTo>
                <a:cubicBezTo>
                  <a:pt x="3766510" y="107395"/>
                  <a:pt x="3797693" y="110804"/>
                  <a:pt x="3828224" y="117624"/>
                </a:cubicBezTo>
                <a:cubicBezTo>
                  <a:pt x="4046595" y="166056"/>
                  <a:pt x="4222967" y="384349"/>
                  <a:pt x="4231180" y="592260"/>
                </a:cubicBezTo>
                <a:cubicBezTo>
                  <a:pt x="4242339" y="872003"/>
                  <a:pt x="3941207" y="932136"/>
                  <a:pt x="3873092" y="1299370"/>
                </a:cubicBezTo>
                <a:cubicBezTo>
                  <a:pt x="3837368" y="1492245"/>
                  <a:pt x="3867280" y="1798492"/>
                  <a:pt x="4050935" y="1948439"/>
                </a:cubicBezTo>
                <a:cubicBezTo>
                  <a:pt x="4358421" y="2199435"/>
                  <a:pt x="4810507" y="1777182"/>
                  <a:pt x="5211525" y="2027402"/>
                </a:cubicBezTo>
                <a:cubicBezTo>
                  <a:pt x="5429122" y="2163013"/>
                  <a:pt x="5566824" y="2456164"/>
                  <a:pt x="5541097" y="2700958"/>
                </a:cubicBezTo>
                <a:cubicBezTo>
                  <a:pt x="5501654" y="3076251"/>
                  <a:pt x="5098698" y="3142194"/>
                  <a:pt x="5094823" y="3471378"/>
                </a:cubicBezTo>
                <a:cubicBezTo>
                  <a:pt x="5091415" y="3745236"/>
                  <a:pt x="5419668" y="3893242"/>
                  <a:pt x="5505528" y="4272564"/>
                </a:cubicBezTo>
                <a:cubicBezTo>
                  <a:pt x="5569691" y="4556184"/>
                  <a:pt x="5439041" y="4752005"/>
                  <a:pt x="5281423" y="4965183"/>
                </a:cubicBezTo>
                <a:cubicBezTo>
                  <a:pt x="5068244" y="5253608"/>
                  <a:pt x="4866301" y="5146281"/>
                  <a:pt x="4675749" y="5385343"/>
                </a:cubicBezTo>
                <a:cubicBezTo>
                  <a:pt x="4370191" y="5769070"/>
                  <a:pt x="4714176" y="6260683"/>
                  <a:pt x="4508838" y="6598516"/>
                </a:cubicBezTo>
                <a:lnTo>
                  <a:pt x="4472787" y="6646910"/>
                </a:lnTo>
                <a:lnTo>
                  <a:pt x="3367517" y="6646910"/>
                </a:lnTo>
                <a:lnTo>
                  <a:pt x="2998981" y="6646910"/>
                </a:lnTo>
                <a:lnTo>
                  <a:pt x="2648733" y="6646910"/>
                </a:lnTo>
                <a:lnTo>
                  <a:pt x="0" y="6646910"/>
                </a:lnTo>
                <a:lnTo>
                  <a:pt x="0" y="28222"/>
                </a:lnTo>
                <a:close/>
                <a:moveTo>
                  <a:pt x="1509522" y="767"/>
                </a:moveTo>
                <a:cubicBezTo>
                  <a:pt x="1736339" y="-12639"/>
                  <a:pt x="1947814" y="150946"/>
                  <a:pt x="1986017" y="398066"/>
                </a:cubicBezTo>
                <a:cubicBezTo>
                  <a:pt x="2019183" y="611090"/>
                  <a:pt x="1902946" y="824502"/>
                  <a:pt x="1709217" y="905558"/>
                </a:cubicBezTo>
                <a:cubicBezTo>
                  <a:pt x="1430403" y="1021795"/>
                  <a:pt x="1123149" y="837830"/>
                  <a:pt x="1083551" y="529879"/>
                </a:cubicBezTo>
                <a:cubicBezTo>
                  <a:pt x="1056506" y="319025"/>
                  <a:pt x="1175223" y="110882"/>
                  <a:pt x="1366937" y="33390"/>
                </a:cubicBezTo>
                <a:cubicBezTo>
                  <a:pt x="1412379" y="14871"/>
                  <a:pt x="1460539" y="3866"/>
                  <a:pt x="1509522" y="76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6" name="Graphic 15">
            <a:extLst>
              <a:ext uri="{FF2B5EF4-FFF2-40B4-BE49-F238E27FC236}">
                <a16:creationId xmlns:a16="http://schemas.microsoft.com/office/drawing/2014/main" id="{243F4FB4-7B46-C2A5-7051-6800B2356DCD}"/>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p:blipFill>
        <p:spPr>
          <a:xfrm>
            <a:off x="7889132" y="211090"/>
            <a:ext cx="4218614" cy="6444433"/>
          </a:xfrm>
          <a:prstGeom prst="rect">
            <a:avLst/>
          </a:prstGeom>
          <a:gradFill>
            <a:gsLst>
              <a:gs pos="74000">
                <a:schemeClr val="tx1"/>
              </a:gs>
              <a:gs pos="83000">
                <a:schemeClr val="accent1">
                  <a:lumMod val="45000"/>
                  <a:lumOff val="55000"/>
                </a:schemeClr>
              </a:gs>
            </a:gsLst>
            <a:path path="rect">
              <a:fillToRect l="100000" t="100000"/>
            </a:path>
          </a:gradFill>
          <a:ln>
            <a:noFill/>
          </a:ln>
          <a:effectLst>
            <a:softEdge rad="0"/>
          </a:effectLst>
          <a:scene3d>
            <a:camera prst="orthographicFront"/>
            <a:lightRig rig="threePt" dir="t"/>
          </a:scene3d>
          <a:sp3d prstMaterial="dkEdge">
            <a:bevelB prst="angle"/>
          </a:sp3d>
        </p:spPr>
      </p:pic>
      <p:sp>
        <p:nvSpPr>
          <p:cNvPr id="3" name="Content Placeholder 2">
            <a:extLst>
              <a:ext uri="{FF2B5EF4-FFF2-40B4-BE49-F238E27FC236}">
                <a16:creationId xmlns:a16="http://schemas.microsoft.com/office/drawing/2014/main" id="{AD077A3D-0B1F-B688-DE1E-05234D98AD11}"/>
              </a:ext>
            </a:extLst>
          </p:cNvPr>
          <p:cNvSpPr>
            <a:spLocks noGrp="1"/>
          </p:cNvSpPr>
          <p:nvPr>
            <p:ph idx="1"/>
          </p:nvPr>
        </p:nvSpPr>
        <p:spPr>
          <a:xfrm>
            <a:off x="317061" y="651827"/>
            <a:ext cx="7387245" cy="6003695"/>
          </a:xfrm>
        </p:spPr>
        <p:txBody>
          <a:bodyPr anchor="t">
            <a:noAutofit/>
          </a:bodyPr>
          <a:lstStyle/>
          <a:p>
            <a:pPr marL="342900" indent="-342900">
              <a:buClr>
                <a:schemeClr val="tx2">
                  <a:lumMod val="50000"/>
                </a:schemeClr>
              </a:buClr>
              <a:buFont typeface="Wingdings" panose="05000000000000000000" pitchFamily="2" charset="2"/>
              <a:buChar char="§"/>
            </a:pPr>
            <a:r>
              <a:rPr lang="en-US" sz="1800" b="1" dirty="0">
                <a:latin typeface="Georgia" panose="02040502050405020303" pitchFamily="18" charset="0"/>
              </a:rPr>
              <a:t>In 1863, the Lagos Supreme Court was established, and by the 1876 Ordinance, legal practitioners could be admitted formally, though due to the scarcity of qualified lawyers, courts also permitted </a:t>
            </a:r>
            <a:r>
              <a:rPr lang="en-NG" sz="1800" b="1" dirty="0">
                <a:latin typeface="Georgia" panose="02040502050405020303" pitchFamily="18" charset="0"/>
              </a:rPr>
              <a:t>“local-made solicitors,” “colonial solicitors,” or “self-taught attorneys.”</a:t>
            </a:r>
            <a:endParaRPr lang="en-US" sz="1800" b="1" dirty="0">
              <a:latin typeface="Georgia" panose="02040502050405020303" pitchFamily="18" charset="0"/>
            </a:endParaRPr>
          </a:p>
          <a:p>
            <a:pPr marL="342900" indent="-342900">
              <a:buClr>
                <a:schemeClr val="tx2">
                  <a:lumMod val="50000"/>
                </a:schemeClr>
              </a:buClr>
              <a:buFont typeface="Wingdings" panose="05000000000000000000" pitchFamily="2" charset="2"/>
              <a:buChar char="§"/>
            </a:pPr>
            <a:r>
              <a:rPr lang="en-NG" sz="1800" b="1" dirty="0">
                <a:latin typeface="Georgia" panose="02040502050405020303" pitchFamily="18" charset="0"/>
              </a:rPr>
              <a:t>However, the proclamation of the protectorates brought a surge of African lawyers</a:t>
            </a:r>
            <a:r>
              <a:rPr lang="en-US" sz="1800" b="1" dirty="0">
                <a:latin typeface="Georgia" panose="02040502050405020303" pitchFamily="18" charset="0"/>
              </a:rPr>
              <a:t>,</a:t>
            </a:r>
            <a:r>
              <a:rPr lang="en-NG" sz="1800" b="1" dirty="0">
                <a:latin typeface="Georgia" panose="02040502050405020303" pitchFamily="18" charset="0"/>
              </a:rPr>
              <a:t> and as the number of qualified practicing lawyers increased, the reliance of local attorneys reduced.</a:t>
            </a:r>
            <a:endParaRPr lang="en-US" sz="1800" b="1" dirty="0">
              <a:latin typeface="Georgia" panose="02040502050405020303" pitchFamily="18" charset="0"/>
            </a:endParaRPr>
          </a:p>
          <a:p>
            <a:pPr marL="342900" indent="-342900">
              <a:buClr>
                <a:schemeClr val="tx2">
                  <a:lumMod val="50000"/>
                </a:schemeClr>
              </a:buClr>
              <a:buFont typeface="Wingdings" panose="05000000000000000000" pitchFamily="2" charset="2"/>
              <a:buChar char="§"/>
            </a:pPr>
            <a:r>
              <a:rPr lang="en-US" sz="1800" b="1" dirty="0">
                <a:latin typeface="Georgia" panose="02040502050405020303" pitchFamily="18" charset="0"/>
              </a:rPr>
              <a:t>While Nigeria’s bar admission requirements mirrored the UK’s, unlike England, where distinguished barristers could attain the rank of QC, no equivalent professional honor existed in Nigeria.</a:t>
            </a:r>
          </a:p>
          <a:p>
            <a:pPr marL="342900" indent="-342900">
              <a:buClr>
                <a:schemeClr val="tx2">
                  <a:lumMod val="50000"/>
                </a:schemeClr>
              </a:buClr>
              <a:buFont typeface="Wingdings" panose="05000000000000000000" pitchFamily="2" charset="2"/>
              <a:buChar char="§"/>
            </a:pPr>
            <a:r>
              <a:rPr lang="en-US" sz="1800" b="1" dirty="0">
                <a:latin typeface="Georgia" panose="02040502050405020303" pitchFamily="18" charset="0"/>
              </a:rPr>
              <a:t>In 1903, Governor Sir William MacGregor’s attempt to secure the rank of King’s Counsel for Nigerian lawyer C.A. Sapara Williams failed, as colonial bias led to the rejection despite his outstanding credentials. </a:t>
            </a:r>
          </a:p>
          <a:p>
            <a:pPr marL="342900" indent="-342900">
              <a:buClr>
                <a:schemeClr val="tx2">
                  <a:lumMod val="50000"/>
                </a:schemeClr>
              </a:buClr>
              <a:buFont typeface="Wingdings" panose="05000000000000000000" pitchFamily="2" charset="2"/>
              <a:buChar char="§"/>
            </a:pPr>
            <a:endParaRPr lang="en-NG" dirty="0">
              <a:latin typeface="Georgia" panose="02040502050405020303" pitchFamily="18" charset="0"/>
            </a:endParaRPr>
          </a:p>
        </p:txBody>
      </p:sp>
    </p:spTree>
    <p:extLst>
      <p:ext uri="{BB962C8B-B14F-4D97-AF65-F5344CB8AC3E}">
        <p14:creationId xmlns:p14="http://schemas.microsoft.com/office/powerpoint/2010/main" val="13858480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7D9C6-CF7F-DAF7-1ED3-7BCDE90BEF4A}"/>
            </a:ext>
          </a:extLst>
        </p:cNvPr>
        <p:cNvGrpSpPr/>
        <p:nvPr/>
      </p:nvGrpSpPr>
      <p:grpSpPr>
        <a:xfrm>
          <a:off x="0" y="0"/>
          <a:ext cx="0" cy="0"/>
          <a:chOff x="0" y="0"/>
          <a:chExt cx="0" cy="0"/>
        </a:xfrm>
      </p:grpSpPr>
      <p:sp useBgFill="1">
        <p:nvSpPr>
          <p:cNvPr id="19" name="Background Fill">
            <a:extLst>
              <a:ext uri="{FF2B5EF4-FFF2-40B4-BE49-F238E27FC236}">
                <a16:creationId xmlns:a16="http://schemas.microsoft.com/office/drawing/2014/main" id="{DD6CA782-3AE8-D8C2-2FE1-79467CC2C6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94E3D2D-7558-407B-7908-F267FC4F73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D6E911E6-8F3C-B48A-9C12-9DB7F39FC0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44776" y="211090"/>
            <a:ext cx="5544176" cy="6646910"/>
          </a:xfrm>
          <a:custGeom>
            <a:avLst/>
            <a:gdLst>
              <a:gd name="connsiteX0" fmla="*/ 4779974 w 5544176"/>
              <a:gd name="connsiteY0" fmla="*/ 685250 h 6646910"/>
              <a:gd name="connsiteX1" fmla="*/ 5309474 w 5544176"/>
              <a:gd name="connsiteY1" fmla="*/ 1126951 h 6646910"/>
              <a:gd name="connsiteX2" fmla="*/ 5001910 w 5544176"/>
              <a:gd name="connsiteY2" fmla="*/ 1690856 h 6646910"/>
              <a:gd name="connsiteX3" fmla="*/ 4306656 w 5544176"/>
              <a:gd name="connsiteY3" fmla="*/ 1273177 h 6646910"/>
              <a:gd name="connsiteX4" fmla="*/ 4621504 w 5544176"/>
              <a:gd name="connsiteY4" fmla="*/ 721515 h 6646910"/>
              <a:gd name="connsiteX5" fmla="*/ 4779974 w 5544176"/>
              <a:gd name="connsiteY5" fmla="*/ 685250 h 6646910"/>
              <a:gd name="connsiteX6" fmla="*/ 2760003 w 5544176"/>
              <a:gd name="connsiteY6" fmla="*/ 352577 h 6646910"/>
              <a:gd name="connsiteX7" fmla="*/ 2990385 w 5544176"/>
              <a:gd name="connsiteY7" fmla="*/ 544679 h 6646910"/>
              <a:gd name="connsiteX8" fmla="*/ 2856557 w 5544176"/>
              <a:gd name="connsiteY8" fmla="*/ 790095 h 6646910"/>
              <a:gd name="connsiteX9" fmla="*/ 2554030 w 5544176"/>
              <a:gd name="connsiteY9" fmla="*/ 608299 h 6646910"/>
              <a:gd name="connsiteX10" fmla="*/ 2691113 w 5544176"/>
              <a:gd name="connsiteY10" fmla="*/ 368075 h 6646910"/>
              <a:gd name="connsiteX11" fmla="*/ 2760003 w 5544176"/>
              <a:gd name="connsiteY11" fmla="*/ 352577 h 6646910"/>
              <a:gd name="connsiteX12" fmla="*/ 3630 w 5544176"/>
              <a:gd name="connsiteY12" fmla="*/ 28121 h 6646910"/>
              <a:gd name="connsiteX13" fmla="*/ 151871 w 5544176"/>
              <a:gd name="connsiteY13" fmla="*/ 38891 h 6646910"/>
              <a:gd name="connsiteX14" fmla="*/ 1031555 w 5544176"/>
              <a:gd name="connsiteY14" fmla="*/ 832871 h 6646910"/>
              <a:gd name="connsiteX15" fmla="*/ 1096338 w 5544176"/>
              <a:gd name="connsiteY15" fmla="*/ 964607 h 6646910"/>
              <a:gd name="connsiteX16" fmla="*/ 1409481 w 5544176"/>
              <a:gd name="connsiteY16" fmla="*/ 1265738 h 6646910"/>
              <a:gd name="connsiteX17" fmla="*/ 2318612 w 5544176"/>
              <a:gd name="connsiteY17" fmla="*/ 859062 h 6646910"/>
              <a:gd name="connsiteX18" fmla="*/ 2675615 w 5544176"/>
              <a:gd name="connsiteY18" fmla="*/ 1267985 h 6646910"/>
              <a:gd name="connsiteX19" fmla="*/ 2952957 w 5544176"/>
              <a:gd name="connsiteY19" fmla="*/ 1297896 h 6646910"/>
              <a:gd name="connsiteX20" fmla="*/ 3058268 w 5544176"/>
              <a:gd name="connsiteY20" fmla="*/ 1155778 h 6646910"/>
              <a:gd name="connsiteX21" fmla="*/ 3306706 w 5544176"/>
              <a:gd name="connsiteY21" fmla="*/ 310500 h 6646910"/>
              <a:gd name="connsiteX22" fmla="*/ 3735234 w 5544176"/>
              <a:gd name="connsiteY22" fmla="*/ 107395 h 6646910"/>
              <a:gd name="connsiteX23" fmla="*/ 3828224 w 5544176"/>
              <a:gd name="connsiteY23" fmla="*/ 117624 h 6646910"/>
              <a:gd name="connsiteX24" fmla="*/ 4231180 w 5544176"/>
              <a:gd name="connsiteY24" fmla="*/ 592260 h 6646910"/>
              <a:gd name="connsiteX25" fmla="*/ 3873092 w 5544176"/>
              <a:gd name="connsiteY25" fmla="*/ 1299370 h 6646910"/>
              <a:gd name="connsiteX26" fmla="*/ 4050935 w 5544176"/>
              <a:gd name="connsiteY26" fmla="*/ 1948439 h 6646910"/>
              <a:gd name="connsiteX27" fmla="*/ 5211525 w 5544176"/>
              <a:gd name="connsiteY27" fmla="*/ 2027402 h 6646910"/>
              <a:gd name="connsiteX28" fmla="*/ 5541097 w 5544176"/>
              <a:gd name="connsiteY28" fmla="*/ 2700958 h 6646910"/>
              <a:gd name="connsiteX29" fmla="*/ 5094823 w 5544176"/>
              <a:gd name="connsiteY29" fmla="*/ 3471378 h 6646910"/>
              <a:gd name="connsiteX30" fmla="*/ 5505528 w 5544176"/>
              <a:gd name="connsiteY30" fmla="*/ 4272564 h 6646910"/>
              <a:gd name="connsiteX31" fmla="*/ 5281423 w 5544176"/>
              <a:gd name="connsiteY31" fmla="*/ 4965183 h 6646910"/>
              <a:gd name="connsiteX32" fmla="*/ 4675749 w 5544176"/>
              <a:gd name="connsiteY32" fmla="*/ 5385343 h 6646910"/>
              <a:gd name="connsiteX33" fmla="*/ 4508838 w 5544176"/>
              <a:gd name="connsiteY33" fmla="*/ 6598516 h 6646910"/>
              <a:gd name="connsiteX34" fmla="*/ 4472787 w 5544176"/>
              <a:gd name="connsiteY34" fmla="*/ 6646910 h 6646910"/>
              <a:gd name="connsiteX35" fmla="*/ 3367517 w 5544176"/>
              <a:gd name="connsiteY35" fmla="*/ 6646910 h 6646910"/>
              <a:gd name="connsiteX36" fmla="*/ 2998981 w 5544176"/>
              <a:gd name="connsiteY36" fmla="*/ 6646910 h 6646910"/>
              <a:gd name="connsiteX37" fmla="*/ 2648733 w 5544176"/>
              <a:gd name="connsiteY37" fmla="*/ 6646910 h 6646910"/>
              <a:gd name="connsiteX38" fmla="*/ 0 w 5544176"/>
              <a:gd name="connsiteY38" fmla="*/ 6646910 h 6646910"/>
              <a:gd name="connsiteX39" fmla="*/ 0 w 5544176"/>
              <a:gd name="connsiteY39" fmla="*/ 28222 h 6646910"/>
              <a:gd name="connsiteX40" fmla="*/ 1509522 w 5544176"/>
              <a:gd name="connsiteY40" fmla="*/ 767 h 6646910"/>
              <a:gd name="connsiteX41" fmla="*/ 1986017 w 5544176"/>
              <a:gd name="connsiteY41" fmla="*/ 398066 h 6646910"/>
              <a:gd name="connsiteX42" fmla="*/ 1709217 w 5544176"/>
              <a:gd name="connsiteY42" fmla="*/ 905558 h 6646910"/>
              <a:gd name="connsiteX43" fmla="*/ 1083551 w 5544176"/>
              <a:gd name="connsiteY43" fmla="*/ 529879 h 6646910"/>
              <a:gd name="connsiteX44" fmla="*/ 1366937 w 5544176"/>
              <a:gd name="connsiteY44" fmla="*/ 33390 h 6646910"/>
              <a:gd name="connsiteX45" fmla="*/ 1509522 w 5544176"/>
              <a:gd name="connsiteY45" fmla="*/ 767 h 664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544176" h="6646910">
                <a:moveTo>
                  <a:pt x="4779974" y="685250"/>
                </a:moveTo>
                <a:cubicBezTo>
                  <a:pt x="5032054" y="670215"/>
                  <a:pt x="5267008" y="852320"/>
                  <a:pt x="5309474" y="1126951"/>
                </a:cubicBezTo>
                <a:cubicBezTo>
                  <a:pt x="5346050" y="1363456"/>
                  <a:pt x="5216949" y="1600813"/>
                  <a:pt x="5001910" y="1690856"/>
                </a:cubicBezTo>
                <a:cubicBezTo>
                  <a:pt x="4692098" y="1820733"/>
                  <a:pt x="4350283" y="1615922"/>
                  <a:pt x="4306656" y="1273177"/>
                </a:cubicBezTo>
                <a:cubicBezTo>
                  <a:pt x="4276590" y="1039231"/>
                  <a:pt x="4408479" y="807918"/>
                  <a:pt x="4621504" y="721515"/>
                </a:cubicBezTo>
                <a:cubicBezTo>
                  <a:pt x="4671997" y="700903"/>
                  <a:pt x="4725528" y="688659"/>
                  <a:pt x="4779974" y="685250"/>
                </a:cubicBezTo>
                <a:close/>
                <a:moveTo>
                  <a:pt x="2760003" y="352577"/>
                </a:moveTo>
                <a:cubicBezTo>
                  <a:pt x="2869653" y="345991"/>
                  <a:pt x="2971942" y="425187"/>
                  <a:pt x="2990385" y="544679"/>
                </a:cubicBezTo>
                <a:cubicBezTo>
                  <a:pt x="3006348" y="647665"/>
                  <a:pt x="2950167" y="750884"/>
                  <a:pt x="2856557" y="790095"/>
                </a:cubicBezTo>
                <a:cubicBezTo>
                  <a:pt x="2721799" y="846585"/>
                  <a:pt x="2573171" y="757470"/>
                  <a:pt x="2554030" y="608299"/>
                </a:cubicBezTo>
                <a:cubicBezTo>
                  <a:pt x="2540934" y="506165"/>
                  <a:pt x="2598123" y="405659"/>
                  <a:pt x="2691113" y="368075"/>
                </a:cubicBezTo>
                <a:cubicBezTo>
                  <a:pt x="2713089" y="359242"/>
                  <a:pt x="2736352" y="353973"/>
                  <a:pt x="2760003" y="352577"/>
                </a:cubicBezTo>
                <a:close/>
                <a:moveTo>
                  <a:pt x="3630" y="28121"/>
                </a:moveTo>
                <a:cubicBezTo>
                  <a:pt x="53278" y="26959"/>
                  <a:pt x="102920" y="30524"/>
                  <a:pt x="151871" y="38891"/>
                </a:cubicBezTo>
                <a:cubicBezTo>
                  <a:pt x="865103" y="112200"/>
                  <a:pt x="964292" y="593344"/>
                  <a:pt x="1031555" y="832871"/>
                </a:cubicBezTo>
                <a:cubicBezTo>
                  <a:pt x="1053330" y="878203"/>
                  <a:pt x="1074563" y="922528"/>
                  <a:pt x="1096338" y="964607"/>
                </a:cubicBezTo>
                <a:cubicBezTo>
                  <a:pt x="1174682" y="1115560"/>
                  <a:pt x="1260852" y="1237377"/>
                  <a:pt x="1409481" y="1265738"/>
                </a:cubicBezTo>
                <a:cubicBezTo>
                  <a:pt x="1767492" y="1334008"/>
                  <a:pt x="1973154" y="762896"/>
                  <a:pt x="2318612" y="859062"/>
                </a:cubicBezTo>
                <a:cubicBezTo>
                  <a:pt x="2496300" y="908501"/>
                  <a:pt x="2583943" y="1098510"/>
                  <a:pt x="2675615" y="1267985"/>
                </a:cubicBezTo>
                <a:cubicBezTo>
                  <a:pt x="2731099" y="1370507"/>
                  <a:pt x="2875466" y="1386005"/>
                  <a:pt x="2952957" y="1297896"/>
                </a:cubicBezTo>
                <a:cubicBezTo>
                  <a:pt x="2992292" y="1253804"/>
                  <a:pt x="3027543" y="1206225"/>
                  <a:pt x="3058268" y="1155778"/>
                </a:cubicBezTo>
                <a:cubicBezTo>
                  <a:pt x="3256027" y="815280"/>
                  <a:pt x="3063848" y="537317"/>
                  <a:pt x="3306706" y="310500"/>
                </a:cubicBezTo>
                <a:cubicBezTo>
                  <a:pt x="3358006" y="262378"/>
                  <a:pt x="3524148" y="107395"/>
                  <a:pt x="3735234" y="107395"/>
                </a:cubicBezTo>
                <a:cubicBezTo>
                  <a:pt x="3766510" y="107395"/>
                  <a:pt x="3797693" y="110804"/>
                  <a:pt x="3828224" y="117624"/>
                </a:cubicBezTo>
                <a:cubicBezTo>
                  <a:pt x="4046595" y="166056"/>
                  <a:pt x="4222967" y="384349"/>
                  <a:pt x="4231180" y="592260"/>
                </a:cubicBezTo>
                <a:cubicBezTo>
                  <a:pt x="4242339" y="872003"/>
                  <a:pt x="3941207" y="932136"/>
                  <a:pt x="3873092" y="1299370"/>
                </a:cubicBezTo>
                <a:cubicBezTo>
                  <a:pt x="3837368" y="1492245"/>
                  <a:pt x="3867280" y="1798492"/>
                  <a:pt x="4050935" y="1948439"/>
                </a:cubicBezTo>
                <a:cubicBezTo>
                  <a:pt x="4358421" y="2199435"/>
                  <a:pt x="4810507" y="1777182"/>
                  <a:pt x="5211525" y="2027402"/>
                </a:cubicBezTo>
                <a:cubicBezTo>
                  <a:pt x="5429122" y="2163013"/>
                  <a:pt x="5566824" y="2456164"/>
                  <a:pt x="5541097" y="2700958"/>
                </a:cubicBezTo>
                <a:cubicBezTo>
                  <a:pt x="5501654" y="3076251"/>
                  <a:pt x="5098698" y="3142194"/>
                  <a:pt x="5094823" y="3471378"/>
                </a:cubicBezTo>
                <a:cubicBezTo>
                  <a:pt x="5091415" y="3745236"/>
                  <a:pt x="5419668" y="3893242"/>
                  <a:pt x="5505528" y="4272564"/>
                </a:cubicBezTo>
                <a:cubicBezTo>
                  <a:pt x="5569691" y="4556184"/>
                  <a:pt x="5439041" y="4752005"/>
                  <a:pt x="5281423" y="4965183"/>
                </a:cubicBezTo>
                <a:cubicBezTo>
                  <a:pt x="5068244" y="5253608"/>
                  <a:pt x="4866301" y="5146281"/>
                  <a:pt x="4675749" y="5385343"/>
                </a:cubicBezTo>
                <a:cubicBezTo>
                  <a:pt x="4370191" y="5769070"/>
                  <a:pt x="4714176" y="6260683"/>
                  <a:pt x="4508838" y="6598516"/>
                </a:cubicBezTo>
                <a:lnTo>
                  <a:pt x="4472787" y="6646910"/>
                </a:lnTo>
                <a:lnTo>
                  <a:pt x="3367517" y="6646910"/>
                </a:lnTo>
                <a:lnTo>
                  <a:pt x="2998981" y="6646910"/>
                </a:lnTo>
                <a:lnTo>
                  <a:pt x="2648733" y="6646910"/>
                </a:lnTo>
                <a:lnTo>
                  <a:pt x="0" y="6646910"/>
                </a:lnTo>
                <a:lnTo>
                  <a:pt x="0" y="28222"/>
                </a:lnTo>
                <a:close/>
                <a:moveTo>
                  <a:pt x="1509522" y="767"/>
                </a:moveTo>
                <a:cubicBezTo>
                  <a:pt x="1736339" y="-12639"/>
                  <a:pt x="1947814" y="150946"/>
                  <a:pt x="1986017" y="398066"/>
                </a:cubicBezTo>
                <a:cubicBezTo>
                  <a:pt x="2019183" y="611090"/>
                  <a:pt x="1902946" y="824502"/>
                  <a:pt x="1709217" y="905558"/>
                </a:cubicBezTo>
                <a:cubicBezTo>
                  <a:pt x="1430403" y="1021795"/>
                  <a:pt x="1123149" y="837830"/>
                  <a:pt x="1083551" y="529879"/>
                </a:cubicBezTo>
                <a:cubicBezTo>
                  <a:pt x="1056506" y="319025"/>
                  <a:pt x="1175223" y="110882"/>
                  <a:pt x="1366937" y="33390"/>
                </a:cubicBezTo>
                <a:cubicBezTo>
                  <a:pt x="1412379" y="14871"/>
                  <a:pt x="1460539" y="3866"/>
                  <a:pt x="1509522" y="76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6" name="Graphic 15">
            <a:extLst>
              <a:ext uri="{FF2B5EF4-FFF2-40B4-BE49-F238E27FC236}">
                <a16:creationId xmlns:a16="http://schemas.microsoft.com/office/drawing/2014/main" id="{570D5FE7-2228-391A-C794-0E61CB58656C}"/>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p:blipFill>
        <p:spPr>
          <a:xfrm>
            <a:off x="7347537" y="211090"/>
            <a:ext cx="4731026" cy="6444433"/>
          </a:xfrm>
          <a:prstGeom prst="rect">
            <a:avLst/>
          </a:prstGeom>
          <a:gradFill>
            <a:gsLst>
              <a:gs pos="74000">
                <a:schemeClr val="tx1"/>
              </a:gs>
              <a:gs pos="83000">
                <a:schemeClr val="accent1">
                  <a:lumMod val="45000"/>
                  <a:lumOff val="55000"/>
                </a:schemeClr>
              </a:gs>
            </a:gsLst>
            <a:path path="rect">
              <a:fillToRect l="100000" t="100000"/>
            </a:path>
          </a:gradFill>
          <a:ln>
            <a:noFill/>
          </a:ln>
          <a:effectLst>
            <a:softEdge rad="0"/>
          </a:effectLst>
          <a:scene3d>
            <a:camera prst="orthographicFront"/>
            <a:lightRig rig="threePt" dir="t"/>
          </a:scene3d>
          <a:sp3d prstMaterial="dkEdge">
            <a:bevelB prst="angle"/>
          </a:sp3d>
        </p:spPr>
      </p:pic>
      <p:sp>
        <p:nvSpPr>
          <p:cNvPr id="3" name="Content Placeholder 2">
            <a:extLst>
              <a:ext uri="{FF2B5EF4-FFF2-40B4-BE49-F238E27FC236}">
                <a16:creationId xmlns:a16="http://schemas.microsoft.com/office/drawing/2014/main" id="{B4F9471D-65CB-4E0F-19D5-E3C7435CB01E}"/>
              </a:ext>
            </a:extLst>
          </p:cNvPr>
          <p:cNvSpPr>
            <a:spLocks noGrp="1"/>
          </p:cNvSpPr>
          <p:nvPr>
            <p:ph idx="1"/>
          </p:nvPr>
        </p:nvSpPr>
        <p:spPr>
          <a:xfrm>
            <a:off x="113437" y="525294"/>
            <a:ext cx="6679095" cy="6204230"/>
          </a:xfrm>
        </p:spPr>
        <p:txBody>
          <a:bodyPr anchor="t">
            <a:noAutofit/>
          </a:bodyPr>
          <a:lstStyle/>
          <a:p>
            <a:pPr marL="342900" indent="-342900">
              <a:buClr>
                <a:schemeClr val="tx1"/>
              </a:buClr>
              <a:buFont typeface="Wingdings" panose="05000000000000000000" pitchFamily="2" charset="2"/>
              <a:buChar char="§"/>
            </a:pPr>
            <a:r>
              <a:rPr lang="en-US" b="1" dirty="0">
                <a:latin typeface="Georgia" panose="02040502050405020303" pitchFamily="18" charset="0"/>
              </a:rPr>
              <a:t>In 1939, M. Rhodes pushed for African lawyers to be appointed as King’s Counsels, but the proposal was rejected on the claim that it would restrict their practice to costly cases. Consequently, despite many accomplished African lawyers since the 1880s, none had received the KC or Q rank. </a:t>
            </a:r>
          </a:p>
          <a:p>
            <a:pPr marL="342900" indent="-342900">
              <a:buClr>
                <a:schemeClr val="tx1"/>
              </a:buClr>
              <a:buFont typeface="Wingdings" panose="05000000000000000000" pitchFamily="2" charset="2"/>
              <a:buChar char="§"/>
            </a:pPr>
            <a:r>
              <a:rPr lang="en-US" b="1" dirty="0">
                <a:latin typeface="Georgia" panose="02040502050405020303" pitchFamily="18" charset="0"/>
              </a:rPr>
              <a:t>In 1958, the Federal Attorney-General proposed creating the rank of Queen’s Counsel for Nigerian lawyers, leading to the Queen’s Counsel Ordinance No. 54 of 1958. </a:t>
            </a:r>
          </a:p>
          <a:p>
            <a:pPr marL="342900" indent="-342900">
              <a:buClr>
                <a:schemeClr val="tx1"/>
              </a:buClr>
              <a:buFont typeface="Wingdings" panose="05000000000000000000" pitchFamily="2" charset="2"/>
              <a:buChar char="§"/>
            </a:pPr>
            <a:r>
              <a:rPr lang="en-US" b="1" dirty="0">
                <a:latin typeface="Georgia" panose="02040502050405020303" pitchFamily="18" charset="0"/>
              </a:rPr>
              <a:t>In 1959, Chiefs H.O. Davies and F.R.A. Williams became the first Nigerians so appointed, but the rank was abolished in 1964 after Nigeria became a Republic.</a:t>
            </a:r>
          </a:p>
        </p:txBody>
      </p:sp>
    </p:spTree>
    <p:extLst>
      <p:ext uri="{BB962C8B-B14F-4D97-AF65-F5344CB8AC3E}">
        <p14:creationId xmlns:p14="http://schemas.microsoft.com/office/powerpoint/2010/main" val="23979236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5C8DD-FE49-BD19-B5C3-F654A27162B6}"/>
            </a:ext>
          </a:extLst>
        </p:cNvPr>
        <p:cNvGrpSpPr/>
        <p:nvPr/>
      </p:nvGrpSpPr>
      <p:grpSpPr>
        <a:xfrm>
          <a:off x="0" y="0"/>
          <a:ext cx="0" cy="0"/>
          <a:chOff x="0" y="0"/>
          <a:chExt cx="0" cy="0"/>
        </a:xfrm>
      </p:grpSpPr>
      <p:sp useBgFill="1">
        <p:nvSpPr>
          <p:cNvPr id="19" name="Background Fill">
            <a:extLst>
              <a:ext uri="{FF2B5EF4-FFF2-40B4-BE49-F238E27FC236}">
                <a16:creationId xmlns:a16="http://schemas.microsoft.com/office/drawing/2014/main" id="{42C9D68F-BBB4-84CC-5E91-0B1F2ED0F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62220640-E9ED-3A2A-5552-FE1B92AB09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4257E8F3-27D8-CAFD-BB1B-1BB50A675E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44776" y="211090"/>
            <a:ext cx="5544176" cy="6646910"/>
          </a:xfrm>
          <a:custGeom>
            <a:avLst/>
            <a:gdLst>
              <a:gd name="connsiteX0" fmla="*/ 4779974 w 5544176"/>
              <a:gd name="connsiteY0" fmla="*/ 685250 h 6646910"/>
              <a:gd name="connsiteX1" fmla="*/ 5309474 w 5544176"/>
              <a:gd name="connsiteY1" fmla="*/ 1126951 h 6646910"/>
              <a:gd name="connsiteX2" fmla="*/ 5001910 w 5544176"/>
              <a:gd name="connsiteY2" fmla="*/ 1690856 h 6646910"/>
              <a:gd name="connsiteX3" fmla="*/ 4306656 w 5544176"/>
              <a:gd name="connsiteY3" fmla="*/ 1273177 h 6646910"/>
              <a:gd name="connsiteX4" fmla="*/ 4621504 w 5544176"/>
              <a:gd name="connsiteY4" fmla="*/ 721515 h 6646910"/>
              <a:gd name="connsiteX5" fmla="*/ 4779974 w 5544176"/>
              <a:gd name="connsiteY5" fmla="*/ 685250 h 6646910"/>
              <a:gd name="connsiteX6" fmla="*/ 2760003 w 5544176"/>
              <a:gd name="connsiteY6" fmla="*/ 352577 h 6646910"/>
              <a:gd name="connsiteX7" fmla="*/ 2990385 w 5544176"/>
              <a:gd name="connsiteY7" fmla="*/ 544679 h 6646910"/>
              <a:gd name="connsiteX8" fmla="*/ 2856557 w 5544176"/>
              <a:gd name="connsiteY8" fmla="*/ 790095 h 6646910"/>
              <a:gd name="connsiteX9" fmla="*/ 2554030 w 5544176"/>
              <a:gd name="connsiteY9" fmla="*/ 608299 h 6646910"/>
              <a:gd name="connsiteX10" fmla="*/ 2691113 w 5544176"/>
              <a:gd name="connsiteY10" fmla="*/ 368075 h 6646910"/>
              <a:gd name="connsiteX11" fmla="*/ 2760003 w 5544176"/>
              <a:gd name="connsiteY11" fmla="*/ 352577 h 6646910"/>
              <a:gd name="connsiteX12" fmla="*/ 3630 w 5544176"/>
              <a:gd name="connsiteY12" fmla="*/ 28121 h 6646910"/>
              <a:gd name="connsiteX13" fmla="*/ 151871 w 5544176"/>
              <a:gd name="connsiteY13" fmla="*/ 38891 h 6646910"/>
              <a:gd name="connsiteX14" fmla="*/ 1031555 w 5544176"/>
              <a:gd name="connsiteY14" fmla="*/ 832871 h 6646910"/>
              <a:gd name="connsiteX15" fmla="*/ 1096338 w 5544176"/>
              <a:gd name="connsiteY15" fmla="*/ 964607 h 6646910"/>
              <a:gd name="connsiteX16" fmla="*/ 1409481 w 5544176"/>
              <a:gd name="connsiteY16" fmla="*/ 1265738 h 6646910"/>
              <a:gd name="connsiteX17" fmla="*/ 2318612 w 5544176"/>
              <a:gd name="connsiteY17" fmla="*/ 859062 h 6646910"/>
              <a:gd name="connsiteX18" fmla="*/ 2675615 w 5544176"/>
              <a:gd name="connsiteY18" fmla="*/ 1267985 h 6646910"/>
              <a:gd name="connsiteX19" fmla="*/ 2952957 w 5544176"/>
              <a:gd name="connsiteY19" fmla="*/ 1297896 h 6646910"/>
              <a:gd name="connsiteX20" fmla="*/ 3058268 w 5544176"/>
              <a:gd name="connsiteY20" fmla="*/ 1155778 h 6646910"/>
              <a:gd name="connsiteX21" fmla="*/ 3306706 w 5544176"/>
              <a:gd name="connsiteY21" fmla="*/ 310500 h 6646910"/>
              <a:gd name="connsiteX22" fmla="*/ 3735234 w 5544176"/>
              <a:gd name="connsiteY22" fmla="*/ 107395 h 6646910"/>
              <a:gd name="connsiteX23" fmla="*/ 3828224 w 5544176"/>
              <a:gd name="connsiteY23" fmla="*/ 117624 h 6646910"/>
              <a:gd name="connsiteX24" fmla="*/ 4231180 w 5544176"/>
              <a:gd name="connsiteY24" fmla="*/ 592260 h 6646910"/>
              <a:gd name="connsiteX25" fmla="*/ 3873092 w 5544176"/>
              <a:gd name="connsiteY25" fmla="*/ 1299370 h 6646910"/>
              <a:gd name="connsiteX26" fmla="*/ 4050935 w 5544176"/>
              <a:gd name="connsiteY26" fmla="*/ 1948439 h 6646910"/>
              <a:gd name="connsiteX27" fmla="*/ 5211525 w 5544176"/>
              <a:gd name="connsiteY27" fmla="*/ 2027402 h 6646910"/>
              <a:gd name="connsiteX28" fmla="*/ 5541097 w 5544176"/>
              <a:gd name="connsiteY28" fmla="*/ 2700958 h 6646910"/>
              <a:gd name="connsiteX29" fmla="*/ 5094823 w 5544176"/>
              <a:gd name="connsiteY29" fmla="*/ 3471378 h 6646910"/>
              <a:gd name="connsiteX30" fmla="*/ 5505528 w 5544176"/>
              <a:gd name="connsiteY30" fmla="*/ 4272564 h 6646910"/>
              <a:gd name="connsiteX31" fmla="*/ 5281423 w 5544176"/>
              <a:gd name="connsiteY31" fmla="*/ 4965183 h 6646910"/>
              <a:gd name="connsiteX32" fmla="*/ 4675749 w 5544176"/>
              <a:gd name="connsiteY32" fmla="*/ 5385343 h 6646910"/>
              <a:gd name="connsiteX33" fmla="*/ 4508838 w 5544176"/>
              <a:gd name="connsiteY33" fmla="*/ 6598516 h 6646910"/>
              <a:gd name="connsiteX34" fmla="*/ 4472787 w 5544176"/>
              <a:gd name="connsiteY34" fmla="*/ 6646910 h 6646910"/>
              <a:gd name="connsiteX35" fmla="*/ 3367517 w 5544176"/>
              <a:gd name="connsiteY35" fmla="*/ 6646910 h 6646910"/>
              <a:gd name="connsiteX36" fmla="*/ 2998981 w 5544176"/>
              <a:gd name="connsiteY36" fmla="*/ 6646910 h 6646910"/>
              <a:gd name="connsiteX37" fmla="*/ 2648733 w 5544176"/>
              <a:gd name="connsiteY37" fmla="*/ 6646910 h 6646910"/>
              <a:gd name="connsiteX38" fmla="*/ 0 w 5544176"/>
              <a:gd name="connsiteY38" fmla="*/ 6646910 h 6646910"/>
              <a:gd name="connsiteX39" fmla="*/ 0 w 5544176"/>
              <a:gd name="connsiteY39" fmla="*/ 28222 h 6646910"/>
              <a:gd name="connsiteX40" fmla="*/ 1509522 w 5544176"/>
              <a:gd name="connsiteY40" fmla="*/ 767 h 6646910"/>
              <a:gd name="connsiteX41" fmla="*/ 1986017 w 5544176"/>
              <a:gd name="connsiteY41" fmla="*/ 398066 h 6646910"/>
              <a:gd name="connsiteX42" fmla="*/ 1709217 w 5544176"/>
              <a:gd name="connsiteY42" fmla="*/ 905558 h 6646910"/>
              <a:gd name="connsiteX43" fmla="*/ 1083551 w 5544176"/>
              <a:gd name="connsiteY43" fmla="*/ 529879 h 6646910"/>
              <a:gd name="connsiteX44" fmla="*/ 1366937 w 5544176"/>
              <a:gd name="connsiteY44" fmla="*/ 33390 h 6646910"/>
              <a:gd name="connsiteX45" fmla="*/ 1509522 w 5544176"/>
              <a:gd name="connsiteY45" fmla="*/ 767 h 664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544176" h="6646910">
                <a:moveTo>
                  <a:pt x="4779974" y="685250"/>
                </a:moveTo>
                <a:cubicBezTo>
                  <a:pt x="5032054" y="670215"/>
                  <a:pt x="5267008" y="852320"/>
                  <a:pt x="5309474" y="1126951"/>
                </a:cubicBezTo>
                <a:cubicBezTo>
                  <a:pt x="5346050" y="1363456"/>
                  <a:pt x="5216949" y="1600813"/>
                  <a:pt x="5001910" y="1690856"/>
                </a:cubicBezTo>
                <a:cubicBezTo>
                  <a:pt x="4692098" y="1820733"/>
                  <a:pt x="4350283" y="1615922"/>
                  <a:pt x="4306656" y="1273177"/>
                </a:cubicBezTo>
                <a:cubicBezTo>
                  <a:pt x="4276590" y="1039231"/>
                  <a:pt x="4408479" y="807918"/>
                  <a:pt x="4621504" y="721515"/>
                </a:cubicBezTo>
                <a:cubicBezTo>
                  <a:pt x="4671997" y="700903"/>
                  <a:pt x="4725528" y="688659"/>
                  <a:pt x="4779974" y="685250"/>
                </a:cubicBezTo>
                <a:close/>
                <a:moveTo>
                  <a:pt x="2760003" y="352577"/>
                </a:moveTo>
                <a:cubicBezTo>
                  <a:pt x="2869653" y="345991"/>
                  <a:pt x="2971942" y="425187"/>
                  <a:pt x="2990385" y="544679"/>
                </a:cubicBezTo>
                <a:cubicBezTo>
                  <a:pt x="3006348" y="647665"/>
                  <a:pt x="2950167" y="750884"/>
                  <a:pt x="2856557" y="790095"/>
                </a:cubicBezTo>
                <a:cubicBezTo>
                  <a:pt x="2721799" y="846585"/>
                  <a:pt x="2573171" y="757470"/>
                  <a:pt x="2554030" y="608299"/>
                </a:cubicBezTo>
                <a:cubicBezTo>
                  <a:pt x="2540934" y="506165"/>
                  <a:pt x="2598123" y="405659"/>
                  <a:pt x="2691113" y="368075"/>
                </a:cubicBezTo>
                <a:cubicBezTo>
                  <a:pt x="2713089" y="359242"/>
                  <a:pt x="2736352" y="353973"/>
                  <a:pt x="2760003" y="352577"/>
                </a:cubicBezTo>
                <a:close/>
                <a:moveTo>
                  <a:pt x="3630" y="28121"/>
                </a:moveTo>
                <a:cubicBezTo>
                  <a:pt x="53278" y="26959"/>
                  <a:pt x="102920" y="30524"/>
                  <a:pt x="151871" y="38891"/>
                </a:cubicBezTo>
                <a:cubicBezTo>
                  <a:pt x="865103" y="112200"/>
                  <a:pt x="964292" y="593344"/>
                  <a:pt x="1031555" y="832871"/>
                </a:cubicBezTo>
                <a:cubicBezTo>
                  <a:pt x="1053330" y="878203"/>
                  <a:pt x="1074563" y="922528"/>
                  <a:pt x="1096338" y="964607"/>
                </a:cubicBezTo>
                <a:cubicBezTo>
                  <a:pt x="1174682" y="1115560"/>
                  <a:pt x="1260852" y="1237377"/>
                  <a:pt x="1409481" y="1265738"/>
                </a:cubicBezTo>
                <a:cubicBezTo>
                  <a:pt x="1767492" y="1334008"/>
                  <a:pt x="1973154" y="762896"/>
                  <a:pt x="2318612" y="859062"/>
                </a:cubicBezTo>
                <a:cubicBezTo>
                  <a:pt x="2496300" y="908501"/>
                  <a:pt x="2583943" y="1098510"/>
                  <a:pt x="2675615" y="1267985"/>
                </a:cubicBezTo>
                <a:cubicBezTo>
                  <a:pt x="2731099" y="1370507"/>
                  <a:pt x="2875466" y="1386005"/>
                  <a:pt x="2952957" y="1297896"/>
                </a:cubicBezTo>
                <a:cubicBezTo>
                  <a:pt x="2992292" y="1253804"/>
                  <a:pt x="3027543" y="1206225"/>
                  <a:pt x="3058268" y="1155778"/>
                </a:cubicBezTo>
                <a:cubicBezTo>
                  <a:pt x="3256027" y="815280"/>
                  <a:pt x="3063848" y="537317"/>
                  <a:pt x="3306706" y="310500"/>
                </a:cubicBezTo>
                <a:cubicBezTo>
                  <a:pt x="3358006" y="262378"/>
                  <a:pt x="3524148" y="107395"/>
                  <a:pt x="3735234" y="107395"/>
                </a:cubicBezTo>
                <a:cubicBezTo>
                  <a:pt x="3766510" y="107395"/>
                  <a:pt x="3797693" y="110804"/>
                  <a:pt x="3828224" y="117624"/>
                </a:cubicBezTo>
                <a:cubicBezTo>
                  <a:pt x="4046595" y="166056"/>
                  <a:pt x="4222967" y="384349"/>
                  <a:pt x="4231180" y="592260"/>
                </a:cubicBezTo>
                <a:cubicBezTo>
                  <a:pt x="4242339" y="872003"/>
                  <a:pt x="3941207" y="932136"/>
                  <a:pt x="3873092" y="1299370"/>
                </a:cubicBezTo>
                <a:cubicBezTo>
                  <a:pt x="3837368" y="1492245"/>
                  <a:pt x="3867280" y="1798492"/>
                  <a:pt x="4050935" y="1948439"/>
                </a:cubicBezTo>
                <a:cubicBezTo>
                  <a:pt x="4358421" y="2199435"/>
                  <a:pt x="4810507" y="1777182"/>
                  <a:pt x="5211525" y="2027402"/>
                </a:cubicBezTo>
                <a:cubicBezTo>
                  <a:pt x="5429122" y="2163013"/>
                  <a:pt x="5566824" y="2456164"/>
                  <a:pt x="5541097" y="2700958"/>
                </a:cubicBezTo>
                <a:cubicBezTo>
                  <a:pt x="5501654" y="3076251"/>
                  <a:pt x="5098698" y="3142194"/>
                  <a:pt x="5094823" y="3471378"/>
                </a:cubicBezTo>
                <a:cubicBezTo>
                  <a:pt x="5091415" y="3745236"/>
                  <a:pt x="5419668" y="3893242"/>
                  <a:pt x="5505528" y="4272564"/>
                </a:cubicBezTo>
                <a:cubicBezTo>
                  <a:pt x="5569691" y="4556184"/>
                  <a:pt x="5439041" y="4752005"/>
                  <a:pt x="5281423" y="4965183"/>
                </a:cubicBezTo>
                <a:cubicBezTo>
                  <a:pt x="5068244" y="5253608"/>
                  <a:pt x="4866301" y="5146281"/>
                  <a:pt x="4675749" y="5385343"/>
                </a:cubicBezTo>
                <a:cubicBezTo>
                  <a:pt x="4370191" y="5769070"/>
                  <a:pt x="4714176" y="6260683"/>
                  <a:pt x="4508838" y="6598516"/>
                </a:cubicBezTo>
                <a:lnTo>
                  <a:pt x="4472787" y="6646910"/>
                </a:lnTo>
                <a:lnTo>
                  <a:pt x="3367517" y="6646910"/>
                </a:lnTo>
                <a:lnTo>
                  <a:pt x="2998981" y="6646910"/>
                </a:lnTo>
                <a:lnTo>
                  <a:pt x="2648733" y="6646910"/>
                </a:lnTo>
                <a:lnTo>
                  <a:pt x="0" y="6646910"/>
                </a:lnTo>
                <a:lnTo>
                  <a:pt x="0" y="28222"/>
                </a:lnTo>
                <a:close/>
                <a:moveTo>
                  <a:pt x="1509522" y="767"/>
                </a:moveTo>
                <a:cubicBezTo>
                  <a:pt x="1736339" y="-12639"/>
                  <a:pt x="1947814" y="150946"/>
                  <a:pt x="1986017" y="398066"/>
                </a:cubicBezTo>
                <a:cubicBezTo>
                  <a:pt x="2019183" y="611090"/>
                  <a:pt x="1902946" y="824502"/>
                  <a:pt x="1709217" y="905558"/>
                </a:cubicBezTo>
                <a:cubicBezTo>
                  <a:pt x="1430403" y="1021795"/>
                  <a:pt x="1123149" y="837830"/>
                  <a:pt x="1083551" y="529879"/>
                </a:cubicBezTo>
                <a:cubicBezTo>
                  <a:pt x="1056506" y="319025"/>
                  <a:pt x="1175223" y="110882"/>
                  <a:pt x="1366937" y="33390"/>
                </a:cubicBezTo>
                <a:cubicBezTo>
                  <a:pt x="1412379" y="14871"/>
                  <a:pt x="1460539" y="3866"/>
                  <a:pt x="1509522" y="76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6" name="Graphic 15">
            <a:extLst>
              <a:ext uri="{FF2B5EF4-FFF2-40B4-BE49-F238E27FC236}">
                <a16:creationId xmlns:a16="http://schemas.microsoft.com/office/drawing/2014/main" id="{58952FD0-342B-43C7-A931-C6CF3AB031F6}"/>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p:blipFill>
        <p:spPr>
          <a:xfrm>
            <a:off x="7347537" y="211090"/>
            <a:ext cx="4731026" cy="6444433"/>
          </a:xfrm>
          <a:prstGeom prst="rect">
            <a:avLst/>
          </a:prstGeom>
          <a:gradFill>
            <a:gsLst>
              <a:gs pos="74000">
                <a:schemeClr val="tx1"/>
              </a:gs>
              <a:gs pos="83000">
                <a:schemeClr val="accent1">
                  <a:lumMod val="45000"/>
                  <a:lumOff val="55000"/>
                </a:schemeClr>
              </a:gs>
            </a:gsLst>
            <a:path path="rect">
              <a:fillToRect l="100000" t="100000"/>
            </a:path>
          </a:gradFill>
          <a:ln>
            <a:noFill/>
          </a:ln>
          <a:effectLst>
            <a:softEdge rad="0"/>
          </a:effectLst>
          <a:scene3d>
            <a:camera prst="orthographicFront"/>
            <a:lightRig rig="threePt" dir="t"/>
          </a:scene3d>
          <a:sp3d prstMaterial="dkEdge">
            <a:bevelB prst="angle"/>
          </a:sp3d>
        </p:spPr>
      </p:pic>
      <p:sp>
        <p:nvSpPr>
          <p:cNvPr id="3" name="Content Placeholder 2">
            <a:extLst>
              <a:ext uri="{FF2B5EF4-FFF2-40B4-BE49-F238E27FC236}">
                <a16:creationId xmlns:a16="http://schemas.microsoft.com/office/drawing/2014/main" id="{8C96E1A5-8E8C-DC11-848B-C1F95F8A4F6E}"/>
              </a:ext>
            </a:extLst>
          </p:cNvPr>
          <p:cNvSpPr>
            <a:spLocks noGrp="1"/>
          </p:cNvSpPr>
          <p:nvPr>
            <p:ph idx="1"/>
          </p:nvPr>
        </p:nvSpPr>
        <p:spPr>
          <a:xfrm>
            <a:off x="317061" y="573932"/>
            <a:ext cx="6679095" cy="5756758"/>
          </a:xfrm>
        </p:spPr>
        <p:txBody>
          <a:bodyPr anchor="t">
            <a:noAutofit/>
          </a:bodyPr>
          <a:lstStyle/>
          <a:p>
            <a:pPr marL="342900" indent="-342900">
              <a:buClr>
                <a:schemeClr val="tx1"/>
              </a:buClr>
              <a:buFont typeface="Wingdings" panose="05000000000000000000" pitchFamily="2" charset="2"/>
              <a:buChar char="§"/>
            </a:pPr>
            <a:r>
              <a:rPr lang="en-US" b="1" dirty="0">
                <a:latin typeface="Georgia" panose="02040502050405020303" pitchFamily="18" charset="0"/>
              </a:rPr>
              <a:t>After the abolition of the QC title, the Legal Practitioners (Amendment) Decree No. 25 of 1974 introduced the rank of Senior Advocate of Nigeria (SAN).</a:t>
            </a:r>
          </a:p>
          <a:p>
            <a:pPr marL="342900" indent="-342900">
              <a:buClr>
                <a:schemeClr val="tx1"/>
              </a:buClr>
              <a:buFont typeface="Wingdings" panose="05000000000000000000" pitchFamily="2" charset="2"/>
              <a:buChar char="§"/>
            </a:pPr>
            <a:r>
              <a:rPr lang="en-US" b="1" dirty="0">
                <a:latin typeface="Georgia" panose="02040502050405020303" pitchFamily="18" charset="0"/>
              </a:rPr>
              <a:t>The first recipients were Chief F.R.A. Williams and Dr. Nabo Graham-Douglas in 1975. </a:t>
            </a:r>
          </a:p>
          <a:p>
            <a:pPr marL="342900" indent="-342900">
              <a:buClr>
                <a:schemeClr val="tx1"/>
              </a:buClr>
              <a:buFont typeface="Wingdings" panose="05000000000000000000" pitchFamily="2" charset="2"/>
              <a:buChar char="§"/>
            </a:pPr>
            <a:r>
              <a:rPr lang="en-US" b="1" dirty="0">
                <a:latin typeface="Georgia" panose="02040502050405020303" pitchFamily="18" charset="0"/>
              </a:rPr>
              <a:t>Since then, the SAN rank has evolved into a highly prestigious title, now governed by Section 5(1–2) of the Legal Practitioners Act and conferred by the Legal Practitioners’ Privileges Committee (LPPC</a:t>
            </a:r>
          </a:p>
          <a:p>
            <a:pPr marL="342900" indent="-342900">
              <a:buClr>
                <a:schemeClr val="tx1"/>
              </a:buClr>
              <a:buFont typeface="Wingdings" panose="05000000000000000000" pitchFamily="2" charset="2"/>
              <a:buChar char="§"/>
            </a:pPr>
            <a:r>
              <a:rPr lang="en-US" b="1" dirty="0">
                <a:latin typeface="Georgia" panose="02040502050405020303" pitchFamily="18" charset="0"/>
              </a:rPr>
              <a:t>The SAN rank, born from the colonial QC rank, has grown into a lasting tradition upholding honor and excellence in Nigerian legal practice.</a:t>
            </a:r>
            <a:endParaRPr lang="en-NG" b="1" dirty="0">
              <a:latin typeface="Georgia" panose="02040502050405020303" pitchFamily="18" charset="0"/>
            </a:endParaRPr>
          </a:p>
        </p:txBody>
      </p:sp>
    </p:spTree>
    <p:extLst>
      <p:ext uri="{BB962C8B-B14F-4D97-AF65-F5344CB8AC3E}">
        <p14:creationId xmlns:p14="http://schemas.microsoft.com/office/powerpoint/2010/main" val="33852357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F62ED-5BC0-0966-B8E2-E2B89C7AFD74}"/>
            </a:ext>
          </a:extLst>
        </p:cNvPr>
        <p:cNvGrpSpPr/>
        <p:nvPr/>
      </p:nvGrpSpPr>
      <p:grpSpPr>
        <a:xfrm>
          <a:off x="0" y="0"/>
          <a:ext cx="0" cy="0"/>
          <a:chOff x="0" y="0"/>
          <a:chExt cx="0" cy="0"/>
        </a:xfrm>
      </p:grpSpPr>
      <p:sp useBgFill="1">
        <p:nvSpPr>
          <p:cNvPr id="10" name="Background Fill">
            <a:extLst>
              <a:ext uri="{FF2B5EF4-FFF2-40B4-BE49-F238E27FC236}">
                <a16:creationId xmlns:a16="http://schemas.microsoft.com/office/drawing/2014/main" id="{627FACF2-1C2B-7260-23AE-9B9D19AB06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597C5EF-E2D6-9382-CBE3-E1561A43AC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Shape 13">
            <a:extLst>
              <a:ext uri="{FF2B5EF4-FFF2-40B4-BE49-F238E27FC236}">
                <a16:creationId xmlns:a16="http://schemas.microsoft.com/office/drawing/2014/main" id="{7A89F111-FEAC-08EA-1A60-A7A52A11D3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44776" y="211090"/>
            <a:ext cx="5544176" cy="6646910"/>
          </a:xfrm>
          <a:custGeom>
            <a:avLst/>
            <a:gdLst>
              <a:gd name="connsiteX0" fmla="*/ 4779974 w 5544176"/>
              <a:gd name="connsiteY0" fmla="*/ 685250 h 6646910"/>
              <a:gd name="connsiteX1" fmla="*/ 5309474 w 5544176"/>
              <a:gd name="connsiteY1" fmla="*/ 1126951 h 6646910"/>
              <a:gd name="connsiteX2" fmla="*/ 5001910 w 5544176"/>
              <a:gd name="connsiteY2" fmla="*/ 1690856 h 6646910"/>
              <a:gd name="connsiteX3" fmla="*/ 4306656 w 5544176"/>
              <a:gd name="connsiteY3" fmla="*/ 1273177 h 6646910"/>
              <a:gd name="connsiteX4" fmla="*/ 4621504 w 5544176"/>
              <a:gd name="connsiteY4" fmla="*/ 721515 h 6646910"/>
              <a:gd name="connsiteX5" fmla="*/ 4779974 w 5544176"/>
              <a:gd name="connsiteY5" fmla="*/ 685250 h 6646910"/>
              <a:gd name="connsiteX6" fmla="*/ 2760003 w 5544176"/>
              <a:gd name="connsiteY6" fmla="*/ 352577 h 6646910"/>
              <a:gd name="connsiteX7" fmla="*/ 2990385 w 5544176"/>
              <a:gd name="connsiteY7" fmla="*/ 544679 h 6646910"/>
              <a:gd name="connsiteX8" fmla="*/ 2856557 w 5544176"/>
              <a:gd name="connsiteY8" fmla="*/ 790095 h 6646910"/>
              <a:gd name="connsiteX9" fmla="*/ 2554030 w 5544176"/>
              <a:gd name="connsiteY9" fmla="*/ 608299 h 6646910"/>
              <a:gd name="connsiteX10" fmla="*/ 2691113 w 5544176"/>
              <a:gd name="connsiteY10" fmla="*/ 368075 h 6646910"/>
              <a:gd name="connsiteX11" fmla="*/ 2760003 w 5544176"/>
              <a:gd name="connsiteY11" fmla="*/ 352577 h 6646910"/>
              <a:gd name="connsiteX12" fmla="*/ 3630 w 5544176"/>
              <a:gd name="connsiteY12" fmla="*/ 28121 h 6646910"/>
              <a:gd name="connsiteX13" fmla="*/ 151871 w 5544176"/>
              <a:gd name="connsiteY13" fmla="*/ 38891 h 6646910"/>
              <a:gd name="connsiteX14" fmla="*/ 1031555 w 5544176"/>
              <a:gd name="connsiteY14" fmla="*/ 832871 h 6646910"/>
              <a:gd name="connsiteX15" fmla="*/ 1096338 w 5544176"/>
              <a:gd name="connsiteY15" fmla="*/ 964607 h 6646910"/>
              <a:gd name="connsiteX16" fmla="*/ 1409481 w 5544176"/>
              <a:gd name="connsiteY16" fmla="*/ 1265738 h 6646910"/>
              <a:gd name="connsiteX17" fmla="*/ 2318612 w 5544176"/>
              <a:gd name="connsiteY17" fmla="*/ 859062 h 6646910"/>
              <a:gd name="connsiteX18" fmla="*/ 2675615 w 5544176"/>
              <a:gd name="connsiteY18" fmla="*/ 1267985 h 6646910"/>
              <a:gd name="connsiteX19" fmla="*/ 2952957 w 5544176"/>
              <a:gd name="connsiteY19" fmla="*/ 1297896 h 6646910"/>
              <a:gd name="connsiteX20" fmla="*/ 3058268 w 5544176"/>
              <a:gd name="connsiteY20" fmla="*/ 1155778 h 6646910"/>
              <a:gd name="connsiteX21" fmla="*/ 3306706 w 5544176"/>
              <a:gd name="connsiteY21" fmla="*/ 310500 h 6646910"/>
              <a:gd name="connsiteX22" fmla="*/ 3735234 w 5544176"/>
              <a:gd name="connsiteY22" fmla="*/ 107395 h 6646910"/>
              <a:gd name="connsiteX23" fmla="*/ 3828224 w 5544176"/>
              <a:gd name="connsiteY23" fmla="*/ 117624 h 6646910"/>
              <a:gd name="connsiteX24" fmla="*/ 4231180 w 5544176"/>
              <a:gd name="connsiteY24" fmla="*/ 592260 h 6646910"/>
              <a:gd name="connsiteX25" fmla="*/ 3873092 w 5544176"/>
              <a:gd name="connsiteY25" fmla="*/ 1299370 h 6646910"/>
              <a:gd name="connsiteX26" fmla="*/ 4050935 w 5544176"/>
              <a:gd name="connsiteY26" fmla="*/ 1948439 h 6646910"/>
              <a:gd name="connsiteX27" fmla="*/ 5211525 w 5544176"/>
              <a:gd name="connsiteY27" fmla="*/ 2027402 h 6646910"/>
              <a:gd name="connsiteX28" fmla="*/ 5541097 w 5544176"/>
              <a:gd name="connsiteY28" fmla="*/ 2700958 h 6646910"/>
              <a:gd name="connsiteX29" fmla="*/ 5094823 w 5544176"/>
              <a:gd name="connsiteY29" fmla="*/ 3471378 h 6646910"/>
              <a:gd name="connsiteX30" fmla="*/ 5505528 w 5544176"/>
              <a:gd name="connsiteY30" fmla="*/ 4272564 h 6646910"/>
              <a:gd name="connsiteX31" fmla="*/ 5281423 w 5544176"/>
              <a:gd name="connsiteY31" fmla="*/ 4965183 h 6646910"/>
              <a:gd name="connsiteX32" fmla="*/ 4675749 w 5544176"/>
              <a:gd name="connsiteY32" fmla="*/ 5385343 h 6646910"/>
              <a:gd name="connsiteX33" fmla="*/ 4508838 w 5544176"/>
              <a:gd name="connsiteY33" fmla="*/ 6598516 h 6646910"/>
              <a:gd name="connsiteX34" fmla="*/ 4472787 w 5544176"/>
              <a:gd name="connsiteY34" fmla="*/ 6646910 h 6646910"/>
              <a:gd name="connsiteX35" fmla="*/ 3367517 w 5544176"/>
              <a:gd name="connsiteY35" fmla="*/ 6646910 h 6646910"/>
              <a:gd name="connsiteX36" fmla="*/ 2998981 w 5544176"/>
              <a:gd name="connsiteY36" fmla="*/ 6646910 h 6646910"/>
              <a:gd name="connsiteX37" fmla="*/ 2648733 w 5544176"/>
              <a:gd name="connsiteY37" fmla="*/ 6646910 h 6646910"/>
              <a:gd name="connsiteX38" fmla="*/ 0 w 5544176"/>
              <a:gd name="connsiteY38" fmla="*/ 6646910 h 6646910"/>
              <a:gd name="connsiteX39" fmla="*/ 0 w 5544176"/>
              <a:gd name="connsiteY39" fmla="*/ 28222 h 6646910"/>
              <a:gd name="connsiteX40" fmla="*/ 1509522 w 5544176"/>
              <a:gd name="connsiteY40" fmla="*/ 767 h 6646910"/>
              <a:gd name="connsiteX41" fmla="*/ 1986017 w 5544176"/>
              <a:gd name="connsiteY41" fmla="*/ 398066 h 6646910"/>
              <a:gd name="connsiteX42" fmla="*/ 1709217 w 5544176"/>
              <a:gd name="connsiteY42" fmla="*/ 905558 h 6646910"/>
              <a:gd name="connsiteX43" fmla="*/ 1083551 w 5544176"/>
              <a:gd name="connsiteY43" fmla="*/ 529879 h 6646910"/>
              <a:gd name="connsiteX44" fmla="*/ 1366937 w 5544176"/>
              <a:gd name="connsiteY44" fmla="*/ 33390 h 6646910"/>
              <a:gd name="connsiteX45" fmla="*/ 1509522 w 5544176"/>
              <a:gd name="connsiteY45" fmla="*/ 767 h 664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544176" h="6646910">
                <a:moveTo>
                  <a:pt x="4779974" y="685250"/>
                </a:moveTo>
                <a:cubicBezTo>
                  <a:pt x="5032054" y="670215"/>
                  <a:pt x="5267008" y="852320"/>
                  <a:pt x="5309474" y="1126951"/>
                </a:cubicBezTo>
                <a:cubicBezTo>
                  <a:pt x="5346050" y="1363456"/>
                  <a:pt x="5216949" y="1600813"/>
                  <a:pt x="5001910" y="1690856"/>
                </a:cubicBezTo>
                <a:cubicBezTo>
                  <a:pt x="4692098" y="1820733"/>
                  <a:pt x="4350283" y="1615922"/>
                  <a:pt x="4306656" y="1273177"/>
                </a:cubicBezTo>
                <a:cubicBezTo>
                  <a:pt x="4276590" y="1039231"/>
                  <a:pt x="4408479" y="807918"/>
                  <a:pt x="4621504" y="721515"/>
                </a:cubicBezTo>
                <a:cubicBezTo>
                  <a:pt x="4671997" y="700903"/>
                  <a:pt x="4725528" y="688659"/>
                  <a:pt x="4779974" y="685250"/>
                </a:cubicBezTo>
                <a:close/>
                <a:moveTo>
                  <a:pt x="2760003" y="352577"/>
                </a:moveTo>
                <a:cubicBezTo>
                  <a:pt x="2869653" y="345991"/>
                  <a:pt x="2971942" y="425187"/>
                  <a:pt x="2990385" y="544679"/>
                </a:cubicBezTo>
                <a:cubicBezTo>
                  <a:pt x="3006348" y="647665"/>
                  <a:pt x="2950167" y="750884"/>
                  <a:pt x="2856557" y="790095"/>
                </a:cubicBezTo>
                <a:cubicBezTo>
                  <a:pt x="2721799" y="846585"/>
                  <a:pt x="2573171" y="757470"/>
                  <a:pt x="2554030" y="608299"/>
                </a:cubicBezTo>
                <a:cubicBezTo>
                  <a:pt x="2540934" y="506165"/>
                  <a:pt x="2598123" y="405659"/>
                  <a:pt x="2691113" y="368075"/>
                </a:cubicBezTo>
                <a:cubicBezTo>
                  <a:pt x="2713089" y="359242"/>
                  <a:pt x="2736352" y="353973"/>
                  <a:pt x="2760003" y="352577"/>
                </a:cubicBezTo>
                <a:close/>
                <a:moveTo>
                  <a:pt x="3630" y="28121"/>
                </a:moveTo>
                <a:cubicBezTo>
                  <a:pt x="53278" y="26959"/>
                  <a:pt x="102920" y="30524"/>
                  <a:pt x="151871" y="38891"/>
                </a:cubicBezTo>
                <a:cubicBezTo>
                  <a:pt x="865103" y="112200"/>
                  <a:pt x="964292" y="593344"/>
                  <a:pt x="1031555" y="832871"/>
                </a:cubicBezTo>
                <a:cubicBezTo>
                  <a:pt x="1053330" y="878203"/>
                  <a:pt x="1074563" y="922528"/>
                  <a:pt x="1096338" y="964607"/>
                </a:cubicBezTo>
                <a:cubicBezTo>
                  <a:pt x="1174682" y="1115560"/>
                  <a:pt x="1260852" y="1237377"/>
                  <a:pt x="1409481" y="1265738"/>
                </a:cubicBezTo>
                <a:cubicBezTo>
                  <a:pt x="1767492" y="1334008"/>
                  <a:pt x="1973154" y="762896"/>
                  <a:pt x="2318612" y="859062"/>
                </a:cubicBezTo>
                <a:cubicBezTo>
                  <a:pt x="2496300" y="908501"/>
                  <a:pt x="2583943" y="1098510"/>
                  <a:pt x="2675615" y="1267985"/>
                </a:cubicBezTo>
                <a:cubicBezTo>
                  <a:pt x="2731099" y="1370507"/>
                  <a:pt x="2875466" y="1386005"/>
                  <a:pt x="2952957" y="1297896"/>
                </a:cubicBezTo>
                <a:cubicBezTo>
                  <a:pt x="2992292" y="1253804"/>
                  <a:pt x="3027543" y="1206225"/>
                  <a:pt x="3058268" y="1155778"/>
                </a:cubicBezTo>
                <a:cubicBezTo>
                  <a:pt x="3256027" y="815280"/>
                  <a:pt x="3063848" y="537317"/>
                  <a:pt x="3306706" y="310500"/>
                </a:cubicBezTo>
                <a:cubicBezTo>
                  <a:pt x="3358006" y="262378"/>
                  <a:pt x="3524148" y="107395"/>
                  <a:pt x="3735234" y="107395"/>
                </a:cubicBezTo>
                <a:cubicBezTo>
                  <a:pt x="3766510" y="107395"/>
                  <a:pt x="3797693" y="110804"/>
                  <a:pt x="3828224" y="117624"/>
                </a:cubicBezTo>
                <a:cubicBezTo>
                  <a:pt x="4046595" y="166056"/>
                  <a:pt x="4222967" y="384349"/>
                  <a:pt x="4231180" y="592260"/>
                </a:cubicBezTo>
                <a:cubicBezTo>
                  <a:pt x="4242339" y="872003"/>
                  <a:pt x="3941207" y="932136"/>
                  <a:pt x="3873092" y="1299370"/>
                </a:cubicBezTo>
                <a:cubicBezTo>
                  <a:pt x="3837368" y="1492245"/>
                  <a:pt x="3867280" y="1798492"/>
                  <a:pt x="4050935" y="1948439"/>
                </a:cubicBezTo>
                <a:cubicBezTo>
                  <a:pt x="4358421" y="2199435"/>
                  <a:pt x="4810507" y="1777182"/>
                  <a:pt x="5211525" y="2027402"/>
                </a:cubicBezTo>
                <a:cubicBezTo>
                  <a:pt x="5429122" y="2163013"/>
                  <a:pt x="5566824" y="2456164"/>
                  <a:pt x="5541097" y="2700958"/>
                </a:cubicBezTo>
                <a:cubicBezTo>
                  <a:pt x="5501654" y="3076251"/>
                  <a:pt x="5098698" y="3142194"/>
                  <a:pt x="5094823" y="3471378"/>
                </a:cubicBezTo>
                <a:cubicBezTo>
                  <a:pt x="5091415" y="3745236"/>
                  <a:pt x="5419668" y="3893242"/>
                  <a:pt x="5505528" y="4272564"/>
                </a:cubicBezTo>
                <a:cubicBezTo>
                  <a:pt x="5569691" y="4556184"/>
                  <a:pt x="5439041" y="4752005"/>
                  <a:pt x="5281423" y="4965183"/>
                </a:cubicBezTo>
                <a:cubicBezTo>
                  <a:pt x="5068244" y="5253608"/>
                  <a:pt x="4866301" y="5146281"/>
                  <a:pt x="4675749" y="5385343"/>
                </a:cubicBezTo>
                <a:cubicBezTo>
                  <a:pt x="4370191" y="5769070"/>
                  <a:pt x="4714176" y="6260683"/>
                  <a:pt x="4508838" y="6598516"/>
                </a:cubicBezTo>
                <a:lnTo>
                  <a:pt x="4472787" y="6646910"/>
                </a:lnTo>
                <a:lnTo>
                  <a:pt x="3367517" y="6646910"/>
                </a:lnTo>
                <a:lnTo>
                  <a:pt x="2998981" y="6646910"/>
                </a:lnTo>
                <a:lnTo>
                  <a:pt x="2648733" y="6646910"/>
                </a:lnTo>
                <a:lnTo>
                  <a:pt x="0" y="6646910"/>
                </a:lnTo>
                <a:lnTo>
                  <a:pt x="0" y="28222"/>
                </a:lnTo>
                <a:close/>
                <a:moveTo>
                  <a:pt x="1509522" y="767"/>
                </a:moveTo>
                <a:cubicBezTo>
                  <a:pt x="1736339" y="-12639"/>
                  <a:pt x="1947814" y="150946"/>
                  <a:pt x="1986017" y="398066"/>
                </a:cubicBezTo>
                <a:cubicBezTo>
                  <a:pt x="2019183" y="611090"/>
                  <a:pt x="1902946" y="824502"/>
                  <a:pt x="1709217" y="905558"/>
                </a:cubicBezTo>
                <a:cubicBezTo>
                  <a:pt x="1430403" y="1021795"/>
                  <a:pt x="1123149" y="837830"/>
                  <a:pt x="1083551" y="529879"/>
                </a:cubicBezTo>
                <a:cubicBezTo>
                  <a:pt x="1056506" y="319025"/>
                  <a:pt x="1175223" y="110882"/>
                  <a:pt x="1366937" y="33390"/>
                </a:cubicBezTo>
                <a:cubicBezTo>
                  <a:pt x="1412379" y="14871"/>
                  <a:pt x="1460539" y="3866"/>
                  <a:pt x="1509522" y="76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66AE79B-A749-1843-E192-702B626148E6}"/>
              </a:ext>
            </a:extLst>
          </p:cNvPr>
          <p:cNvSpPr>
            <a:spLocks noGrp="1"/>
          </p:cNvSpPr>
          <p:nvPr>
            <p:ph type="title"/>
          </p:nvPr>
        </p:nvSpPr>
        <p:spPr>
          <a:xfrm>
            <a:off x="1052244" y="324811"/>
            <a:ext cx="10641962" cy="831035"/>
          </a:xfrm>
        </p:spPr>
        <p:txBody>
          <a:bodyPr>
            <a:noAutofit/>
          </a:bodyPr>
          <a:lstStyle/>
          <a:p>
            <a:r>
              <a:rPr lang="en-NG" sz="3200" b="1" dirty="0">
                <a:latin typeface="Georgia" panose="02040502050405020303" pitchFamily="18" charset="0"/>
              </a:rPr>
              <a:t> </a:t>
            </a:r>
            <a:r>
              <a:rPr lang="en-US" sz="3200" b="1" dirty="0">
                <a:latin typeface="Georgia" panose="02040502050405020303" pitchFamily="18" charset="0"/>
              </a:rPr>
              <a:t>Privileges and Restrictions of the Rank of SAN</a:t>
            </a:r>
            <a:endParaRPr lang="en-NG" sz="3200" b="1" dirty="0">
              <a:latin typeface="Georgia" panose="02040502050405020303" pitchFamily="18" charset="0"/>
            </a:endParaRPr>
          </a:p>
        </p:txBody>
      </p:sp>
      <p:sp>
        <p:nvSpPr>
          <p:cNvPr id="3" name="Content Placeholder 2">
            <a:extLst>
              <a:ext uri="{FF2B5EF4-FFF2-40B4-BE49-F238E27FC236}">
                <a16:creationId xmlns:a16="http://schemas.microsoft.com/office/drawing/2014/main" id="{EDC234EE-D074-88DE-285C-A10FFAB6A365}"/>
              </a:ext>
            </a:extLst>
          </p:cNvPr>
          <p:cNvSpPr>
            <a:spLocks noGrp="1"/>
          </p:cNvSpPr>
          <p:nvPr>
            <p:ph idx="1"/>
          </p:nvPr>
        </p:nvSpPr>
        <p:spPr>
          <a:xfrm>
            <a:off x="799595" y="1582340"/>
            <a:ext cx="5397787" cy="4950849"/>
          </a:xfrm>
          <a:solidFill>
            <a:srgbClr val="212121"/>
          </a:solidFill>
        </p:spPr>
        <p:txBody>
          <a:bodyPr anchor="t">
            <a:normAutofit/>
          </a:bodyPr>
          <a:lstStyle/>
          <a:p>
            <a:pPr lvl="0" algn="ctr"/>
            <a:r>
              <a:rPr lang="en-US" sz="2400" b="1" dirty="0">
                <a:solidFill>
                  <a:schemeClr val="bg1"/>
                </a:solidFill>
                <a:latin typeface="Georgia" panose="02040502050405020303" pitchFamily="18" charset="0"/>
              </a:rPr>
              <a:t>PRIVILEGES </a:t>
            </a:r>
          </a:p>
          <a:p>
            <a:pPr lvl="0" algn="ctr"/>
            <a:endParaRPr lang="en-US" sz="2400" b="1" dirty="0">
              <a:solidFill>
                <a:schemeClr val="bg1"/>
              </a:solidFill>
              <a:latin typeface="Georgia" panose="02040502050405020303" pitchFamily="18" charset="0"/>
            </a:endParaRPr>
          </a:p>
          <a:p>
            <a:pPr marL="342900" lvl="0" indent="-342900">
              <a:buClr>
                <a:schemeClr val="bg1"/>
              </a:buClr>
              <a:buFont typeface="Wingdings" panose="05000000000000000000" pitchFamily="2" charset="2"/>
              <a:buChar char="§"/>
            </a:pPr>
            <a:r>
              <a:rPr lang="en-NG" b="1" dirty="0">
                <a:solidFill>
                  <a:schemeClr val="bg1"/>
                </a:solidFill>
                <a:latin typeface="Georgia" panose="02040502050405020303" pitchFamily="18" charset="0"/>
              </a:rPr>
              <a:t>Exclusive Right to the Inner Bar </a:t>
            </a:r>
            <a:endParaRPr lang="en-US" b="1" dirty="0">
              <a:solidFill>
                <a:schemeClr val="bg1"/>
              </a:solidFill>
              <a:latin typeface="Georgia" panose="02040502050405020303" pitchFamily="18" charset="0"/>
            </a:endParaRPr>
          </a:p>
          <a:p>
            <a:pPr marL="342900" lvl="0" indent="-342900">
              <a:buClr>
                <a:schemeClr val="bg1"/>
              </a:buClr>
              <a:buFont typeface="Wingdings" panose="05000000000000000000" pitchFamily="2" charset="2"/>
              <a:buChar char="§"/>
            </a:pPr>
            <a:r>
              <a:rPr lang="en-NG" b="1" dirty="0">
                <a:solidFill>
                  <a:schemeClr val="bg1"/>
                </a:solidFill>
                <a:latin typeface="Georgia" panose="02040502050405020303" pitchFamily="18" charset="0"/>
              </a:rPr>
              <a:t>Right of Precedence</a:t>
            </a:r>
            <a:endParaRPr lang="en-US" b="1" dirty="0">
              <a:solidFill>
                <a:schemeClr val="bg1"/>
              </a:solidFill>
              <a:latin typeface="Georgia" panose="02040502050405020303" pitchFamily="18" charset="0"/>
            </a:endParaRPr>
          </a:p>
          <a:p>
            <a:pPr marL="342900" lvl="0" indent="-342900">
              <a:buClr>
                <a:schemeClr val="bg1"/>
              </a:buClr>
              <a:buFont typeface="Wingdings" panose="05000000000000000000" pitchFamily="2" charset="2"/>
              <a:buChar char="§"/>
            </a:pPr>
            <a:r>
              <a:rPr lang="en-NG" b="1" dirty="0">
                <a:solidFill>
                  <a:schemeClr val="bg1"/>
                </a:solidFill>
                <a:latin typeface="Georgia" panose="02040502050405020303" pitchFamily="18" charset="0"/>
              </a:rPr>
              <a:t>Wearing of Silk</a:t>
            </a:r>
            <a:endParaRPr lang="en-US" b="1" dirty="0">
              <a:solidFill>
                <a:schemeClr val="bg1"/>
              </a:solidFill>
              <a:latin typeface="Georgia" panose="02040502050405020303" pitchFamily="18" charset="0"/>
            </a:endParaRPr>
          </a:p>
          <a:p>
            <a:pPr marL="342900" lvl="0" indent="-342900">
              <a:buClr>
                <a:schemeClr val="bg1"/>
              </a:buClr>
              <a:buFont typeface="Wingdings" panose="05000000000000000000" pitchFamily="2" charset="2"/>
              <a:buChar char="§"/>
            </a:pPr>
            <a:r>
              <a:rPr lang="en-NG" b="1" dirty="0">
                <a:solidFill>
                  <a:schemeClr val="bg1"/>
                </a:solidFill>
                <a:latin typeface="Georgia" panose="02040502050405020303" pitchFamily="18" charset="0"/>
              </a:rPr>
              <a:t>Professional Recognition</a:t>
            </a:r>
          </a:p>
        </p:txBody>
      </p:sp>
      <p:sp>
        <p:nvSpPr>
          <p:cNvPr id="4" name="Content Placeholder 2">
            <a:extLst>
              <a:ext uri="{FF2B5EF4-FFF2-40B4-BE49-F238E27FC236}">
                <a16:creationId xmlns:a16="http://schemas.microsoft.com/office/drawing/2014/main" id="{F1FB1B35-AC6C-28F2-0B8B-C67BEBFEE3A5}"/>
              </a:ext>
            </a:extLst>
          </p:cNvPr>
          <p:cNvSpPr txBox="1">
            <a:spLocks/>
          </p:cNvSpPr>
          <p:nvPr/>
        </p:nvSpPr>
        <p:spPr>
          <a:xfrm>
            <a:off x="6373225" y="1582339"/>
            <a:ext cx="5397787" cy="4950849"/>
          </a:xfrm>
          <a:prstGeom prst="rect">
            <a:avLst/>
          </a:prstGeom>
          <a:solidFill>
            <a:srgbClr val="212121"/>
          </a:solidFill>
        </p:spPr>
        <p:txBody>
          <a:bodyPr vert="horz" lIns="91440" tIns="45720" rIns="91440" bIns="45720" rtlCol="0" anchor="t">
            <a:normAutofit/>
          </a:bodyPr>
          <a:lstStyle>
            <a:lvl1pPr marL="0" indent="0" algn="l" defTabSz="914400" rtl="0" eaLnBrk="1" latinLnBrk="0" hangingPunct="1">
              <a:lnSpc>
                <a:spcPct val="110000"/>
              </a:lnSpc>
              <a:spcBef>
                <a:spcPts val="1000"/>
              </a:spcBef>
              <a:buClr>
                <a:schemeClr val="accent5"/>
              </a:buClr>
              <a:buFont typeface="Avenir Next LT Pro" panose="020B0504020202020204" pitchFamily="34" charset="0"/>
              <a:buNone/>
              <a:defRPr sz="2000" kern="1200">
                <a:solidFill>
                  <a:schemeClr val="tx1"/>
                </a:solidFill>
                <a:latin typeface="+mn-lt"/>
                <a:ea typeface="+mn-ea"/>
                <a:cs typeface="+mn-cs"/>
              </a:defRPr>
            </a:lvl1pPr>
            <a:lvl2pPr marL="228600" indent="0" algn="l" defTabSz="914400" rtl="0" eaLnBrk="1" latinLnBrk="0" hangingPunct="1">
              <a:lnSpc>
                <a:spcPct val="110000"/>
              </a:lnSpc>
              <a:spcBef>
                <a:spcPts val="500"/>
              </a:spcBef>
              <a:buClr>
                <a:schemeClr val="accent5"/>
              </a:buClr>
              <a:buFont typeface="Avenir Next LT Pro" panose="020B0504020202020204" pitchFamily="34" charset="0"/>
              <a:buNone/>
              <a:defRPr sz="1800" kern="1200">
                <a:solidFill>
                  <a:schemeClr val="tx1"/>
                </a:solidFill>
                <a:latin typeface="+mn-lt"/>
                <a:ea typeface="+mn-ea"/>
                <a:cs typeface="+mn-cs"/>
              </a:defRPr>
            </a:lvl2pPr>
            <a:lvl3pPr marL="457200" indent="0" algn="l" defTabSz="914400" rtl="0" eaLnBrk="1" latinLnBrk="0" hangingPunct="1">
              <a:lnSpc>
                <a:spcPct val="110000"/>
              </a:lnSpc>
              <a:spcBef>
                <a:spcPts val="500"/>
              </a:spcBef>
              <a:buClr>
                <a:schemeClr val="accent5"/>
              </a:buClr>
              <a:buFont typeface="Avenir Next LT Pro" panose="020B0504020202020204" pitchFamily="34" charset="0"/>
              <a:buNone/>
              <a:defRPr sz="1600" kern="1200">
                <a:solidFill>
                  <a:schemeClr val="tx1"/>
                </a:solidFill>
                <a:latin typeface="+mn-lt"/>
                <a:ea typeface="+mn-ea"/>
                <a:cs typeface="+mn-cs"/>
              </a:defRPr>
            </a:lvl3pPr>
            <a:lvl4pPr marL="685800" indent="0" algn="l" defTabSz="914400" rtl="0" eaLnBrk="1" latinLnBrk="0" hangingPunct="1">
              <a:lnSpc>
                <a:spcPct val="110000"/>
              </a:lnSpc>
              <a:spcBef>
                <a:spcPts val="500"/>
              </a:spcBef>
              <a:buClr>
                <a:schemeClr val="accent5"/>
              </a:buClr>
              <a:buFont typeface="Avenir Next LT Pro" panose="020B05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10000"/>
              </a:lnSpc>
              <a:spcBef>
                <a:spcPts val="500"/>
              </a:spcBef>
              <a:buClr>
                <a:schemeClr val="accent5"/>
              </a:buClr>
              <a:buFont typeface="Avenir Next LT Pro" panose="020B05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buClr>
                <a:schemeClr val="bg1"/>
              </a:buClr>
            </a:pPr>
            <a:r>
              <a:rPr lang="en-US" sz="2400" b="1" dirty="0">
                <a:solidFill>
                  <a:schemeClr val="bg1"/>
                </a:solidFill>
                <a:latin typeface="Georgia" panose="02040502050405020303" pitchFamily="18" charset="0"/>
              </a:rPr>
              <a:t>RESTRICTIONS</a:t>
            </a:r>
          </a:p>
          <a:p>
            <a:pPr marL="171450" lvl="0" indent="-171450">
              <a:buClr>
                <a:schemeClr val="bg1"/>
              </a:buClr>
              <a:buFont typeface="Wingdings" panose="05000000000000000000" pitchFamily="2" charset="2"/>
              <a:buChar char="§"/>
            </a:pPr>
            <a:endParaRPr lang="en-US" sz="1000" b="1" dirty="0">
              <a:solidFill>
                <a:schemeClr val="bg1"/>
              </a:solidFill>
              <a:latin typeface="Georgia" panose="02040502050405020303" pitchFamily="18" charset="0"/>
            </a:endParaRPr>
          </a:p>
          <a:p>
            <a:pPr marL="171450" lvl="0" indent="-171450">
              <a:buClr>
                <a:schemeClr val="bg1"/>
              </a:buClr>
              <a:buFont typeface="Wingdings" panose="05000000000000000000" pitchFamily="2" charset="2"/>
              <a:buChar char="§"/>
            </a:pPr>
            <a:r>
              <a:rPr lang="en-NG" b="1" dirty="0">
                <a:solidFill>
                  <a:schemeClr val="bg1"/>
                </a:solidFill>
                <a:latin typeface="Georgia" panose="02040502050405020303" pitchFamily="18" charset="0"/>
              </a:rPr>
              <a:t>Limitation on Appearances in Court</a:t>
            </a:r>
            <a:endParaRPr lang="en-US" b="1" dirty="0">
              <a:solidFill>
                <a:schemeClr val="bg1"/>
              </a:solidFill>
              <a:latin typeface="Georgia" panose="02040502050405020303" pitchFamily="18" charset="0"/>
            </a:endParaRPr>
          </a:p>
          <a:p>
            <a:pPr marL="171450" lvl="0" indent="-171450">
              <a:buClr>
                <a:schemeClr val="bg1"/>
              </a:buClr>
              <a:buFont typeface="Wingdings" panose="05000000000000000000" pitchFamily="2" charset="2"/>
              <a:buChar char="§"/>
            </a:pPr>
            <a:r>
              <a:rPr lang="en-NG" b="1" dirty="0">
                <a:solidFill>
                  <a:schemeClr val="bg1"/>
                </a:solidFill>
                <a:latin typeface="Georgia" panose="02040502050405020303" pitchFamily="18" charset="0"/>
              </a:rPr>
              <a:t>Ethical Expectations</a:t>
            </a:r>
            <a:endParaRPr lang="en-US" b="1" dirty="0">
              <a:solidFill>
                <a:schemeClr val="bg1"/>
              </a:solidFill>
              <a:latin typeface="Georgia" panose="02040502050405020303" pitchFamily="18" charset="0"/>
            </a:endParaRPr>
          </a:p>
          <a:p>
            <a:pPr marL="171450" lvl="0" indent="-171450">
              <a:buClr>
                <a:schemeClr val="bg1"/>
              </a:buClr>
              <a:buFont typeface="Wingdings" panose="05000000000000000000" pitchFamily="2" charset="2"/>
              <a:buChar char="§"/>
            </a:pPr>
            <a:r>
              <a:rPr lang="en-NG" b="1" dirty="0">
                <a:solidFill>
                  <a:schemeClr val="bg1"/>
                </a:solidFill>
                <a:latin typeface="Georgia" panose="02040502050405020303" pitchFamily="18" charset="0"/>
              </a:rPr>
              <a:t>Limitation on Application for Processes</a:t>
            </a:r>
            <a:endParaRPr lang="en-US" b="1" dirty="0">
              <a:solidFill>
                <a:schemeClr val="bg1"/>
              </a:solidFill>
              <a:latin typeface="Georgia" panose="02040502050405020303" pitchFamily="18" charset="0"/>
            </a:endParaRPr>
          </a:p>
          <a:p>
            <a:pPr marL="171450" lvl="0" indent="-171450">
              <a:buClr>
                <a:schemeClr val="bg1"/>
              </a:buClr>
              <a:buFont typeface="Wingdings" panose="05000000000000000000" pitchFamily="2" charset="2"/>
              <a:buChar char="§"/>
            </a:pPr>
            <a:r>
              <a:rPr lang="en-NG" b="1" dirty="0">
                <a:solidFill>
                  <a:schemeClr val="bg1"/>
                </a:solidFill>
                <a:latin typeface="Georgia" panose="02040502050405020303" pitchFamily="18" charset="0"/>
              </a:rPr>
              <a:t>Obligation to Excellence</a:t>
            </a:r>
            <a:endParaRPr lang="en-US" b="1" dirty="0">
              <a:solidFill>
                <a:schemeClr val="bg1"/>
              </a:solidFill>
              <a:latin typeface="Georgia" panose="02040502050405020303" pitchFamily="18" charset="0"/>
            </a:endParaRPr>
          </a:p>
          <a:p>
            <a:pPr marL="171450" lvl="0" indent="-171450">
              <a:buClr>
                <a:schemeClr val="bg1"/>
              </a:buClr>
              <a:buFont typeface="Wingdings" panose="05000000000000000000" pitchFamily="2" charset="2"/>
              <a:buChar char="§"/>
            </a:pPr>
            <a:r>
              <a:rPr lang="en-NG" b="1" dirty="0">
                <a:solidFill>
                  <a:schemeClr val="bg1"/>
                </a:solidFill>
                <a:latin typeface="Georgia" panose="02040502050405020303" pitchFamily="18" charset="0"/>
              </a:rPr>
              <a:t>Minimum Fees</a:t>
            </a:r>
            <a:endParaRPr lang="en-US" b="1" dirty="0">
              <a:solidFill>
                <a:schemeClr val="bg1"/>
              </a:solidFill>
              <a:latin typeface="Georgia" panose="02040502050405020303" pitchFamily="18" charset="0"/>
            </a:endParaRPr>
          </a:p>
          <a:p>
            <a:pPr marL="171450" lvl="0" indent="-171450">
              <a:buClr>
                <a:schemeClr val="bg1"/>
              </a:buClr>
              <a:buFont typeface="Wingdings" panose="05000000000000000000" pitchFamily="2" charset="2"/>
              <a:buChar char="§"/>
            </a:pPr>
            <a:r>
              <a:rPr lang="en-NG" b="1" dirty="0">
                <a:solidFill>
                  <a:schemeClr val="bg1"/>
                </a:solidFill>
                <a:latin typeface="Georgia" panose="02040502050405020303" pitchFamily="18" charset="0"/>
              </a:rPr>
              <a:t>Regulation by the LPPC</a:t>
            </a:r>
          </a:p>
        </p:txBody>
      </p:sp>
    </p:spTree>
    <p:extLst>
      <p:ext uri="{BB962C8B-B14F-4D97-AF65-F5344CB8AC3E}">
        <p14:creationId xmlns:p14="http://schemas.microsoft.com/office/powerpoint/2010/main" val="18597248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8" name="Background Fill">
            <a:extLst>
              <a:ext uri="{FF2B5EF4-FFF2-40B4-BE49-F238E27FC236}">
                <a16:creationId xmlns:a16="http://schemas.microsoft.com/office/drawing/2014/main" id="{B937640E-EF7A-4A6C-A950-D12B7D5C92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6ADA084-C86B-4F3C-8077-6A8999CC46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 name="Title 1">
            <a:extLst>
              <a:ext uri="{FF2B5EF4-FFF2-40B4-BE49-F238E27FC236}">
                <a16:creationId xmlns:a16="http://schemas.microsoft.com/office/drawing/2014/main" id="{362BAFCC-AEB2-2626-0CC0-AA58FA31AB95}"/>
              </a:ext>
            </a:extLst>
          </p:cNvPr>
          <p:cNvSpPr>
            <a:spLocks noGrp="1"/>
          </p:cNvSpPr>
          <p:nvPr>
            <p:ph type="title"/>
          </p:nvPr>
        </p:nvSpPr>
        <p:spPr>
          <a:xfrm>
            <a:off x="5775206" y="82330"/>
            <a:ext cx="6052359" cy="1335653"/>
          </a:xfrm>
        </p:spPr>
        <p:txBody>
          <a:bodyPr>
            <a:normAutofit/>
          </a:bodyPr>
          <a:lstStyle/>
          <a:p>
            <a:r>
              <a:rPr lang="en-US" sz="2800" b="1" dirty="0">
                <a:latin typeface="Georgia" panose="02040502050405020303" pitchFamily="18" charset="0"/>
              </a:rPr>
              <a:t>The Role and of SAN in shaping the Legal Profession</a:t>
            </a:r>
            <a:endParaRPr lang="en-NG" sz="2800" dirty="0">
              <a:latin typeface="Georgia" panose="02040502050405020303" pitchFamily="18" charset="0"/>
            </a:endParaRPr>
          </a:p>
        </p:txBody>
      </p:sp>
      <p:pic>
        <p:nvPicPr>
          <p:cNvPr id="14" name="Picture 13">
            <a:extLst>
              <a:ext uri="{FF2B5EF4-FFF2-40B4-BE49-F238E27FC236}">
                <a16:creationId xmlns:a16="http://schemas.microsoft.com/office/drawing/2014/main" id="{1B19868B-7174-4BAA-12C8-09C821BD7CE9}"/>
              </a:ext>
            </a:extLst>
          </p:cNvPr>
          <p:cNvPicPr>
            <a:picLocks noChangeAspect="1"/>
          </p:cNvPicPr>
          <p:nvPr/>
        </p:nvPicPr>
        <p:blipFill>
          <a:blip r:embed="rId2">
            <a:extLst>
              <a:ext uri="{28A0092B-C50C-407E-A947-70E740481C1C}">
                <a14:useLocalDpi xmlns:a14="http://schemas.microsoft.com/office/drawing/2010/main" val="0"/>
              </a:ext>
            </a:extLst>
          </a:blip>
          <a:srcRect t="16936" b="16936"/>
          <a:stretch/>
        </p:blipFill>
        <p:spPr>
          <a:xfrm>
            <a:off x="-52346" y="10"/>
            <a:ext cx="5827552" cy="6857990"/>
          </a:xfrm>
          <a:custGeom>
            <a:avLst/>
            <a:gdLst/>
            <a:ahLst/>
            <a:cxnLst/>
            <a:rect l="l" t="t" r="r" b="b"/>
            <a:pathLst>
              <a:path w="5827552" h="6858000">
                <a:moveTo>
                  <a:pt x="5436113" y="4232571"/>
                </a:moveTo>
                <a:cubicBezTo>
                  <a:pt x="5625722" y="4232571"/>
                  <a:pt x="5779430" y="4386279"/>
                  <a:pt x="5779430" y="4575888"/>
                </a:cubicBezTo>
                <a:cubicBezTo>
                  <a:pt x="5779430" y="4765497"/>
                  <a:pt x="5625722" y="4919205"/>
                  <a:pt x="5436113" y="4919205"/>
                </a:cubicBezTo>
                <a:cubicBezTo>
                  <a:pt x="5246504" y="4919205"/>
                  <a:pt x="5092796" y="4765497"/>
                  <a:pt x="5092796" y="4575888"/>
                </a:cubicBezTo>
                <a:cubicBezTo>
                  <a:pt x="5092796" y="4386279"/>
                  <a:pt x="5246504" y="4232571"/>
                  <a:pt x="5436113" y="4232571"/>
                </a:cubicBezTo>
                <a:close/>
                <a:moveTo>
                  <a:pt x="5580185" y="1806694"/>
                </a:moveTo>
                <a:cubicBezTo>
                  <a:pt x="5699726" y="1806694"/>
                  <a:pt x="5799461" y="1891487"/>
                  <a:pt x="5822527" y="2004209"/>
                </a:cubicBezTo>
                <a:lnTo>
                  <a:pt x="5827552" y="2054052"/>
                </a:lnTo>
                <a:lnTo>
                  <a:pt x="5827552" y="2054073"/>
                </a:lnTo>
                <a:lnTo>
                  <a:pt x="5822527" y="2103916"/>
                </a:lnTo>
                <a:cubicBezTo>
                  <a:pt x="5799461" y="2216637"/>
                  <a:pt x="5699726" y="2301430"/>
                  <a:pt x="5580185" y="2301430"/>
                </a:cubicBezTo>
                <a:cubicBezTo>
                  <a:pt x="5443567" y="2301430"/>
                  <a:pt x="5332817" y="2190680"/>
                  <a:pt x="5332817" y="2054062"/>
                </a:cubicBezTo>
                <a:cubicBezTo>
                  <a:pt x="5332817" y="1917444"/>
                  <a:pt x="5443567" y="1806694"/>
                  <a:pt x="5580185" y="1806694"/>
                </a:cubicBezTo>
                <a:close/>
                <a:moveTo>
                  <a:pt x="5580184" y="1294715"/>
                </a:moveTo>
                <a:cubicBezTo>
                  <a:pt x="5659753" y="1294715"/>
                  <a:pt x="5724256" y="1359218"/>
                  <a:pt x="5724256" y="1438787"/>
                </a:cubicBezTo>
                <a:cubicBezTo>
                  <a:pt x="5724256" y="1518356"/>
                  <a:pt x="5659753" y="1582859"/>
                  <a:pt x="5580184" y="1582859"/>
                </a:cubicBezTo>
                <a:cubicBezTo>
                  <a:pt x="5500615" y="1582859"/>
                  <a:pt x="5436112" y="1518356"/>
                  <a:pt x="5436112" y="1438787"/>
                </a:cubicBezTo>
                <a:cubicBezTo>
                  <a:pt x="5436112" y="1359218"/>
                  <a:pt x="5500615" y="1294715"/>
                  <a:pt x="5580184" y="1294715"/>
                </a:cubicBezTo>
                <a:close/>
                <a:moveTo>
                  <a:pt x="0" y="0"/>
                </a:moveTo>
                <a:lnTo>
                  <a:pt x="5346882" y="0"/>
                </a:lnTo>
                <a:lnTo>
                  <a:pt x="5396357" y="64140"/>
                </a:lnTo>
                <a:cubicBezTo>
                  <a:pt x="5509528" y="228632"/>
                  <a:pt x="5577723" y="424885"/>
                  <a:pt x="5582550" y="646882"/>
                </a:cubicBezTo>
                <a:cubicBezTo>
                  <a:pt x="5608062" y="1102027"/>
                  <a:pt x="5203194" y="1301070"/>
                  <a:pt x="5151872" y="1809180"/>
                </a:cubicBezTo>
                <a:cubicBezTo>
                  <a:pt x="5104686" y="2276432"/>
                  <a:pt x="5496947" y="2514465"/>
                  <a:pt x="5323965" y="3464278"/>
                </a:cubicBezTo>
                <a:cubicBezTo>
                  <a:pt x="5211960" y="4079388"/>
                  <a:pt x="4297510" y="4259025"/>
                  <a:pt x="5513003" y="5720066"/>
                </a:cubicBezTo>
                <a:cubicBezTo>
                  <a:pt x="5768583" y="6027176"/>
                  <a:pt x="5791560" y="6490332"/>
                  <a:pt x="5601722" y="6841105"/>
                </a:cubicBezTo>
                <a:lnTo>
                  <a:pt x="5590822" y="6858000"/>
                </a:lnTo>
                <a:lnTo>
                  <a:pt x="1735" y="6858000"/>
                </a:lnTo>
                <a:lnTo>
                  <a:pt x="0" y="6858000"/>
                </a:lnTo>
                <a:lnTo>
                  <a:pt x="0" y="6849812"/>
                </a:lnTo>
                <a:lnTo>
                  <a:pt x="0" y="6483067"/>
                </a:lnTo>
                <a:lnTo>
                  <a:pt x="0" y="1250146"/>
                </a:lnTo>
                <a:close/>
              </a:path>
            </a:pathLst>
          </a:custGeom>
        </p:spPr>
      </p:pic>
      <p:sp>
        <p:nvSpPr>
          <p:cNvPr id="4" name="Content Placeholder 2">
            <a:extLst>
              <a:ext uri="{FF2B5EF4-FFF2-40B4-BE49-F238E27FC236}">
                <a16:creationId xmlns:a16="http://schemas.microsoft.com/office/drawing/2014/main" id="{FAD30F67-B6AD-C55C-B557-034EC08BCE33}"/>
              </a:ext>
            </a:extLst>
          </p:cNvPr>
          <p:cNvSpPr>
            <a:spLocks noGrp="1"/>
          </p:cNvSpPr>
          <p:nvPr>
            <p:ph sz="half" idx="1"/>
          </p:nvPr>
        </p:nvSpPr>
        <p:spPr>
          <a:xfrm>
            <a:off x="5827552" y="1417983"/>
            <a:ext cx="6361400" cy="4996070"/>
          </a:xfrm>
        </p:spPr>
        <p:txBody>
          <a:bodyPr anchor="t">
            <a:noAutofit/>
          </a:bodyPr>
          <a:lstStyle/>
          <a:p>
            <a:r>
              <a:rPr lang="en-US" b="1" dirty="0">
                <a:latin typeface="Georgia" panose="02040502050405020303" pitchFamily="18" charset="0"/>
              </a:rPr>
              <a:t>A</a:t>
            </a:r>
            <a:r>
              <a:rPr lang="en-NG" b="1" dirty="0">
                <a:latin typeface="Georgia" panose="02040502050405020303" pitchFamily="18" charset="0"/>
              </a:rPr>
              <a:t> Senior Advocate of Nigeria has seven principal roles in shaping the legal profession</a:t>
            </a:r>
            <a:r>
              <a:rPr lang="en-US" b="1" dirty="0">
                <a:latin typeface="Georgia" panose="02040502050405020303" pitchFamily="18" charset="0"/>
              </a:rPr>
              <a:t>: </a:t>
            </a:r>
          </a:p>
          <a:p>
            <a:pPr marL="457200" indent="-457200">
              <a:buClr>
                <a:schemeClr val="tx1"/>
              </a:buClr>
              <a:buAutoNum type="arabicPeriod"/>
            </a:pPr>
            <a:r>
              <a:rPr lang="en-US" b="1" dirty="0">
                <a:latin typeface="Georgia" panose="02040502050405020303" pitchFamily="18" charset="0"/>
              </a:rPr>
              <a:t>Assist the Court in achieving Justice</a:t>
            </a:r>
          </a:p>
          <a:p>
            <a:pPr marL="457200" indent="-457200">
              <a:buClr>
                <a:schemeClr val="tx1"/>
              </a:buClr>
              <a:buAutoNum type="arabicPeriod"/>
            </a:pPr>
            <a:r>
              <a:rPr lang="en-US" b="1" dirty="0">
                <a:latin typeface="Georgia" panose="02040502050405020303" pitchFamily="18" charset="0"/>
              </a:rPr>
              <a:t>Advocacy, Jurisprudence and Legal Scholarship</a:t>
            </a:r>
          </a:p>
          <a:p>
            <a:pPr marL="457200" indent="-457200">
              <a:buClr>
                <a:schemeClr val="tx1"/>
              </a:buClr>
              <a:buAutoNum type="arabicPeriod"/>
            </a:pPr>
            <a:r>
              <a:rPr lang="en-US" b="1" dirty="0">
                <a:latin typeface="Georgia" panose="02040502050405020303" pitchFamily="18" charset="0"/>
              </a:rPr>
              <a:t>Ethical Leadership and Mentorship</a:t>
            </a:r>
          </a:p>
          <a:p>
            <a:pPr marL="457200" indent="-457200">
              <a:buClr>
                <a:schemeClr val="tx1"/>
              </a:buClr>
              <a:buAutoNum type="arabicPeriod"/>
            </a:pPr>
            <a:r>
              <a:rPr lang="en-US" b="1" dirty="0">
                <a:latin typeface="Georgia" panose="02040502050405020303" pitchFamily="18" charset="0"/>
              </a:rPr>
              <a:t>Guard the sanctity of the Legal Profession</a:t>
            </a:r>
          </a:p>
          <a:p>
            <a:pPr marL="457200" indent="-457200">
              <a:buClr>
                <a:schemeClr val="tx1"/>
              </a:buClr>
              <a:buAutoNum type="arabicPeriod"/>
            </a:pPr>
            <a:r>
              <a:rPr lang="en-US" b="1" dirty="0">
                <a:latin typeface="Georgia" panose="02040502050405020303" pitchFamily="18" charset="0"/>
              </a:rPr>
              <a:t>Guardians of the Profession’s Prestige</a:t>
            </a:r>
          </a:p>
          <a:p>
            <a:pPr marL="457200" indent="-457200">
              <a:buClr>
                <a:schemeClr val="tx1"/>
              </a:buClr>
              <a:buAutoNum type="arabicPeriod"/>
            </a:pPr>
            <a:r>
              <a:rPr lang="en-US" b="1" dirty="0">
                <a:latin typeface="Georgia" panose="02040502050405020303" pitchFamily="18" charset="0"/>
              </a:rPr>
              <a:t>Contributions to Legal and Constitutional Development </a:t>
            </a:r>
          </a:p>
          <a:p>
            <a:pPr marL="457200" indent="-457200">
              <a:buClr>
                <a:schemeClr val="tx1"/>
              </a:buClr>
              <a:buAutoNum type="arabicPeriod"/>
            </a:pPr>
            <a:r>
              <a:rPr lang="en-US" b="1" dirty="0">
                <a:latin typeface="Georgia" panose="02040502050405020303" pitchFamily="18" charset="0"/>
              </a:rPr>
              <a:t>Influence on Legal Education </a:t>
            </a:r>
          </a:p>
          <a:p>
            <a:pPr marL="457200" indent="-457200">
              <a:buAutoNum type="arabicPeriod"/>
            </a:pPr>
            <a:endParaRPr lang="en-NG" b="1" dirty="0">
              <a:latin typeface="Georgia" panose="02040502050405020303" pitchFamily="18" charset="0"/>
            </a:endParaRPr>
          </a:p>
        </p:txBody>
      </p:sp>
    </p:spTree>
    <p:extLst>
      <p:ext uri="{BB962C8B-B14F-4D97-AF65-F5344CB8AC3E}">
        <p14:creationId xmlns:p14="http://schemas.microsoft.com/office/powerpoint/2010/main" val="31909583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6462E-881D-6735-F36B-B686677CBA22}"/>
            </a:ext>
          </a:extLst>
        </p:cNvPr>
        <p:cNvGrpSpPr/>
        <p:nvPr/>
      </p:nvGrpSpPr>
      <p:grpSpPr>
        <a:xfrm>
          <a:off x="0" y="0"/>
          <a:ext cx="0" cy="0"/>
          <a:chOff x="0" y="0"/>
          <a:chExt cx="0" cy="0"/>
        </a:xfrm>
      </p:grpSpPr>
      <p:sp useBgFill="1">
        <p:nvSpPr>
          <p:cNvPr id="8199" name="Background Fill">
            <a:extLst>
              <a:ext uri="{FF2B5EF4-FFF2-40B4-BE49-F238E27FC236}">
                <a16:creationId xmlns:a16="http://schemas.microsoft.com/office/drawing/2014/main" id="{D9FB1A38-E716-C1B3-7C9A-A438E14D1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01" name="Rectangle 8200">
            <a:extLst>
              <a:ext uri="{FF2B5EF4-FFF2-40B4-BE49-F238E27FC236}">
                <a16:creationId xmlns:a16="http://schemas.microsoft.com/office/drawing/2014/main" id="{F6BBEEAF-B855-15E4-35FF-2A6BC628C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 name="Title 1">
            <a:extLst>
              <a:ext uri="{FF2B5EF4-FFF2-40B4-BE49-F238E27FC236}">
                <a16:creationId xmlns:a16="http://schemas.microsoft.com/office/drawing/2014/main" id="{05AE70BD-D12D-EFEF-DB38-B22297A170A6}"/>
              </a:ext>
            </a:extLst>
          </p:cNvPr>
          <p:cNvSpPr>
            <a:spLocks noGrp="1"/>
          </p:cNvSpPr>
          <p:nvPr>
            <p:ph type="title"/>
          </p:nvPr>
        </p:nvSpPr>
        <p:spPr>
          <a:xfrm>
            <a:off x="452486" y="364989"/>
            <a:ext cx="10190375" cy="1234723"/>
          </a:xfrm>
        </p:spPr>
        <p:txBody>
          <a:bodyPr>
            <a:noAutofit/>
          </a:bodyPr>
          <a:lstStyle/>
          <a:p>
            <a:r>
              <a:rPr lang="en-NG" sz="3600" b="1" dirty="0">
                <a:latin typeface="Georgia" panose="02040502050405020303" pitchFamily="18" charset="0"/>
              </a:rPr>
              <a:t>CHALLENGES AND CRITICISMS OF THE SAN RANK</a:t>
            </a:r>
            <a:endParaRPr lang="en-NG" sz="3600" dirty="0">
              <a:latin typeface="Georgia" panose="02040502050405020303" pitchFamily="18" charset="0"/>
            </a:endParaRPr>
          </a:p>
        </p:txBody>
      </p:sp>
      <p:sp>
        <p:nvSpPr>
          <p:cNvPr id="4" name="Content Placeholder 2">
            <a:extLst>
              <a:ext uri="{FF2B5EF4-FFF2-40B4-BE49-F238E27FC236}">
                <a16:creationId xmlns:a16="http://schemas.microsoft.com/office/drawing/2014/main" id="{760CDBED-4597-6FD5-22F8-2C02BEB869C4}"/>
              </a:ext>
            </a:extLst>
          </p:cNvPr>
          <p:cNvSpPr>
            <a:spLocks noGrp="1"/>
          </p:cNvSpPr>
          <p:nvPr>
            <p:ph sz="half" idx="1"/>
          </p:nvPr>
        </p:nvSpPr>
        <p:spPr>
          <a:xfrm>
            <a:off x="449437" y="1581458"/>
            <a:ext cx="6676796" cy="5064439"/>
          </a:xfrm>
        </p:spPr>
        <p:txBody>
          <a:bodyPr anchor="t">
            <a:noAutofit/>
          </a:bodyPr>
          <a:lstStyle/>
          <a:p>
            <a:pPr marL="457200" lvl="0" indent="-457200">
              <a:buClr>
                <a:schemeClr val="tx1"/>
              </a:buClr>
              <a:buFont typeface="+mj-lt"/>
              <a:buAutoNum type="arabicPeriod"/>
            </a:pPr>
            <a:r>
              <a:rPr lang="en-NG" b="1" dirty="0">
                <a:latin typeface="Georgia" panose="02040502050405020303" pitchFamily="18" charset="0"/>
              </a:rPr>
              <a:t>Transparency and Credibility of the Conferment Process</a:t>
            </a:r>
            <a:endParaRPr lang="en-US" dirty="0">
              <a:latin typeface="Georgia" panose="02040502050405020303" pitchFamily="18" charset="0"/>
            </a:endParaRPr>
          </a:p>
          <a:p>
            <a:pPr marL="457200" lvl="0" indent="-457200">
              <a:buClr>
                <a:schemeClr val="tx1"/>
              </a:buClr>
              <a:buFont typeface="+mj-lt"/>
              <a:buAutoNum type="arabicPeriod"/>
            </a:pPr>
            <a:r>
              <a:rPr lang="en-NG" b="1" dirty="0">
                <a:latin typeface="Georgia" panose="02040502050405020303" pitchFamily="18" charset="0"/>
              </a:rPr>
              <a:t>Cost and Burden of Application</a:t>
            </a:r>
            <a:endParaRPr lang="en-US" dirty="0">
              <a:latin typeface="Georgia" panose="02040502050405020303" pitchFamily="18" charset="0"/>
            </a:endParaRPr>
          </a:p>
          <a:p>
            <a:pPr marL="457200" lvl="0" indent="-457200">
              <a:buClr>
                <a:schemeClr val="tx1"/>
              </a:buClr>
              <a:buFont typeface="+mj-lt"/>
              <a:buAutoNum type="arabicPeriod"/>
            </a:pPr>
            <a:r>
              <a:rPr lang="en-NG" b="1" dirty="0">
                <a:latin typeface="Georgia" panose="02040502050405020303" pitchFamily="18" charset="0"/>
              </a:rPr>
              <a:t>Decline in Ethical Standards among Some SANs</a:t>
            </a:r>
            <a:endParaRPr lang="en-US" dirty="0">
              <a:latin typeface="Georgia" panose="02040502050405020303" pitchFamily="18" charset="0"/>
            </a:endParaRPr>
          </a:p>
          <a:p>
            <a:pPr marL="457200" lvl="0" indent="-457200">
              <a:buClr>
                <a:schemeClr val="tx1"/>
              </a:buClr>
              <a:buFont typeface="+mj-lt"/>
              <a:buAutoNum type="arabicPeriod"/>
            </a:pPr>
            <a:r>
              <a:rPr lang="en-NG" b="1" dirty="0">
                <a:latin typeface="Georgia" panose="02040502050405020303" pitchFamily="18" charset="0"/>
              </a:rPr>
              <a:t>Over-Concentration of Opportunities</a:t>
            </a:r>
            <a:endParaRPr lang="en-US" dirty="0">
              <a:latin typeface="Georgia" panose="02040502050405020303" pitchFamily="18" charset="0"/>
            </a:endParaRPr>
          </a:p>
          <a:p>
            <a:pPr marL="457200" lvl="0" indent="-457200">
              <a:buClr>
                <a:schemeClr val="tx1"/>
              </a:buClr>
              <a:buFont typeface="+mj-lt"/>
              <a:buAutoNum type="arabicPeriod"/>
            </a:pPr>
            <a:r>
              <a:rPr lang="en-NG" b="1" dirty="0">
                <a:latin typeface="Georgia" panose="02040502050405020303" pitchFamily="18" charset="0"/>
              </a:rPr>
              <a:t>Limited Representation of Diversity</a:t>
            </a:r>
            <a:endParaRPr lang="en-US" dirty="0">
              <a:latin typeface="Georgia" panose="02040502050405020303" pitchFamily="18" charset="0"/>
            </a:endParaRPr>
          </a:p>
          <a:p>
            <a:pPr marL="457200" lvl="0" indent="-457200">
              <a:buClr>
                <a:schemeClr val="tx1"/>
              </a:buClr>
              <a:buFont typeface="+mj-lt"/>
              <a:buAutoNum type="arabicPeriod"/>
            </a:pPr>
            <a:r>
              <a:rPr lang="en-NG" b="1" dirty="0">
                <a:latin typeface="Georgia" panose="02040502050405020303" pitchFamily="18" charset="0"/>
              </a:rPr>
              <a:t>Restriction to Superior Courts</a:t>
            </a:r>
            <a:endParaRPr lang="en-NG" dirty="0">
              <a:latin typeface="Georgia" panose="02040502050405020303" pitchFamily="18" charset="0"/>
            </a:endParaRPr>
          </a:p>
          <a:p>
            <a:r>
              <a:rPr lang="en-NG" b="1" dirty="0">
                <a:latin typeface="Georgia" panose="02040502050405020303" pitchFamily="18" charset="0"/>
              </a:rPr>
              <a:t>NOTE</a:t>
            </a:r>
            <a:r>
              <a:rPr lang="en-US" b="1" dirty="0">
                <a:latin typeface="Georgia" panose="02040502050405020303" pitchFamily="18" charset="0"/>
              </a:rPr>
              <a:t>: </a:t>
            </a:r>
            <a:r>
              <a:rPr lang="en-US" sz="1800" dirty="0">
                <a:latin typeface="Georgia" panose="02040502050405020303" pitchFamily="18" charset="0"/>
              </a:rPr>
              <a:t>Significant</a:t>
            </a:r>
            <a:r>
              <a:rPr lang="en-NG" sz="1800" dirty="0">
                <a:latin typeface="Georgia" panose="02040502050405020303" pitchFamily="18" charset="0"/>
              </a:rPr>
              <a:t> reforms have been introduced over the years to make the process of attaining the rank of Senior Advocate of Nigeria (SAN) more transparent</a:t>
            </a:r>
            <a:r>
              <a:rPr lang="en-US" sz="1800" dirty="0">
                <a:latin typeface="Georgia" panose="02040502050405020303" pitchFamily="18" charset="0"/>
              </a:rPr>
              <a:t> and credible.</a:t>
            </a:r>
            <a:endParaRPr lang="en-NG" dirty="0">
              <a:latin typeface="Georgia" panose="02040502050405020303" pitchFamily="18" charset="0"/>
            </a:endParaRPr>
          </a:p>
        </p:txBody>
      </p:sp>
      <p:pic>
        <p:nvPicPr>
          <p:cNvPr id="8194" name="Picture 2">
            <a:extLst>
              <a:ext uri="{FF2B5EF4-FFF2-40B4-BE49-F238E27FC236}">
                <a16:creationId xmlns:a16="http://schemas.microsoft.com/office/drawing/2014/main" id="{D84FEAB6-879B-B2F1-9EB7-E9B49E426279}"/>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l="431" r="431"/>
          <a:stretch/>
        </p:blipFill>
        <p:spPr bwMode="auto">
          <a:xfrm>
            <a:off x="6677388" y="1380241"/>
            <a:ext cx="5514612" cy="5562600"/>
          </a:xfrm>
          <a:custGeom>
            <a:avLst/>
            <a:gdLst/>
            <a:ahLst/>
            <a:cxnLst/>
            <a:rect l="l" t="t" r="r" b="b"/>
            <a:pathLst>
              <a:path w="6312802" h="6367736">
                <a:moveTo>
                  <a:pt x="789715" y="708127"/>
                </a:moveTo>
                <a:cubicBezTo>
                  <a:pt x="845978" y="711650"/>
                  <a:pt x="901296" y="724302"/>
                  <a:pt x="953475" y="745602"/>
                </a:cubicBezTo>
                <a:cubicBezTo>
                  <a:pt x="1173612" y="834890"/>
                  <a:pt x="1309905" y="1073925"/>
                  <a:pt x="1278834" y="1315681"/>
                </a:cubicBezTo>
                <a:cubicBezTo>
                  <a:pt x="1233750" y="1669869"/>
                  <a:pt x="880524" y="1881517"/>
                  <a:pt x="560369" y="1747304"/>
                </a:cubicBezTo>
                <a:cubicBezTo>
                  <a:pt x="338151" y="1654256"/>
                  <a:pt x="204742" y="1408974"/>
                  <a:pt x="242538" y="1164574"/>
                </a:cubicBezTo>
                <a:cubicBezTo>
                  <a:pt x="286421" y="880774"/>
                  <a:pt x="529219" y="692590"/>
                  <a:pt x="789715" y="708127"/>
                </a:cubicBezTo>
                <a:close/>
                <a:moveTo>
                  <a:pt x="2877121" y="364348"/>
                </a:moveTo>
                <a:cubicBezTo>
                  <a:pt x="2901561" y="365790"/>
                  <a:pt x="2925601" y="371235"/>
                  <a:pt x="2948310" y="380363"/>
                </a:cubicBezTo>
                <a:cubicBezTo>
                  <a:pt x="3044405" y="419202"/>
                  <a:pt x="3103503" y="523063"/>
                  <a:pt x="3089970" y="628607"/>
                </a:cubicBezTo>
                <a:cubicBezTo>
                  <a:pt x="3070190" y="782758"/>
                  <a:pt x="2916600" y="874848"/>
                  <a:pt x="2777343" y="816472"/>
                </a:cubicBezTo>
                <a:cubicBezTo>
                  <a:pt x="2680608" y="775952"/>
                  <a:pt x="2622552" y="669287"/>
                  <a:pt x="2639048" y="562863"/>
                </a:cubicBezTo>
                <a:cubicBezTo>
                  <a:pt x="2658106" y="439382"/>
                  <a:pt x="2763810" y="357542"/>
                  <a:pt x="2877121" y="364348"/>
                </a:cubicBezTo>
                <a:close/>
                <a:moveTo>
                  <a:pt x="5725514" y="29060"/>
                </a:moveTo>
                <a:lnTo>
                  <a:pt x="5748657" y="29701"/>
                </a:lnTo>
                <a:cubicBezTo>
                  <a:pt x="5935681" y="36387"/>
                  <a:pt x="6081789" y="65616"/>
                  <a:pt x="6194082" y="113315"/>
                </a:cubicBezTo>
                <a:lnTo>
                  <a:pt x="6312802" y="183322"/>
                </a:lnTo>
                <a:lnTo>
                  <a:pt x="6312802" y="6367736"/>
                </a:lnTo>
                <a:lnTo>
                  <a:pt x="3171877" y="6367736"/>
                </a:lnTo>
                <a:lnTo>
                  <a:pt x="3171635" y="6367591"/>
                </a:lnTo>
                <a:lnTo>
                  <a:pt x="2683232" y="6367591"/>
                </a:lnTo>
                <a:lnTo>
                  <a:pt x="2683031" y="6367736"/>
                </a:lnTo>
                <a:lnTo>
                  <a:pt x="1006759" y="6367736"/>
                </a:lnTo>
                <a:lnTo>
                  <a:pt x="1017798" y="6253705"/>
                </a:lnTo>
                <a:cubicBezTo>
                  <a:pt x="1043303" y="6019815"/>
                  <a:pt x="1065826" y="5776617"/>
                  <a:pt x="897420" y="5565130"/>
                </a:cubicBezTo>
                <a:cubicBezTo>
                  <a:pt x="700507" y="5318087"/>
                  <a:pt x="491822" y="5428997"/>
                  <a:pt x="271526" y="5130943"/>
                </a:cubicBezTo>
                <a:cubicBezTo>
                  <a:pt x="108646" y="4910648"/>
                  <a:pt x="-26366" y="4708290"/>
                  <a:pt x="39940" y="4415201"/>
                </a:cubicBezTo>
                <a:cubicBezTo>
                  <a:pt x="128666" y="4023216"/>
                  <a:pt x="467878" y="3870268"/>
                  <a:pt x="464356" y="3587268"/>
                </a:cubicBezTo>
                <a:cubicBezTo>
                  <a:pt x="460351" y="3247094"/>
                  <a:pt x="43943" y="3178950"/>
                  <a:pt x="3183" y="2791128"/>
                </a:cubicBezTo>
                <a:cubicBezTo>
                  <a:pt x="-23403" y="2538162"/>
                  <a:pt x="118896" y="2235225"/>
                  <a:pt x="343758" y="2095087"/>
                </a:cubicBezTo>
                <a:cubicBezTo>
                  <a:pt x="758163" y="1836512"/>
                  <a:pt x="1225342" y="2272862"/>
                  <a:pt x="1543093" y="2013487"/>
                </a:cubicBezTo>
                <a:cubicBezTo>
                  <a:pt x="1732879" y="1858534"/>
                  <a:pt x="1763790" y="1542064"/>
                  <a:pt x="1726873" y="1342749"/>
                </a:cubicBezTo>
                <a:cubicBezTo>
                  <a:pt x="1656484" y="963255"/>
                  <a:pt x="1345299" y="901114"/>
                  <a:pt x="1356831" y="612032"/>
                </a:cubicBezTo>
                <a:cubicBezTo>
                  <a:pt x="1365319" y="397180"/>
                  <a:pt x="1547578" y="171600"/>
                  <a:pt x="1773239" y="121551"/>
                </a:cubicBezTo>
                <a:cubicBezTo>
                  <a:pt x="1804789" y="114503"/>
                  <a:pt x="1837013" y="110980"/>
                  <a:pt x="1869333" y="110980"/>
                </a:cubicBezTo>
                <a:cubicBezTo>
                  <a:pt x="2087466" y="110980"/>
                  <a:pt x="2259155" y="271137"/>
                  <a:pt x="2312167" y="320866"/>
                </a:cubicBezTo>
                <a:cubicBezTo>
                  <a:pt x="2563133" y="555255"/>
                  <a:pt x="2364538" y="842498"/>
                  <a:pt x="2568899" y="1194363"/>
                </a:cubicBezTo>
                <a:cubicBezTo>
                  <a:pt x="2600650" y="1246494"/>
                  <a:pt x="2637078" y="1295662"/>
                  <a:pt x="2677726" y="1341226"/>
                </a:cubicBezTo>
                <a:cubicBezTo>
                  <a:pt x="2757804" y="1432276"/>
                  <a:pt x="2906990" y="1416261"/>
                  <a:pt x="2964327" y="1310316"/>
                </a:cubicBezTo>
                <a:cubicBezTo>
                  <a:pt x="3059059" y="1135183"/>
                  <a:pt x="3149628" y="938831"/>
                  <a:pt x="3333248" y="887741"/>
                </a:cubicBezTo>
                <a:cubicBezTo>
                  <a:pt x="3690239" y="788365"/>
                  <a:pt x="3902767" y="1378543"/>
                  <a:pt x="4272730" y="1307994"/>
                </a:cubicBezTo>
                <a:cubicBezTo>
                  <a:pt x="4426320" y="1278686"/>
                  <a:pt x="4515368" y="1152802"/>
                  <a:pt x="4596327" y="996810"/>
                </a:cubicBezTo>
                <a:cubicBezTo>
                  <a:pt x="4618829" y="953326"/>
                  <a:pt x="4640770" y="907521"/>
                  <a:pt x="4663272" y="860676"/>
                </a:cubicBezTo>
                <a:cubicBezTo>
                  <a:pt x="4732781" y="613153"/>
                  <a:pt x="4835282" y="115946"/>
                  <a:pt x="5572324" y="40189"/>
                </a:cubicBezTo>
                <a:cubicBezTo>
                  <a:pt x="5622910" y="31543"/>
                  <a:pt x="5674208" y="27859"/>
                  <a:pt x="5725514" y="29060"/>
                </a:cubicBezTo>
                <a:close/>
                <a:moveTo>
                  <a:pt x="4169348" y="793"/>
                </a:moveTo>
                <a:cubicBezTo>
                  <a:pt x="4219966" y="3995"/>
                  <a:pt x="4269734" y="15368"/>
                  <a:pt x="4316693" y="34505"/>
                </a:cubicBezTo>
                <a:cubicBezTo>
                  <a:pt x="4514808" y="114584"/>
                  <a:pt x="4637488" y="329676"/>
                  <a:pt x="4609540" y="547569"/>
                </a:cubicBezTo>
                <a:cubicBezTo>
                  <a:pt x="4568620" y="865801"/>
                  <a:pt x="4251108" y="1055907"/>
                  <a:pt x="3962986" y="935790"/>
                </a:cubicBezTo>
                <a:cubicBezTo>
                  <a:pt x="3762790" y="852028"/>
                  <a:pt x="3642672" y="631491"/>
                  <a:pt x="3676946" y="411355"/>
                </a:cubicBezTo>
                <a:cubicBezTo>
                  <a:pt x="3716424" y="155985"/>
                  <a:pt x="3934959" y="-13061"/>
                  <a:pt x="4169348" y="793"/>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88543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3" name="Background Fill">
            <a:extLst>
              <a:ext uri="{FF2B5EF4-FFF2-40B4-BE49-F238E27FC236}">
                <a16:creationId xmlns:a16="http://schemas.microsoft.com/office/drawing/2014/main" id="{B937640E-EF7A-4A6C-A950-D12B7D5C92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6ADA084-C86B-4F3C-8077-6A8999CC46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 name="Title 1">
            <a:extLst>
              <a:ext uri="{FF2B5EF4-FFF2-40B4-BE49-F238E27FC236}">
                <a16:creationId xmlns:a16="http://schemas.microsoft.com/office/drawing/2014/main" id="{674D36DC-3E13-B1A9-BA8C-DE4D5F10F4AC}"/>
              </a:ext>
            </a:extLst>
          </p:cNvPr>
          <p:cNvSpPr>
            <a:spLocks noGrp="1"/>
          </p:cNvSpPr>
          <p:nvPr>
            <p:ph type="title"/>
          </p:nvPr>
        </p:nvSpPr>
        <p:spPr>
          <a:xfrm>
            <a:off x="5625146" y="818175"/>
            <a:ext cx="5869178" cy="1040861"/>
          </a:xfrm>
        </p:spPr>
        <p:txBody>
          <a:bodyPr>
            <a:normAutofit fontScale="90000"/>
          </a:bodyPr>
          <a:lstStyle/>
          <a:p>
            <a:r>
              <a:rPr lang="en-US" sz="4000" b="1" dirty="0">
                <a:latin typeface="Georgia" panose="02040502050405020303" pitchFamily="18" charset="0"/>
              </a:rPr>
              <a:t>The Future of the Rank of SAN</a:t>
            </a:r>
            <a:endParaRPr lang="en-GB" sz="4000" b="1" dirty="0">
              <a:latin typeface="Georgia" panose="02040502050405020303" pitchFamily="18" charset="0"/>
            </a:endParaRPr>
          </a:p>
        </p:txBody>
      </p:sp>
      <p:pic>
        <p:nvPicPr>
          <p:cNvPr id="15" name="Picture 14">
            <a:extLst>
              <a:ext uri="{FF2B5EF4-FFF2-40B4-BE49-F238E27FC236}">
                <a16:creationId xmlns:a16="http://schemas.microsoft.com/office/drawing/2014/main" id="{B6710D91-E02C-C4C7-A154-F14925666155}"/>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t="9969" b="9969"/>
          <a:stretch/>
        </p:blipFill>
        <p:spPr>
          <a:xfrm>
            <a:off x="20" y="10"/>
            <a:ext cx="5710632" cy="6857990"/>
          </a:xfrm>
          <a:custGeom>
            <a:avLst/>
            <a:gdLst/>
            <a:ahLst/>
            <a:cxnLst/>
            <a:rect l="l" t="t" r="r" b="b"/>
            <a:pathLst>
              <a:path w="5710652" h="6858000">
                <a:moveTo>
                  <a:pt x="4831301" y="0"/>
                </a:moveTo>
                <a:lnTo>
                  <a:pt x="5696109" y="0"/>
                </a:lnTo>
                <a:lnTo>
                  <a:pt x="5706418" y="42969"/>
                </a:lnTo>
                <a:cubicBezTo>
                  <a:pt x="5714414" y="100391"/>
                  <a:pt x="5711283" y="160329"/>
                  <a:pt x="5695333" y="219852"/>
                </a:cubicBezTo>
                <a:cubicBezTo>
                  <a:pt x="5631536" y="457945"/>
                  <a:pt x="5386806" y="599240"/>
                  <a:pt x="5148712" y="535443"/>
                </a:cubicBezTo>
                <a:cubicBezTo>
                  <a:pt x="4940381" y="479621"/>
                  <a:pt x="4806160" y="285271"/>
                  <a:pt x="4818599" y="78052"/>
                </a:cubicBezTo>
                <a:close/>
                <a:moveTo>
                  <a:pt x="0" y="0"/>
                </a:moveTo>
                <a:lnTo>
                  <a:pt x="545808" y="0"/>
                </a:lnTo>
                <a:lnTo>
                  <a:pt x="4212872" y="0"/>
                </a:lnTo>
                <a:lnTo>
                  <a:pt x="4204748" y="184996"/>
                </a:lnTo>
                <a:cubicBezTo>
                  <a:pt x="4203390" y="263520"/>
                  <a:pt x="4204263" y="341910"/>
                  <a:pt x="4207775" y="419995"/>
                </a:cubicBezTo>
                <a:cubicBezTo>
                  <a:pt x="4220964" y="709488"/>
                  <a:pt x="4449625" y="891535"/>
                  <a:pt x="4655737" y="1068099"/>
                </a:cubicBezTo>
                <a:cubicBezTo>
                  <a:pt x="5169527" y="1508061"/>
                  <a:pt x="5344373" y="2032158"/>
                  <a:pt x="5103604" y="2589405"/>
                </a:cubicBezTo>
                <a:cubicBezTo>
                  <a:pt x="5010230" y="2805523"/>
                  <a:pt x="4828675" y="2993264"/>
                  <a:pt x="4657611" y="3164269"/>
                </a:cubicBezTo>
                <a:cubicBezTo>
                  <a:pt x="4198817" y="3622744"/>
                  <a:pt x="4217616" y="4154456"/>
                  <a:pt x="4499219" y="4641255"/>
                </a:cubicBezTo>
                <a:cubicBezTo>
                  <a:pt x="4699839" y="4986832"/>
                  <a:pt x="4940395" y="5311556"/>
                  <a:pt x="5110950" y="5670858"/>
                </a:cubicBezTo>
                <a:cubicBezTo>
                  <a:pt x="5277001" y="6019042"/>
                  <a:pt x="5375520" y="6366409"/>
                  <a:pt x="5396522" y="6707670"/>
                </a:cubicBezTo>
                <a:lnTo>
                  <a:pt x="5398895" y="6858000"/>
                </a:lnTo>
                <a:lnTo>
                  <a:pt x="0" y="6858000"/>
                </a:lnTo>
                <a:close/>
              </a:path>
            </a:pathLst>
          </a:custGeom>
        </p:spPr>
      </p:pic>
      <p:sp>
        <p:nvSpPr>
          <p:cNvPr id="3" name="Content Placeholder 2">
            <a:extLst>
              <a:ext uri="{FF2B5EF4-FFF2-40B4-BE49-F238E27FC236}">
                <a16:creationId xmlns:a16="http://schemas.microsoft.com/office/drawing/2014/main" id="{59C2B054-ABED-BF4E-BC66-4CAD683CAFCD}"/>
              </a:ext>
            </a:extLst>
          </p:cNvPr>
          <p:cNvSpPr>
            <a:spLocks noGrp="1"/>
          </p:cNvSpPr>
          <p:nvPr>
            <p:ph idx="1"/>
          </p:nvPr>
        </p:nvSpPr>
        <p:spPr>
          <a:xfrm>
            <a:off x="5625146" y="2192323"/>
            <a:ext cx="6082482" cy="3811960"/>
          </a:xfrm>
        </p:spPr>
        <p:txBody>
          <a:bodyPr anchor="t">
            <a:noAutofit/>
          </a:bodyPr>
          <a:lstStyle/>
          <a:p>
            <a:r>
              <a:rPr lang="en-NG" dirty="0">
                <a:latin typeface="Georgia" panose="02040502050405020303" pitchFamily="18" charset="0"/>
              </a:rPr>
              <a:t>Four key areas stand out in envisioning the future of the rank.</a:t>
            </a:r>
          </a:p>
          <a:p>
            <a:pPr marL="342900" lvl="0" indent="-342900">
              <a:buClr>
                <a:schemeClr val="tx1"/>
              </a:buClr>
              <a:buFont typeface="Wingdings" panose="05000000000000000000" pitchFamily="2" charset="2"/>
              <a:buChar char="§"/>
            </a:pPr>
            <a:r>
              <a:rPr lang="en-NG" b="1" dirty="0">
                <a:latin typeface="Georgia" panose="02040502050405020303" pitchFamily="18" charset="0"/>
              </a:rPr>
              <a:t>Sustaining Excellence and Integrity</a:t>
            </a:r>
            <a:endParaRPr lang="en-US" dirty="0">
              <a:latin typeface="Georgia" panose="02040502050405020303" pitchFamily="18" charset="0"/>
            </a:endParaRPr>
          </a:p>
          <a:p>
            <a:pPr marL="342900" lvl="0" indent="-342900">
              <a:buClr>
                <a:schemeClr val="tx1"/>
              </a:buClr>
              <a:buFont typeface="Wingdings" panose="05000000000000000000" pitchFamily="2" charset="2"/>
              <a:buChar char="§"/>
            </a:pPr>
            <a:r>
              <a:rPr lang="en-NG" b="1" dirty="0">
                <a:latin typeface="Georgia" panose="02040502050405020303" pitchFamily="18" charset="0"/>
              </a:rPr>
              <a:t>Strengthening Mentorship Obligations</a:t>
            </a:r>
            <a:endParaRPr lang="en-US" dirty="0">
              <a:latin typeface="Georgia" panose="02040502050405020303" pitchFamily="18" charset="0"/>
            </a:endParaRPr>
          </a:p>
          <a:p>
            <a:pPr marL="342900" lvl="0" indent="-342900">
              <a:buClr>
                <a:schemeClr val="tx1"/>
              </a:buClr>
              <a:buFont typeface="Wingdings" panose="05000000000000000000" pitchFamily="2" charset="2"/>
              <a:buChar char="§"/>
            </a:pPr>
            <a:r>
              <a:rPr lang="en-NG" b="1" dirty="0">
                <a:latin typeface="Georgia" panose="02040502050405020303" pitchFamily="18" charset="0"/>
              </a:rPr>
              <a:t>Promoting Diversity</a:t>
            </a:r>
            <a:endParaRPr lang="en-US" dirty="0">
              <a:latin typeface="Georgia" panose="02040502050405020303" pitchFamily="18" charset="0"/>
            </a:endParaRPr>
          </a:p>
          <a:p>
            <a:pPr marL="342900" lvl="0" indent="-342900">
              <a:buClr>
                <a:schemeClr val="tx1"/>
              </a:buClr>
              <a:buFont typeface="Wingdings" panose="05000000000000000000" pitchFamily="2" charset="2"/>
              <a:buChar char="§"/>
            </a:pPr>
            <a:r>
              <a:rPr lang="en-NG" b="1" dirty="0">
                <a:latin typeface="Georgia" panose="02040502050405020303" pitchFamily="18" charset="0"/>
              </a:rPr>
              <a:t>Adapting to Changes in Legal Practice</a:t>
            </a:r>
            <a:endParaRPr lang="en-NG" dirty="0">
              <a:latin typeface="Georgia" panose="02040502050405020303" pitchFamily="18" charset="0"/>
            </a:endParaRPr>
          </a:p>
        </p:txBody>
      </p:sp>
    </p:spTree>
    <p:extLst>
      <p:ext uri="{BB962C8B-B14F-4D97-AF65-F5344CB8AC3E}">
        <p14:creationId xmlns:p14="http://schemas.microsoft.com/office/powerpoint/2010/main" val="6137237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6" name="Background Fill">
            <a:extLst>
              <a:ext uri="{FF2B5EF4-FFF2-40B4-BE49-F238E27FC236}">
                <a16:creationId xmlns:a16="http://schemas.microsoft.com/office/drawing/2014/main" id="{B937640E-EF7A-4A6C-A950-D12B7D5C92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6ADA084-C86B-4F3C-8077-6A8999CC46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 name="Title 1">
            <a:extLst>
              <a:ext uri="{FF2B5EF4-FFF2-40B4-BE49-F238E27FC236}">
                <a16:creationId xmlns:a16="http://schemas.microsoft.com/office/drawing/2014/main" id="{34CA842B-2923-7FAC-149E-35F42CD4DEB2}"/>
              </a:ext>
            </a:extLst>
          </p:cNvPr>
          <p:cNvSpPr>
            <a:spLocks noGrp="1"/>
          </p:cNvSpPr>
          <p:nvPr>
            <p:ph type="title"/>
          </p:nvPr>
        </p:nvSpPr>
        <p:spPr>
          <a:xfrm>
            <a:off x="337684" y="5730291"/>
            <a:ext cx="5214704" cy="787138"/>
          </a:xfrm>
        </p:spPr>
        <p:txBody>
          <a:bodyPr>
            <a:noAutofit/>
          </a:bodyPr>
          <a:lstStyle/>
          <a:p>
            <a:pPr>
              <a:lnSpc>
                <a:spcPct val="90000"/>
              </a:lnSpc>
            </a:pPr>
            <a:r>
              <a:rPr lang="en-GB" sz="3200" b="1" dirty="0">
                <a:latin typeface="Georgia" panose="02040502050405020303" pitchFamily="18" charset="0"/>
              </a:rPr>
              <a:t>Core Attributes of a SAN</a:t>
            </a:r>
          </a:p>
        </p:txBody>
      </p:sp>
      <p:pic>
        <p:nvPicPr>
          <p:cNvPr id="5" name="Picture 4">
            <a:extLst>
              <a:ext uri="{FF2B5EF4-FFF2-40B4-BE49-F238E27FC236}">
                <a16:creationId xmlns:a16="http://schemas.microsoft.com/office/drawing/2014/main" id="{1C430B01-0C64-7BF2-C7E4-407D5C614933}"/>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t="20123" b="20123"/>
          <a:stretch/>
        </p:blipFill>
        <p:spPr>
          <a:xfrm>
            <a:off x="2" y="10"/>
            <a:ext cx="6164130" cy="5529421"/>
          </a:xfrm>
          <a:custGeom>
            <a:avLst/>
            <a:gdLst/>
            <a:ahLst/>
            <a:cxnLst/>
            <a:rect l="l" t="t" r="r" b="b"/>
            <a:pathLst>
              <a:path w="6972657" h="6356349">
                <a:moveTo>
                  <a:pt x="4162425" y="4810724"/>
                </a:moveTo>
                <a:cubicBezTo>
                  <a:pt x="4508954" y="4810724"/>
                  <a:pt x="4789872" y="5103559"/>
                  <a:pt x="4789872" y="5464789"/>
                </a:cubicBezTo>
                <a:cubicBezTo>
                  <a:pt x="4789872" y="5826019"/>
                  <a:pt x="4508954" y="6118855"/>
                  <a:pt x="4162425" y="6118855"/>
                </a:cubicBezTo>
                <a:cubicBezTo>
                  <a:pt x="3815896" y="6118855"/>
                  <a:pt x="3534978" y="5826019"/>
                  <a:pt x="3534978" y="5464789"/>
                </a:cubicBezTo>
                <a:cubicBezTo>
                  <a:pt x="3534978" y="5103559"/>
                  <a:pt x="3815896" y="4810724"/>
                  <a:pt x="4162425" y="4810724"/>
                </a:cubicBezTo>
                <a:close/>
                <a:moveTo>
                  <a:pt x="92101" y="4731176"/>
                </a:moveTo>
                <a:cubicBezTo>
                  <a:pt x="540880" y="4731176"/>
                  <a:pt x="904688" y="5094984"/>
                  <a:pt x="904688" y="5543763"/>
                </a:cubicBezTo>
                <a:cubicBezTo>
                  <a:pt x="904688" y="5964494"/>
                  <a:pt x="584935" y="6310542"/>
                  <a:pt x="175183" y="6352155"/>
                </a:cubicBezTo>
                <a:lnTo>
                  <a:pt x="92121" y="6356349"/>
                </a:lnTo>
                <a:lnTo>
                  <a:pt x="92081" y="6356349"/>
                </a:lnTo>
                <a:lnTo>
                  <a:pt x="9019" y="6352155"/>
                </a:lnTo>
                <a:lnTo>
                  <a:pt x="4079" y="6351401"/>
                </a:lnTo>
                <a:lnTo>
                  <a:pt x="0" y="6352492"/>
                </a:lnTo>
                <a:lnTo>
                  <a:pt x="0" y="4736748"/>
                </a:lnTo>
                <a:lnTo>
                  <a:pt x="9019" y="4735372"/>
                </a:lnTo>
                <a:cubicBezTo>
                  <a:pt x="36336" y="4732597"/>
                  <a:pt x="64052" y="4731176"/>
                  <a:pt x="92101" y="4731176"/>
                </a:cubicBezTo>
                <a:close/>
                <a:moveTo>
                  <a:pt x="6385770" y="2098604"/>
                </a:moveTo>
                <a:cubicBezTo>
                  <a:pt x="6543907" y="2107100"/>
                  <a:pt x="6698935" y="2178483"/>
                  <a:pt x="6813407" y="2310776"/>
                </a:cubicBezTo>
                <a:cubicBezTo>
                  <a:pt x="7042252" y="2575278"/>
                  <a:pt x="7022052" y="2983098"/>
                  <a:pt x="6768322" y="3221698"/>
                </a:cubicBezTo>
                <a:cubicBezTo>
                  <a:pt x="6718815" y="3268040"/>
                  <a:pt x="6662527" y="3305861"/>
                  <a:pt x="6601629" y="3333787"/>
                </a:cubicBezTo>
                <a:cubicBezTo>
                  <a:pt x="6357584" y="3444872"/>
                  <a:pt x="6072796" y="3380857"/>
                  <a:pt x="5894479" y="3174765"/>
                </a:cubicBezTo>
                <a:cubicBezTo>
                  <a:pt x="5665537" y="2910180"/>
                  <a:pt x="5685739" y="2502359"/>
                  <a:pt x="5939476" y="2263752"/>
                </a:cubicBezTo>
                <a:cubicBezTo>
                  <a:pt x="6066385" y="2144498"/>
                  <a:pt x="6227633" y="2090107"/>
                  <a:pt x="6385770" y="2098604"/>
                </a:cubicBezTo>
                <a:close/>
                <a:moveTo>
                  <a:pt x="0" y="0"/>
                </a:moveTo>
                <a:lnTo>
                  <a:pt x="5609109" y="0"/>
                </a:lnTo>
                <a:lnTo>
                  <a:pt x="5710855" y="100163"/>
                </a:lnTo>
                <a:cubicBezTo>
                  <a:pt x="5940043" y="363896"/>
                  <a:pt x="6060564" y="781193"/>
                  <a:pt x="5983550" y="1133306"/>
                </a:cubicBezTo>
                <a:cubicBezTo>
                  <a:pt x="5820740" y="1874471"/>
                  <a:pt x="4868226" y="1916819"/>
                  <a:pt x="4807924" y="2551785"/>
                </a:cubicBezTo>
                <a:cubicBezTo>
                  <a:pt x="4772098" y="2931077"/>
                  <a:pt x="5073952" y="3310271"/>
                  <a:pt x="5323480" y="3486493"/>
                </a:cubicBezTo>
                <a:cubicBezTo>
                  <a:pt x="5798207" y="3822498"/>
                  <a:pt x="6190925" y="3545085"/>
                  <a:pt x="6484693" y="3873055"/>
                </a:cubicBezTo>
                <a:cubicBezTo>
                  <a:pt x="6702769" y="4116667"/>
                  <a:pt x="6749067" y="4564067"/>
                  <a:pt x="6564699" y="4869471"/>
                </a:cubicBezTo>
                <a:cubicBezTo>
                  <a:pt x="6538929" y="4912110"/>
                  <a:pt x="6508772" y="4951720"/>
                  <a:pt x="6474766" y="4987555"/>
                </a:cubicBezTo>
                <a:lnTo>
                  <a:pt x="6475634" y="4987552"/>
                </a:lnTo>
                <a:cubicBezTo>
                  <a:pt x="6246183" y="5229347"/>
                  <a:pt x="5896158" y="5245005"/>
                  <a:pt x="5787911" y="5249784"/>
                </a:cubicBezTo>
                <a:cubicBezTo>
                  <a:pt x="5276208" y="5272608"/>
                  <a:pt x="5181583" y="4739335"/>
                  <a:pt x="4594647" y="4582595"/>
                </a:cubicBezTo>
                <a:cubicBezTo>
                  <a:pt x="4553401" y="4571414"/>
                  <a:pt x="4047262" y="4444111"/>
                  <a:pt x="3576692" y="4689896"/>
                </a:cubicBezTo>
                <a:cubicBezTo>
                  <a:pt x="2903508" y="5041365"/>
                  <a:pt x="3035835" y="5772616"/>
                  <a:pt x="2439534" y="6019748"/>
                </a:cubicBezTo>
                <a:cubicBezTo>
                  <a:pt x="2062607" y="6175963"/>
                  <a:pt x="1545662" y="6076257"/>
                  <a:pt x="1262869" y="5786450"/>
                </a:cubicBezTo>
                <a:cubicBezTo>
                  <a:pt x="864056" y="5377550"/>
                  <a:pt x="1125562" y="4799418"/>
                  <a:pt x="734842" y="4526254"/>
                </a:cubicBezTo>
                <a:cubicBezTo>
                  <a:pt x="506361" y="4366061"/>
                  <a:pt x="192715" y="4446641"/>
                  <a:pt x="19856" y="4511293"/>
                </a:cubicBezTo>
                <a:lnTo>
                  <a:pt x="0" y="4519330"/>
                </a:lnTo>
                <a:close/>
              </a:path>
            </a:pathLst>
          </a:custGeom>
        </p:spPr>
      </p:pic>
      <p:sp>
        <p:nvSpPr>
          <p:cNvPr id="3" name="Content Placeholder 2">
            <a:extLst>
              <a:ext uri="{FF2B5EF4-FFF2-40B4-BE49-F238E27FC236}">
                <a16:creationId xmlns:a16="http://schemas.microsoft.com/office/drawing/2014/main" id="{2D29F983-1977-494E-524F-CFFEE2BA2A9B}"/>
              </a:ext>
            </a:extLst>
          </p:cNvPr>
          <p:cNvSpPr>
            <a:spLocks noGrp="1"/>
          </p:cNvSpPr>
          <p:nvPr>
            <p:ph idx="1"/>
          </p:nvPr>
        </p:nvSpPr>
        <p:spPr>
          <a:xfrm>
            <a:off x="5885699" y="576708"/>
            <a:ext cx="5969942" cy="5940721"/>
          </a:xfrm>
        </p:spPr>
        <p:txBody>
          <a:bodyPr>
            <a:noAutofit/>
          </a:bodyPr>
          <a:lstStyle/>
          <a:p>
            <a:pPr marL="457200" lvl="0" indent="-457200">
              <a:buClr>
                <a:schemeClr val="tx2">
                  <a:lumMod val="50000"/>
                </a:schemeClr>
              </a:buClr>
              <a:buFont typeface="+mj-lt"/>
              <a:buAutoNum type="arabicPeriod"/>
            </a:pPr>
            <a:r>
              <a:rPr lang="en-NG" sz="2100" b="1" dirty="0"/>
              <a:t>Integrity</a:t>
            </a:r>
            <a:endParaRPr lang="en-US" sz="2100" dirty="0"/>
          </a:p>
          <a:p>
            <a:pPr marL="457200" lvl="0" indent="-457200">
              <a:buClr>
                <a:schemeClr val="tx2">
                  <a:lumMod val="50000"/>
                </a:schemeClr>
              </a:buClr>
              <a:buFont typeface="+mj-lt"/>
              <a:buAutoNum type="arabicPeriod"/>
            </a:pPr>
            <a:r>
              <a:rPr lang="en-NG" sz="2100" b="1" dirty="0"/>
              <a:t>Honesty</a:t>
            </a:r>
            <a:endParaRPr lang="en-US" sz="2100" dirty="0"/>
          </a:p>
          <a:p>
            <a:pPr marL="457200" lvl="0" indent="-457200">
              <a:buClr>
                <a:schemeClr val="tx2">
                  <a:lumMod val="50000"/>
                </a:schemeClr>
              </a:buClr>
              <a:buFont typeface="+mj-lt"/>
              <a:buAutoNum type="arabicPeriod"/>
            </a:pPr>
            <a:r>
              <a:rPr lang="en-NG" sz="2100" b="1" dirty="0"/>
              <a:t>Loyalty to the Profession</a:t>
            </a:r>
            <a:endParaRPr lang="en-US" sz="2100" dirty="0"/>
          </a:p>
          <a:p>
            <a:pPr marL="457200" lvl="0" indent="-457200">
              <a:buClr>
                <a:schemeClr val="tx2">
                  <a:lumMod val="50000"/>
                </a:schemeClr>
              </a:buClr>
              <a:buFont typeface="+mj-lt"/>
              <a:buAutoNum type="arabicPeriod"/>
            </a:pPr>
            <a:r>
              <a:rPr lang="en-NG" sz="2100" b="1" dirty="0"/>
              <a:t>Respect</a:t>
            </a:r>
            <a:endParaRPr lang="en-US" sz="2100" dirty="0"/>
          </a:p>
          <a:p>
            <a:pPr marL="457200" lvl="0" indent="-457200">
              <a:buClr>
                <a:schemeClr val="tx2">
                  <a:lumMod val="50000"/>
                </a:schemeClr>
              </a:buClr>
              <a:buFont typeface="+mj-lt"/>
              <a:buAutoNum type="arabicPeriod"/>
            </a:pPr>
            <a:r>
              <a:rPr lang="en-NG" sz="2100" b="1" dirty="0"/>
              <a:t>Humility</a:t>
            </a:r>
            <a:endParaRPr lang="en-US" sz="2100" dirty="0"/>
          </a:p>
          <a:p>
            <a:pPr marL="457200" lvl="0" indent="-457200">
              <a:buClr>
                <a:schemeClr val="tx2">
                  <a:lumMod val="50000"/>
                </a:schemeClr>
              </a:buClr>
              <a:buFont typeface="+mj-lt"/>
              <a:buAutoNum type="arabicPeriod"/>
            </a:pPr>
            <a:r>
              <a:rPr lang="en-NG" sz="2100" b="1" dirty="0"/>
              <a:t>Candor</a:t>
            </a:r>
            <a:endParaRPr lang="en-US" sz="2100" dirty="0"/>
          </a:p>
          <a:p>
            <a:pPr marL="457200" lvl="0" indent="-457200">
              <a:buClr>
                <a:schemeClr val="tx2">
                  <a:lumMod val="50000"/>
                </a:schemeClr>
              </a:buClr>
              <a:buFont typeface="+mj-lt"/>
              <a:buAutoNum type="arabicPeriod"/>
            </a:pPr>
            <a:r>
              <a:rPr lang="en-NG" sz="2100" b="1" dirty="0"/>
              <a:t>Knowledge</a:t>
            </a:r>
            <a:endParaRPr lang="en-US" sz="2100" dirty="0"/>
          </a:p>
          <a:p>
            <a:pPr marL="457200" lvl="0" indent="-457200">
              <a:buClr>
                <a:schemeClr val="tx2">
                  <a:lumMod val="50000"/>
                </a:schemeClr>
              </a:buClr>
              <a:buFont typeface="+mj-lt"/>
              <a:buAutoNum type="arabicPeriod"/>
            </a:pPr>
            <a:r>
              <a:rPr lang="en-NG" sz="2100" b="1" dirty="0"/>
              <a:t>Fiduciary Openness</a:t>
            </a:r>
            <a:endParaRPr lang="en-US" sz="2100" dirty="0"/>
          </a:p>
          <a:p>
            <a:pPr marL="457200" lvl="0" indent="-457200">
              <a:buClr>
                <a:schemeClr val="tx2">
                  <a:lumMod val="50000"/>
                </a:schemeClr>
              </a:buClr>
              <a:buFont typeface="+mj-lt"/>
              <a:buAutoNum type="arabicPeriod"/>
            </a:pPr>
            <a:r>
              <a:rPr lang="en-NG" sz="2100" b="1" dirty="0"/>
              <a:t>Competence</a:t>
            </a:r>
            <a:endParaRPr lang="en-US" sz="2100" dirty="0"/>
          </a:p>
          <a:p>
            <a:pPr marL="457200" lvl="0" indent="-457200">
              <a:buClr>
                <a:schemeClr val="tx2">
                  <a:lumMod val="50000"/>
                </a:schemeClr>
              </a:buClr>
              <a:buFont typeface="+mj-lt"/>
              <a:buAutoNum type="arabicPeriod"/>
            </a:pPr>
            <a:r>
              <a:rPr lang="en-NG" sz="2100" b="1" dirty="0"/>
              <a:t>Personal Conduct (Private and Public)</a:t>
            </a:r>
            <a:endParaRPr lang="en-US" sz="2100" dirty="0"/>
          </a:p>
          <a:p>
            <a:pPr marL="457200" lvl="0" indent="-457200">
              <a:buClr>
                <a:schemeClr val="tx2">
                  <a:lumMod val="50000"/>
                </a:schemeClr>
              </a:buClr>
              <a:buFont typeface="+mj-lt"/>
              <a:buAutoNum type="arabicPeriod"/>
            </a:pPr>
            <a:r>
              <a:rPr lang="en-NG" sz="2100" b="1" dirty="0"/>
              <a:t>Respect for Seniority</a:t>
            </a:r>
            <a:endParaRPr lang="en-US" sz="2100" dirty="0"/>
          </a:p>
          <a:p>
            <a:pPr marL="457200" lvl="0" indent="-457200">
              <a:buClr>
                <a:schemeClr val="tx2">
                  <a:lumMod val="50000"/>
                </a:schemeClr>
              </a:buClr>
              <a:buFont typeface="+mj-lt"/>
              <a:buAutoNum type="arabicPeriod"/>
            </a:pPr>
            <a:r>
              <a:rPr lang="en-NG" sz="2100" b="1" dirty="0"/>
              <a:t>Probity</a:t>
            </a:r>
            <a:endParaRPr lang="en-NG" sz="2100" dirty="0"/>
          </a:p>
        </p:txBody>
      </p:sp>
    </p:spTree>
    <p:extLst>
      <p:ext uri="{BB962C8B-B14F-4D97-AF65-F5344CB8AC3E}">
        <p14:creationId xmlns:p14="http://schemas.microsoft.com/office/powerpoint/2010/main" val="2197404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63BBA-DFC7-B016-CD15-3024078851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015236-D702-20C6-9059-DF1A170865EE}"/>
              </a:ext>
            </a:extLst>
          </p:cNvPr>
          <p:cNvSpPr>
            <a:spLocks noGrp="1"/>
          </p:cNvSpPr>
          <p:nvPr>
            <p:ph type="title"/>
          </p:nvPr>
        </p:nvSpPr>
        <p:spPr>
          <a:xfrm>
            <a:off x="797863" y="612742"/>
            <a:ext cx="10768826" cy="838313"/>
          </a:xfrm>
        </p:spPr>
        <p:txBody>
          <a:bodyPr>
            <a:noAutofit/>
          </a:bodyPr>
          <a:lstStyle/>
          <a:p>
            <a:r>
              <a:rPr lang="en-NG" sz="3200" b="1" dirty="0">
                <a:latin typeface="Georgia" panose="02040502050405020303" pitchFamily="18" charset="0"/>
              </a:rPr>
              <a:t>A charge to the new senior advocates of </a:t>
            </a:r>
            <a:r>
              <a:rPr lang="en-US" sz="3200" b="1" dirty="0">
                <a:latin typeface="Georgia" panose="02040502050405020303" pitchFamily="18" charset="0"/>
              </a:rPr>
              <a:t>Nigeria</a:t>
            </a:r>
            <a:endParaRPr lang="en-NG" sz="3200" dirty="0">
              <a:latin typeface="Georgia" panose="02040502050405020303" pitchFamily="18" charset="0"/>
            </a:endParaRPr>
          </a:p>
        </p:txBody>
      </p:sp>
      <p:graphicFrame>
        <p:nvGraphicFramePr>
          <p:cNvPr id="5" name="Content Placeholder 2">
            <a:extLst>
              <a:ext uri="{FF2B5EF4-FFF2-40B4-BE49-F238E27FC236}">
                <a16:creationId xmlns:a16="http://schemas.microsoft.com/office/drawing/2014/main" id="{29D0CBC2-D63F-6C90-CC74-BFC8B82FAD47}"/>
              </a:ext>
            </a:extLst>
          </p:cNvPr>
          <p:cNvGraphicFramePr>
            <a:graphicFrameLocks noGrp="1"/>
          </p:cNvGraphicFramePr>
          <p:nvPr>
            <p:ph idx="1"/>
            <p:extLst>
              <p:ext uri="{D42A27DB-BD31-4B8C-83A1-F6EECF244321}">
                <p14:modId xmlns:p14="http://schemas.microsoft.com/office/powerpoint/2010/main" val="2884359707"/>
              </p:ext>
            </p:extLst>
          </p:nvPr>
        </p:nvGraphicFramePr>
        <p:xfrm>
          <a:off x="543339" y="1208785"/>
          <a:ext cx="11105322" cy="52246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49736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2517C-28CB-9796-2A75-E5BB8EDFBE30}"/>
            </a:ext>
          </a:extLst>
        </p:cNvPr>
        <p:cNvGrpSpPr/>
        <p:nvPr/>
      </p:nvGrpSpPr>
      <p:grpSpPr>
        <a:xfrm>
          <a:off x="0" y="0"/>
          <a:ext cx="0" cy="0"/>
          <a:chOff x="0" y="0"/>
          <a:chExt cx="0" cy="0"/>
        </a:xfrm>
      </p:grpSpPr>
      <p:sp useBgFill="1">
        <p:nvSpPr>
          <p:cNvPr id="8199" name="Background Fill">
            <a:extLst>
              <a:ext uri="{FF2B5EF4-FFF2-40B4-BE49-F238E27FC236}">
                <a16:creationId xmlns:a16="http://schemas.microsoft.com/office/drawing/2014/main" id="{7F9C62BE-7269-663C-9332-E133E6CFE0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01" name="Rectangle 8200">
            <a:extLst>
              <a:ext uri="{FF2B5EF4-FFF2-40B4-BE49-F238E27FC236}">
                <a16:creationId xmlns:a16="http://schemas.microsoft.com/office/drawing/2014/main" id="{88AF48BF-B88A-AA46-A56F-4A66E11834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 name="Title 1">
            <a:extLst>
              <a:ext uri="{FF2B5EF4-FFF2-40B4-BE49-F238E27FC236}">
                <a16:creationId xmlns:a16="http://schemas.microsoft.com/office/drawing/2014/main" id="{B3E381B7-42F5-983B-410B-0142023B914E}"/>
              </a:ext>
            </a:extLst>
          </p:cNvPr>
          <p:cNvSpPr>
            <a:spLocks noGrp="1"/>
          </p:cNvSpPr>
          <p:nvPr>
            <p:ph type="title"/>
          </p:nvPr>
        </p:nvSpPr>
        <p:spPr>
          <a:xfrm>
            <a:off x="7029939" y="15889"/>
            <a:ext cx="5320747" cy="825444"/>
          </a:xfrm>
        </p:spPr>
        <p:txBody>
          <a:bodyPr>
            <a:noAutofit/>
          </a:bodyPr>
          <a:lstStyle/>
          <a:p>
            <a:pPr>
              <a:lnSpc>
                <a:spcPct val="90000"/>
              </a:lnSpc>
            </a:pPr>
            <a:r>
              <a:rPr lang="en-GB" sz="4000" b="1" dirty="0">
                <a:latin typeface="Georgia" panose="02040502050405020303" pitchFamily="18" charset="0"/>
              </a:rPr>
              <a:t>CONCLUSION</a:t>
            </a:r>
          </a:p>
        </p:txBody>
      </p:sp>
      <p:sp>
        <p:nvSpPr>
          <p:cNvPr id="4" name="Content Placeholder 2">
            <a:extLst>
              <a:ext uri="{FF2B5EF4-FFF2-40B4-BE49-F238E27FC236}">
                <a16:creationId xmlns:a16="http://schemas.microsoft.com/office/drawing/2014/main" id="{A0FCD540-25D9-DCCC-56BD-8E60E93F6AC7}"/>
              </a:ext>
            </a:extLst>
          </p:cNvPr>
          <p:cNvSpPr>
            <a:spLocks noGrp="1"/>
          </p:cNvSpPr>
          <p:nvPr>
            <p:ph sz="half" idx="1"/>
          </p:nvPr>
        </p:nvSpPr>
        <p:spPr>
          <a:xfrm>
            <a:off x="445061" y="690504"/>
            <a:ext cx="6318739" cy="5675568"/>
          </a:xfrm>
        </p:spPr>
        <p:txBody>
          <a:bodyPr anchor="t">
            <a:noAutofit/>
          </a:bodyPr>
          <a:lstStyle/>
          <a:p>
            <a:endParaRPr lang="en-NG" b="1" dirty="0">
              <a:latin typeface="Georgia" panose="02040502050405020303" pitchFamily="18" charset="0"/>
            </a:endParaRPr>
          </a:p>
          <a:p>
            <a:r>
              <a:rPr lang="en-NG" b="1" dirty="0">
                <a:latin typeface="Georgia" panose="02040502050405020303" pitchFamily="18" charset="0"/>
              </a:rPr>
              <a:t>The rank of SAN is far more than an honorific title; it is an enduring institution at the heart of Nigeria’s legal identity. </a:t>
            </a:r>
            <a:r>
              <a:rPr lang="en-US" b="1" dirty="0">
                <a:latin typeface="Georgia" panose="02040502050405020303" pitchFamily="18" charset="0"/>
              </a:rPr>
              <a:t> </a:t>
            </a:r>
            <a:r>
              <a:rPr lang="en-NG" b="1" dirty="0">
                <a:latin typeface="Georgia" panose="02040502050405020303" pitchFamily="18" charset="0"/>
              </a:rPr>
              <a:t>As a legacy institution, </a:t>
            </a:r>
            <a:r>
              <a:rPr lang="en-US" b="1" dirty="0">
                <a:latin typeface="Georgia" panose="02040502050405020303" pitchFamily="18" charset="0"/>
              </a:rPr>
              <a:t>it</a:t>
            </a:r>
            <a:r>
              <a:rPr lang="en-NG" b="1" dirty="0">
                <a:latin typeface="Georgia" panose="02040502050405020303" pitchFamily="18" charset="0"/>
              </a:rPr>
              <a:t> carries with it obligations that transcend personal achievement.</a:t>
            </a:r>
            <a:endParaRPr lang="en-US" b="1" dirty="0">
              <a:latin typeface="Georgia" panose="02040502050405020303" pitchFamily="18" charset="0"/>
            </a:endParaRPr>
          </a:p>
          <a:p>
            <a:endParaRPr lang="en-US" b="1" dirty="0">
              <a:latin typeface="Georgia" panose="02040502050405020303" pitchFamily="18" charset="0"/>
            </a:endParaRPr>
          </a:p>
          <a:p>
            <a:r>
              <a:rPr lang="en-NG" b="1" dirty="0">
                <a:latin typeface="Georgia" panose="02040502050405020303" pitchFamily="18" charset="0"/>
              </a:rPr>
              <a:t> </a:t>
            </a:r>
            <a:r>
              <a:rPr lang="en-US" b="1" dirty="0">
                <a:latin typeface="Georgia" panose="02040502050405020303" pitchFamily="18" charset="0"/>
              </a:rPr>
              <a:t>Dear Learned Silks, t</a:t>
            </a:r>
            <a:r>
              <a:rPr lang="en-NG" b="1" dirty="0">
                <a:latin typeface="Georgia" panose="02040502050405020303" pitchFamily="18" charset="0"/>
              </a:rPr>
              <a:t>o be conferred with the silk is to accept a lifelong duty of service to mentor the next generation of lawyers, to advocate for the rule of law and human rights, and to support reforms that keep the profession responsive to Nigeria’s changing social and political realities.  </a:t>
            </a:r>
          </a:p>
          <a:p>
            <a:r>
              <a:rPr lang="en-NG" b="1" dirty="0">
                <a:latin typeface="Georgia" panose="02040502050405020303" pitchFamily="18" charset="0"/>
              </a:rPr>
              <a:t> </a:t>
            </a:r>
          </a:p>
          <a:p>
            <a:r>
              <a:rPr lang="en-NG" b="1" dirty="0">
                <a:latin typeface="Georgia" panose="02040502050405020303" pitchFamily="18" charset="0"/>
              </a:rPr>
              <a:t> </a:t>
            </a:r>
          </a:p>
        </p:txBody>
      </p:sp>
      <p:pic>
        <p:nvPicPr>
          <p:cNvPr id="8194" name="Picture 2">
            <a:extLst>
              <a:ext uri="{FF2B5EF4-FFF2-40B4-BE49-F238E27FC236}">
                <a16:creationId xmlns:a16="http://schemas.microsoft.com/office/drawing/2014/main" id="{5A90B1AB-8BF4-9197-EE53-042B4A8995DF}"/>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t="16377" b="16377"/>
          <a:stretch/>
        </p:blipFill>
        <p:spPr bwMode="auto">
          <a:xfrm>
            <a:off x="6677388" y="1295400"/>
            <a:ext cx="5514612" cy="5562600"/>
          </a:xfrm>
          <a:custGeom>
            <a:avLst/>
            <a:gdLst/>
            <a:ahLst/>
            <a:cxnLst/>
            <a:rect l="l" t="t" r="r" b="b"/>
            <a:pathLst>
              <a:path w="6312802" h="6367736">
                <a:moveTo>
                  <a:pt x="789715" y="708127"/>
                </a:moveTo>
                <a:cubicBezTo>
                  <a:pt x="845978" y="711650"/>
                  <a:pt x="901296" y="724302"/>
                  <a:pt x="953475" y="745602"/>
                </a:cubicBezTo>
                <a:cubicBezTo>
                  <a:pt x="1173612" y="834890"/>
                  <a:pt x="1309905" y="1073925"/>
                  <a:pt x="1278834" y="1315681"/>
                </a:cubicBezTo>
                <a:cubicBezTo>
                  <a:pt x="1233750" y="1669869"/>
                  <a:pt x="880524" y="1881517"/>
                  <a:pt x="560369" y="1747304"/>
                </a:cubicBezTo>
                <a:cubicBezTo>
                  <a:pt x="338151" y="1654256"/>
                  <a:pt x="204742" y="1408974"/>
                  <a:pt x="242538" y="1164574"/>
                </a:cubicBezTo>
                <a:cubicBezTo>
                  <a:pt x="286421" y="880774"/>
                  <a:pt x="529219" y="692590"/>
                  <a:pt x="789715" y="708127"/>
                </a:cubicBezTo>
                <a:close/>
                <a:moveTo>
                  <a:pt x="2877121" y="364348"/>
                </a:moveTo>
                <a:cubicBezTo>
                  <a:pt x="2901561" y="365790"/>
                  <a:pt x="2925601" y="371235"/>
                  <a:pt x="2948310" y="380363"/>
                </a:cubicBezTo>
                <a:cubicBezTo>
                  <a:pt x="3044405" y="419202"/>
                  <a:pt x="3103503" y="523063"/>
                  <a:pt x="3089970" y="628607"/>
                </a:cubicBezTo>
                <a:cubicBezTo>
                  <a:pt x="3070190" y="782758"/>
                  <a:pt x="2916600" y="874848"/>
                  <a:pt x="2777343" y="816472"/>
                </a:cubicBezTo>
                <a:cubicBezTo>
                  <a:pt x="2680608" y="775952"/>
                  <a:pt x="2622552" y="669287"/>
                  <a:pt x="2639048" y="562863"/>
                </a:cubicBezTo>
                <a:cubicBezTo>
                  <a:pt x="2658106" y="439382"/>
                  <a:pt x="2763810" y="357542"/>
                  <a:pt x="2877121" y="364348"/>
                </a:cubicBezTo>
                <a:close/>
                <a:moveTo>
                  <a:pt x="5725514" y="29060"/>
                </a:moveTo>
                <a:lnTo>
                  <a:pt x="5748657" y="29701"/>
                </a:lnTo>
                <a:cubicBezTo>
                  <a:pt x="5935681" y="36387"/>
                  <a:pt x="6081789" y="65616"/>
                  <a:pt x="6194082" y="113315"/>
                </a:cubicBezTo>
                <a:lnTo>
                  <a:pt x="6312802" y="183322"/>
                </a:lnTo>
                <a:lnTo>
                  <a:pt x="6312802" y="6367736"/>
                </a:lnTo>
                <a:lnTo>
                  <a:pt x="3171877" y="6367736"/>
                </a:lnTo>
                <a:lnTo>
                  <a:pt x="3171635" y="6367591"/>
                </a:lnTo>
                <a:lnTo>
                  <a:pt x="2683232" y="6367591"/>
                </a:lnTo>
                <a:lnTo>
                  <a:pt x="2683031" y="6367736"/>
                </a:lnTo>
                <a:lnTo>
                  <a:pt x="1006759" y="6367736"/>
                </a:lnTo>
                <a:lnTo>
                  <a:pt x="1017798" y="6253705"/>
                </a:lnTo>
                <a:cubicBezTo>
                  <a:pt x="1043303" y="6019815"/>
                  <a:pt x="1065826" y="5776617"/>
                  <a:pt x="897420" y="5565130"/>
                </a:cubicBezTo>
                <a:cubicBezTo>
                  <a:pt x="700507" y="5318087"/>
                  <a:pt x="491822" y="5428997"/>
                  <a:pt x="271526" y="5130943"/>
                </a:cubicBezTo>
                <a:cubicBezTo>
                  <a:pt x="108646" y="4910648"/>
                  <a:pt x="-26366" y="4708290"/>
                  <a:pt x="39940" y="4415201"/>
                </a:cubicBezTo>
                <a:cubicBezTo>
                  <a:pt x="128666" y="4023216"/>
                  <a:pt x="467878" y="3870268"/>
                  <a:pt x="464356" y="3587268"/>
                </a:cubicBezTo>
                <a:cubicBezTo>
                  <a:pt x="460351" y="3247094"/>
                  <a:pt x="43943" y="3178950"/>
                  <a:pt x="3183" y="2791128"/>
                </a:cubicBezTo>
                <a:cubicBezTo>
                  <a:pt x="-23403" y="2538162"/>
                  <a:pt x="118896" y="2235225"/>
                  <a:pt x="343758" y="2095087"/>
                </a:cubicBezTo>
                <a:cubicBezTo>
                  <a:pt x="758163" y="1836512"/>
                  <a:pt x="1225342" y="2272862"/>
                  <a:pt x="1543093" y="2013487"/>
                </a:cubicBezTo>
                <a:cubicBezTo>
                  <a:pt x="1732879" y="1858534"/>
                  <a:pt x="1763790" y="1542064"/>
                  <a:pt x="1726873" y="1342749"/>
                </a:cubicBezTo>
                <a:cubicBezTo>
                  <a:pt x="1656484" y="963255"/>
                  <a:pt x="1345299" y="901114"/>
                  <a:pt x="1356831" y="612032"/>
                </a:cubicBezTo>
                <a:cubicBezTo>
                  <a:pt x="1365319" y="397180"/>
                  <a:pt x="1547578" y="171600"/>
                  <a:pt x="1773239" y="121551"/>
                </a:cubicBezTo>
                <a:cubicBezTo>
                  <a:pt x="1804789" y="114503"/>
                  <a:pt x="1837013" y="110980"/>
                  <a:pt x="1869333" y="110980"/>
                </a:cubicBezTo>
                <a:cubicBezTo>
                  <a:pt x="2087466" y="110980"/>
                  <a:pt x="2259155" y="271137"/>
                  <a:pt x="2312167" y="320866"/>
                </a:cubicBezTo>
                <a:cubicBezTo>
                  <a:pt x="2563133" y="555255"/>
                  <a:pt x="2364538" y="842498"/>
                  <a:pt x="2568899" y="1194363"/>
                </a:cubicBezTo>
                <a:cubicBezTo>
                  <a:pt x="2600650" y="1246494"/>
                  <a:pt x="2637078" y="1295662"/>
                  <a:pt x="2677726" y="1341226"/>
                </a:cubicBezTo>
                <a:cubicBezTo>
                  <a:pt x="2757804" y="1432276"/>
                  <a:pt x="2906990" y="1416261"/>
                  <a:pt x="2964327" y="1310316"/>
                </a:cubicBezTo>
                <a:cubicBezTo>
                  <a:pt x="3059059" y="1135183"/>
                  <a:pt x="3149628" y="938831"/>
                  <a:pt x="3333248" y="887741"/>
                </a:cubicBezTo>
                <a:cubicBezTo>
                  <a:pt x="3690239" y="788365"/>
                  <a:pt x="3902767" y="1378543"/>
                  <a:pt x="4272730" y="1307994"/>
                </a:cubicBezTo>
                <a:cubicBezTo>
                  <a:pt x="4426320" y="1278686"/>
                  <a:pt x="4515368" y="1152802"/>
                  <a:pt x="4596327" y="996810"/>
                </a:cubicBezTo>
                <a:cubicBezTo>
                  <a:pt x="4618829" y="953326"/>
                  <a:pt x="4640770" y="907521"/>
                  <a:pt x="4663272" y="860676"/>
                </a:cubicBezTo>
                <a:cubicBezTo>
                  <a:pt x="4732781" y="613153"/>
                  <a:pt x="4835282" y="115946"/>
                  <a:pt x="5572324" y="40189"/>
                </a:cubicBezTo>
                <a:cubicBezTo>
                  <a:pt x="5622910" y="31543"/>
                  <a:pt x="5674208" y="27859"/>
                  <a:pt x="5725514" y="29060"/>
                </a:cubicBezTo>
                <a:close/>
                <a:moveTo>
                  <a:pt x="4169348" y="793"/>
                </a:moveTo>
                <a:cubicBezTo>
                  <a:pt x="4219966" y="3995"/>
                  <a:pt x="4269734" y="15368"/>
                  <a:pt x="4316693" y="34505"/>
                </a:cubicBezTo>
                <a:cubicBezTo>
                  <a:pt x="4514808" y="114584"/>
                  <a:pt x="4637488" y="329676"/>
                  <a:pt x="4609540" y="547569"/>
                </a:cubicBezTo>
                <a:cubicBezTo>
                  <a:pt x="4568620" y="865801"/>
                  <a:pt x="4251108" y="1055907"/>
                  <a:pt x="3962986" y="935790"/>
                </a:cubicBezTo>
                <a:cubicBezTo>
                  <a:pt x="3762790" y="852028"/>
                  <a:pt x="3642672" y="631491"/>
                  <a:pt x="3676946" y="411355"/>
                </a:cubicBezTo>
                <a:cubicBezTo>
                  <a:pt x="3716424" y="155985"/>
                  <a:pt x="3934959" y="-13061"/>
                  <a:pt x="4169348" y="793"/>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43343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3" name="Rectangle 14342">
            <a:extLst>
              <a:ext uri="{FF2B5EF4-FFF2-40B4-BE49-F238E27FC236}">
                <a16:creationId xmlns:a16="http://schemas.microsoft.com/office/drawing/2014/main" id="{042E603F-28B7-4831-BF23-65FBAB13D5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345" name="Freeform: Shape 14344">
            <a:extLst>
              <a:ext uri="{FF2B5EF4-FFF2-40B4-BE49-F238E27FC236}">
                <a16:creationId xmlns:a16="http://schemas.microsoft.com/office/drawing/2014/main" id="{4D39700F-2B10-4402-A7DD-06EE22458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32968"/>
            <a:ext cx="9560477" cy="6625032"/>
          </a:xfrm>
          <a:custGeom>
            <a:avLst/>
            <a:gdLst>
              <a:gd name="connsiteX0" fmla="*/ 8831314 w 9263816"/>
              <a:gd name="connsiteY0" fmla="*/ 5943878 h 6858000"/>
              <a:gd name="connsiteX1" fmla="*/ 9179783 w 9263816"/>
              <a:gd name="connsiteY1" fmla="*/ 6086141 h 6858000"/>
              <a:gd name="connsiteX2" fmla="*/ 9260887 w 9263816"/>
              <a:gd name="connsiteY2" fmla="*/ 6279156 h 6858000"/>
              <a:gd name="connsiteX3" fmla="*/ 8925621 w 9263816"/>
              <a:gd name="connsiteY3" fmla="*/ 6708712 h 6858000"/>
              <a:gd name="connsiteX4" fmla="*/ 8496050 w 9263816"/>
              <a:gd name="connsiteY4" fmla="*/ 6373449 h 6858000"/>
              <a:gd name="connsiteX5" fmla="*/ 8831314 w 9263816"/>
              <a:gd name="connsiteY5" fmla="*/ 5943878 h 6858000"/>
              <a:gd name="connsiteX6" fmla="*/ 7397485 w 9263816"/>
              <a:gd name="connsiteY6" fmla="*/ 5931706 h 6858000"/>
              <a:gd name="connsiteX7" fmla="*/ 7917779 w 9263816"/>
              <a:gd name="connsiteY7" fmla="*/ 6191864 h 6858000"/>
              <a:gd name="connsiteX8" fmla="*/ 8013467 w 9263816"/>
              <a:gd name="connsiteY8" fmla="*/ 6375784 h 6858000"/>
              <a:gd name="connsiteX9" fmla="*/ 8021879 w 9263816"/>
              <a:gd name="connsiteY9" fmla="*/ 6753751 h 6858000"/>
              <a:gd name="connsiteX10" fmla="*/ 7981316 w 9263816"/>
              <a:gd name="connsiteY10" fmla="*/ 6858000 h 6858000"/>
              <a:gd name="connsiteX11" fmla="*/ 6819486 w 9263816"/>
              <a:gd name="connsiteY11" fmla="*/ 6858000 h 6858000"/>
              <a:gd name="connsiteX12" fmla="*/ 6785199 w 9263816"/>
              <a:gd name="connsiteY12" fmla="*/ 6781101 h 6858000"/>
              <a:gd name="connsiteX13" fmla="*/ 7196747 w 9263816"/>
              <a:gd name="connsiteY13" fmla="*/ 5964309 h 6858000"/>
              <a:gd name="connsiteX14" fmla="*/ 7397485 w 9263816"/>
              <a:gd name="connsiteY14" fmla="*/ 5931706 h 6858000"/>
              <a:gd name="connsiteX15" fmla="*/ 1505570 w 9263816"/>
              <a:gd name="connsiteY15" fmla="*/ 227178 h 6858000"/>
              <a:gd name="connsiteX16" fmla="*/ 2026489 w 9263816"/>
              <a:gd name="connsiteY16" fmla="*/ 392370 h 6858000"/>
              <a:gd name="connsiteX17" fmla="*/ 2444553 w 9263816"/>
              <a:gd name="connsiteY17" fmla="*/ 1654853 h 6858000"/>
              <a:gd name="connsiteX18" fmla="*/ 3183153 w 9263816"/>
              <a:gd name="connsiteY18" fmla="*/ 2116208 h 6858000"/>
              <a:gd name="connsiteX19" fmla="*/ 4288384 w 9263816"/>
              <a:gd name="connsiteY19" fmla="*/ 1291908 h 6858000"/>
              <a:gd name="connsiteX20" fmla="*/ 5472602 w 9263816"/>
              <a:gd name="connsiteY20" fmla="*/ 1697818 h 6858000"/>
              <a:gd name="connsiteX21" fmla="*/ 5844697 w 9263816"/>
              <a:gd name="connsiteY21" fmla="*/ 3444791 h 6858000"/>
              <a:gd name="connsiteX22" fmla="*/ 6715674 w 9263816"/>
              <a:gd name="connsiteY22" fmla="*/ 4065208 h 6858000"/>
              <a:gd name="connsiteX23" fmla="*/ 8130429 w 9263816"/>
              <a:gd name="connsiteY23" fmla="*/ 4101787 h 6858000"/>
              <a:gd name="connsiteX24" fmla="*/ 8624630 w 9263816"/>
              <a:gd name="connsiteY24" fmla="*/ 4686202 h 6858000"/>
              <a:gd name="connsiteX25" fmla="*/ 8623843 w 9263816"/>
              <a:gd name="connsiteY25" fmla="*/ 4685749 h 6858000"/>
              <a:gd name="connsiteX26" fmla="*/ 8646859 w 9263816"/>
              <a:gd name="connsiteY26" fmla="*/ 4835156 h 6858000"/>
              <a:gd name="connsiteX27" fmla="*/ 8079403 w 9263816"/>
              <a:gd name="connsiteY27" fmla="*/ 5661624 h 6858000"/>
              <a:gd name="connsiteX28" fmla="*/ 6833105 w 9263816"/>
              <a:gd name="connsiteY28" fmla="*/ 5397208 h 6858000"/>
              <a:gd name="connsiteX29" fmla="*/ 5900832 w 9263816"/>
              <a:gd name="connsiteY29" fmla="*/ 5944462 h 6858000"/>
              <a:gd name="connsiteX30" fmla="*/ 6067212 w 9263816"/>
              <a:gd name="connsiteY30" fmla="*/ 6811916 h 6858000"/>
              <a:gd name="connsiteX31" fmla="*/ 6089565 w 9263816"/>
              <a:gd name="connsiteY31" fmla="*/ 6858000 h 6858000"/>
              <a:gd name="connsiteX32" fmla="*/ 0 w 9263816"/>
              <a:gd name="connsiteY32" fmla="*/ 6858000 h 6858000"/>
              <a:gd name="connsiteX33" fmla="*/ 0 w 9263816"/>
              <a:gd name="connsiteY33" fmla="*/ 2181377 h 6858000"/>
              <a:gd name="connsiteX34" fmla="*/ 73069 w 9263816"/>
              <a:gd name="connsiteY34" fmla="*/ 2215839 h 6858000"/>
              <a:gd name="connsiteX35" fmla="*/ 335445 w 9263816"/>
              <a:gd name="connsiteY35" fmla="*/ 2237140 h 6858000"/>
              <a:gd name="connsiteX36" fmla="*/ 752878 w 9263816"/>
              <a:gd name="connsiteY36" fmla="*/ 1445285 h 6858000"/>
              <a:gd name="connsiteX37" fmla="*/ 1202551 w 9263816"/>
              <a:gd name="connsiteY37" fmla="*/ 314229 h 6858000"/>
              <a:gd name="connsiteX38" fmla="*/ 1505570 w 9263816"/>
              <a:gd name="connsiteY38" fmla="*/ 227178 h 6858000"/>
              <a:gd name="connsiteX39" fmla="*/ 3142509 w 9263816"/>
              <a:gd name="connsiteY39" fmla="*/ 68854 h 6858000"/>
              <a:gd name="connsiteX40" fmla="*/ 3490978 w 9263816"/>
              <a:gd name="connsiteY40" fmla="*/ 211117 h 6858000"/>
              <a:gd name="connsiteX41" fmla="*/ 3572083 w 9263816"/>
              <a:gd name="connsiteY41" fmla="*/ 404131 h 6858000"/>
              <a:gd name="connsiteX42" fmla="*/ 3236814 w 9263816"/>
              <a:gd name="connsiteY42" fmla="*/ 833688 h 6858000"/>
              <a:gd name="connsiteX43" fmla="*/ 2807245 w 9263816"/>
              <a:gd name="connsiteY43" fmla="*/ 498425 h 6858000"/>
              <a:gd name="connsiteX44" fmla="*/ 3142509 w 9263816"/>
              <a:gd name="connsiteY44" fmla="*/ 68854 h 6858000"/>
              <a:gd name="connsiteX45" fmla="*/ 0 w 9263816"/>
              <a:gd name="connsiteY45" fmla="*/ 0 h 6858000"/>
              <a:gd name="connsiteX46" fmla="*/ 39858 w 9263816"/>
              <a:gd name="connsiteY46" fmla="*/ 0 h 6858000"/>
              <a:gd name="connsiteX47" fmla="*/ 65022 w 9263816"/>
              <a:gd name="connsiteY47" fmla="*/ 5834 h 6858000"/>
              <a:gd name="connsiteX48" fmla="*/ 389258 w 9263816"/>
              <a:gd name="connsiteY48" fmla="*/ 235630 h 6858000"/>
              <a:gd name="connsiteX49" fmla="*/ 485484 w 9263816"/>
              <a:gd name="connsiteY49" fmla="*/ 420070 h 6858000"/>
              <a:gd name="connsiteX50" fmla="*/ 74229 w 9263816"/>
              <a:gd name="connsiteY50" fmla="*/ 1237955 h 6858000"/>
              <a:gd name="connsiteX51" fmla="*/ 0 w 9263816"/>
              <a:gd name="connsiteY51" fmla="*/ 125447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9263816" h="6858000">
                <a:moveTo>
                  <a:pt x="8831314" y="5943878"/>
                </a:moveTo>
                <a:cubicBezTo>
                  <a:pt x="8964281" y="5927490"/>
                  <a:pt x="9096260" y="5981362"/>
                  <a:pt x="9179783" y="6086141"/>
                </a:cubicBezTo>
                <a:cubicBezTo>
                  <a:pt x="9224074" y="6141769"/>
                  <a:pt x="9252211" y="6208560"/>
                  <a:pt x="9260887" y="6279156"/>
                </a:cubicBezTo>
                <a:cubicBezTo>
                  <a:pt x="9286897" y="6490362"/>
                  <a:pt x="9136845" y="6682672"/>
                  <a:pt x="8925621" y="6708712"/>
                </a:cubicBezTo>
                <a:cubicBezTo>
                  <a:pt x="8714398" y="6734766"/>
                  <a:pt x="8522062" y="6584655"/>
                  <a:pt x="8496050" y="6373449"/>
                </a:cubicBezTo>
                <a:cubicBezTo>
                  <a:pt x="8470038" y="6162229"/>
                  <a:pt x="8620090" y="5969920"/>
                  <a:pt x="8831314" y="5943878"/>
                </a:cubicBezTo>
                <a:close/>
                <a:moveTo>
                  <a:pt x="7397485" y="5931706"/>
                </a:moveTo>
                <a:cubicBezTo>
                  <a:pt x="7598431" y="5931157"/>
                  <a:pt x="7792965" y="6024548"/>
                  <a:pt x="7917779" y="6191864"/>
                </a:cubicBezTo>
                <a:cubicBezTo>
                  <a:pt x="7959204" y="6247714"/>
                  <a:pt x="7991530" y="6309792"/>
                  <a:pt x="8013467" y="6375784"/>
                </a:cubicBezTo>
                <a:cubicBezTo>
                  <a:pt x="8055425" y="6502973"/>
                  <a:pt x="8055748" y="6633888"/>
                  <a:pt x="8021879" y="6753751"/>
                </a:cubicBezTo>
                <a:lnTo>
                  <a:pt x="7981316" y="6858000"/>
                </a:lnTo>
                <a:lnTo>
                  <a:pt x="6819486" y="6858000"/>
                </a:lnTo>
                <a:lnTo>
                  <a:pt x="6785199" y="6781101"/>
                </a:lnTo>
                <a:cubicBezTo>
                  <a:pt x="6673307" y="6441922"/>
                  <a:pt x="6857485" y="6076251"/>
                  <a:pt x="7196747" y="5964309"/>
                </a:cubicBezTo>
                <a:cubicBezTo>
                  <a:pt x="7262809" y="5942509"/>
                  <a:pt x="7330503" y="5931889"/>
                  <a:pt x="7397485" y="5931706"/>
                </a:cubicBezTo>
                <a:close/>
                <a:moveTo>
                  <a:pt x="1505570" y="227178"/>
                </a:moveTo>
                <a:cubicBezTo>
                  <a:pt x="1691018" y="218628"/>
                  <a:pt x="1889853" y="275403"/>
                  <a:pt x="2026489" y="392370"/>
                </a:cubicBezTo>
                <a:cubicBezTo>
                  <a:pt x="2369898" y="685965"/>
                  <a:pt x="2078266" y="1147857"/>
                  <a:pt x="2444553" y="1654853"/>
                </a:cubicBezTo>
                <a:cubicBezTo>
                  <a:pt x="2492906" y="1721679"/>
                  <a:pt x="2800482" y="2144546"/>
                  <a:pt x="3183153" y="2116208"/>
                </a:cubicBezTo>
                <a:cubicBezTo>
                  <a:pt x="3673561" y="2080541"/>
                  <a:pt x="3723222" y="1441614"/>
                  <a:pt x="4288384" y="1291908"/>
                </a:cubicBezTo>
                <a:cubicBezTo>
                  <a:pt x="4689065" y="1185875"/>
                  <a:pt x="5207943" y="1366633"/>
                  <a:pt x="5472602" y="1697818"/>
                </a:cubicBezTo>
                <a:cubicBezTo>
                  <a:pt x="5891294" y="2221754"/>
                  <a:pt x="5408012" y="2790179"/>
                  <a:pt x="5844697" y="3444791"/>
                </a:cubicBezTo>
                <a:cubicBezTo>
                  <a:pt x="6149900" y="3902467"/>
                  <a:pt x="6672672" y="4053594"/>
                  <a:pt x="6715674" y="4065208"/>
                </a:cubicBezTo>
                <a:cubicBezTo>
                  <a:pt x="7326423" y="4232519"/>
                  <a:pt x="7677158" y="3817020"/>
                  <a:pt x="8130429" y="4101787"/>
                </a:cubicBezTo>
                <a:cubicBezTo>
                  <a:pt x="8226340" y="4161985"/>
                  <a:pt x="8536372" y="4356819"/>
                  <a:pt x="8624630" y="4686202"/>
                </a:cubicBezTo>
                <a:lnTo>
                  <a:pt x="8623843" y="4685749"/>
                </a:lnTo>
                <a:cubicBezTo>
                  <a:pt x="8636924" y="4734567"/>
                  <a:pt x="8644635" y="4784678"/>
                  <a:pt x="8646859" y="4835156"/>
                </a:cubicBezTo>
                <a:cubicBezTo>
                  <a:pt x="8662596" y="5196604"/>
                  <a:pt x="8398383" y="5562326"/>
                  <a:pt x="8079403" y="5661624"/>
                </a:cubicBezTo>
                <a:cubicBezTo>
                  <a:pt x="7649807" y="5795217"/>
                  <a:pt x="7430996" y="5350293"/>
                  <a:pt x="6833105" y="5397208"/>
                </a:cubicBezTo>
                <a:cubicBezTo>
                  <a:pt x="6519033" y="5421527"/>
                  <a:pt x="6056658" y="5595550"/>
                  <a:pt x="5900832" y="5944462"/>
                </a:cubicBezTo>
                <a:cubicBezTo>
                  <a:pt x="5770548" y="6236600"/>
                  <a:pt x="5916359" y="6515160"/>
                  <a:pt x="6067212" y="6811916"/>
                </a:cubicBezTo>
                <a:lnTo>
                  <a:pt x="6089565" y="6858000"/>
                </a:lnTo>
                <a:lnTo>
                  <a:pt x="0" y="6858000"/>
                </a:lnTo>
                <a:lnTo>
                  <a:pt x="0" y="2181377"/>
                </a:lnTo>
                <a:lnTo>
                  <a:pt x="73069" y="2215839"/>
                </a:lnTo>
                <a:cubicBezTo>
                  <a:pt x="165116" y="2251829"/>
                  <a:pt x="254486" y="2263171"/>
                  <a:pt x="335445" y="2237140"/>
                </a:cubicBezTo>
                <a:cubicBezTo>
                  <a:pt x="594718" y="2153707"/>
                  <a:pt x="688441" y="1733807"/>
                  <a:pt x="752878" y="1445285"/>
                </a:cubicBezTo>
                <a:cubicBezTo>
                  <a:pt x="925059" y="674068"/>
                  <a:pt x="975076" y="456292"/>
                  <a:pt x="1202551" y="314229"/>
                </a:cubicBezTo>
                <a:cubicBezTo>
                  <a:pt x="1287853" y="260956"/>
                  <a:pt x="1394302" y="232308"/>
                  <a:pt x="1505570" y="227178"/>
                </a:cubicBezTo>
                <a:close/>
                <a:moveTo>
                  <a:pt x="3142509" y="68854"/>
                </a:moveTo>
                <a:cubicBezTo>
                  <a:pt x="3275474" y="52467"/>
                  <a:pt x="3407455" y="106339"/>
                  <a:pt x="3490978" y="211117"/>
                </a:cubicBezTo>
                <a:cubicBezTo>
                  <a:pt x="3535271" y="266744"/>
                  <a:pt x="3563404" y="333535"/>
                  <a:pt x="3572083" y="404131"/>
                </a:cubicBezTo>
                <a:cubicBezTo>
                  <a:pt x="3598092" y="615337"/>
                  <a:pt x="3448040" y="807648"/>
                  <a:pt x="3236814" y="833688"/>
                </a:cubicBezTo>
                <a:cubicBezTo>
                  <a:pt x="3025594" y="859741"/>
                  <a:pt x="2833255" y="709631"/>
                  <a:pt x="2807245" y="498425"/>
                </a:cubicBezTo>
                <a:cubicBezTo>
                  <a:pt x="2781232" y="287207"/>
                  <a:pt x="2931283" y="94896"/>
                  <a:pt x="3142509" y="68854"/>
                </a:cubicBezTo>
                <a:close/>
                <a:moveTo>
                  <a:pt x="0" y="0"/>
                </a:moveTo>
                <a:lnTo>
                  <a:pt x="39858" y="0"/>
                </a:lnTo>
                <a:lnTo>
                  <a:pt x="65022" y="5834"/>
                </a:lnTo>
                <a:cubicBezTo>
                  <a:pt x="191545" y="45606"/>
                  <a:pt x="305874" y="124173"/>
                  <a:pt x="389258" y="235630"/>
                </a:cubicBezTo>
                <a:cubicBezTo>
                  <a:pt x="430983" y="291600"/>
                  <a:pt x="463360" y="353876"/>
                  <a:pt x="485484" y="420070"/>
                </a:cubicBezTo>
                <a:cubicBezTo>
                  <a:pt x="597711" y="759508"/>
                  <a:pt x="413661" y="1125662"/>
                  <a:pt x="74229" y="1237955"/>
                </a:cubicBezTo>
                <a:lnTo>
                  <a:pt x="0" y="1254477"/>
                </a:lnTo>
                <a:close/>
              </a:path>
            </a:pathLst>
          </a:custGeom>
          <a:solidFill>
            <a:schemeClr val="bg1"/>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4347" name="Rectangle 14346">
            <a:extLst>
              <a:ext uri="{FF2B5EF4-FFF2-40B4-BE49-F238E27FC236}">
                <a16:creationId xmlns:a16="http://schemas.microsoft.com/office/drawing/2014/main" id="{06E15305-164C-44CD-9E0F-420C2DC1B3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4349" name="Rectangle 14348">
            <a:extLst>
              <a:ext uri="{FF2B5EF4-FFF2-40B4-BE49-F238E27FC236}">
                <a16:creationId xmlns:a16="http://schemas.microsoft.com/office/drawing/2014/main" id="{63A2A5E3-98A9-4809-984C-7C30C5B31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6E358D6-7AA2-F61D-12C9-634C2FA752C1}"/>
              </a:ext>
            </a:extLst>
          </p:cNvPr>
          <p:cNvSpPr>
            <a:spLocks noGrp="1"/>
          </p:cNvSpPr>
          <p:nvPr>
            <p:ph type="title"/>
          </p:nvPr>
        </p:nvSpPr>
        <p:spPr>
          <a:xfrm>
            <a:off x="5926907" y="1122363"/>
            <a:ext cx="5655493" cy="2387600"/>
          </a:xfrm>
        </p:spPr>
        <p:txBody>
          <a:bodyPr vert="horz" lIns="91440" tIns="45720" rIns="91440" bIns="45720" rtlCol="0" anchor="b">
            <a:normAutofit/>
          </a:bodyPr>
          <a:lstStyle/>
          <a:p>
            <a:r>
              <a:rPr lang="en-US" sz="6000" b="1" dirty="0">
                <a:latin typeface="Georgia" panose="02040502050405020303" pitchFamily="18" charset="0"/>
              </a:rPr>
              <a:t>Thanks for listening!</a:t>
            </a:r>
          </a:p>
        </p:txBody>
      </p:sp>
      <p:pic>
        <p:nvPicPr>
          <p:cNvPr id="5" name="Picture 4" descr="Infinite question marks in 3D rendering">
            <a:extLst>
              <a:ext uri="{FF2B5EF4-FFF2-40B4-BE49-F238E27FC236}">
                <a16:creationId xmlns:a16="http://schemas.microsoft.com/office/drawing/2014/main" id="{E78B9EF3-BC7C-77F8-CAC6-AD0C2D750A99}"/>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rcRect t="9166" r="2" b="2"/>
          <a:stretch>
            <a:fillRect/>
          </a:stretch>
        </p:blipFill>
        <p:spPr>
          <a:xfrm>
            <a:off x="-10" y="3428999"/>
            <a:ext cx="5655496" cy="3429001"/>
          </a:xfrm>
          <a:custGeom>
            <a:avLst/>
            <a:gdLst/>
            <a:ahLst/>
            <a:cxnLst/>
            <a:rect l="l" t="t" r="r" b="b"/>
            <a:pathLst>
              <a:path w="5655496" h="3429001">
                <a:moveTo>
                  <a:pt x="402799" y="808492"/>
                </a:moveTo>
                <a:cubicBezTo>
                  <a:pt x="681810" y="808492"/>
                  <a:pt x="907993" y="1034675"/>
                  <a:pt x="907993" y="1313687"/>
                </a:cubicBezTo>
                <a:cubicBezTo>
                  <a:pt x="907993" y="1592698"/>
                  <a:pt x="681810" y="1818881"/>
                  <a:pt x="402799" y="1818881"/>
                </a:cubicBezTo>
                <a:cubicBezTo>
                  <a:pt x="263293" y="1818881"/>
                  <a:pt x="136995" y="1762335"/>
                  <a:pt x="45573" y="1670913"/>
                </a:cubicBezTo>
                <a:lnTo>
                  <a:pt x="0" y="1615679"/>
                </a:lnTo>
                <a:lnTo>
                  <a:pt x="0" y="1011695"/>
                </a:lnTo>
                <a:lnTo>
                  <a:pt x="45573" y="956460"/>
                </a:lnTo>
                <a:cubicBezTo>
                  <a:pt x="136995" y="865038"/>
                  <a:pt x="263293" y="808492"/>
                  <a:pt x="402799" y="808492"/>
                </a:cubicBezTo>
                <a:close/>
                <a:moveTo>
                  <a:pt x="4591430" y="491"/>
                </a:moveTo>
                <a:cubicBezTo>
                  <a:pt x="4669259" y="-2429"/>
                  <a:pt x="4753916" y="7233"/>
                  <a:pt x="4835560" y="42030"/>
                </a:cubicBezTo>
                <a:lnTo>
                  <a:pt x="4835233" y="42570"/>
                </a:lnTo>
                <a:cubicBezTo>
                  <a:pt x="4867541" y="56340"/>
                  <a:pt x="4898182" y="73566"/>
                  <a:pt x="4926702" y="93958"/>
                </a:cubicBezTo>
                <a:cubicBezTo>
                  <a:pt x="5130853" y="240176"/>
                  <a:pt x="5217561" y="540987"/>
                  <a:pt x="5135218" y="757828"/>
                </a:cubicBezTo>
                <a:cubicBezTo>
                  <a:pt x="5024289" y="1049694"/>
                  <a:pt x="4687604" y="978672"/>
                  <a:pt x="4456870" y="1325189"/>
                </a:cubicBezTo>
                <a:cubicBezTo>
                  <a:pt x="4335703" y="1507170"/>
                  <a:pt x="4232829" y="1834248"/>
                  <a:pt x="4356803" y="2068774"/>
                </a:cubicBezTo>
                <a:cubicBezTo>
                  <a:pt x="4564311" y="2461284"/>
                  <a:pt x="5215078" y="2227127"/>
                  <a:pt x="5519570" y="2659906"/>
                </a:cubicBezTo>
                <a:cubicBezTo>
                  <a:pt x="5663964" y="2865586"/>
                  <a:pt x="5692878" y="3167455"/>
                  <a:pt x="5608404" y="3400224"/>
                </a:cubicBezTo>
                <a:lnTo>
                  <a:pt x="5595343" y="3429001"/>
                </a:lnTo>
                <a:lnTo>
                  <a:pt x="0" y="3429001"/>
                </a:lnTo>
                <a:lnTo>
                  <a:pt x="0" y="1900707"/>
                </a:lnTo>
                <a:lnTo>
                  <a:pt x="52327" y="1934726"/>
                </a:lnTo>
                <a:cubicBezTo>
                  <a:pt x="176818" y="2018358"/>
                  <a:pt x="317106" y="2111847"/>
                  <a:pt x="533987" y="2120323"/>
                </a:cubicBezTo>
                <a:cubicBezTo>
                  <a:pt x="591192" y="2122515"/>
                  <a:pt x="953862" y="2135522"/>
                  <a:pt x="1102281" y="1914383"/>
                </a:cubicBezTo>
                <a:cubicBezTo>
                  <a:pt x="1292655" y="1631185"/>
                  <a:pt x="964889" y="1330537"/>
                  <a:pt x="1125050" y="957718"/>
                </a:cubicBezTo>
                <a:cubicBezTo>
                  <a:pt x="1238656" y="693449"/>
                  <a:pt x="1559525" y="487382"/>
                  <a:pt x="1853740" y="484583"/>
                </a:cubicBezTo>
                <a:cubicBezTo>
                  <a:pt x="2319189" y="480158"/>
                  <a:pt x="2422813" y="987500"/>
                  <a:pt x="2967347" y="1029185"/>
                </a:cubicBezTo>
                <a:cubicBezTo>
                  <a:pt x="3348017" y="1058391"/>
                  <a:pt x="3654366" y="837511"/>
                  <a:pt x="3679119" y="818991"/>
                </a:cubicBezTo>
                <a:cubicBezTo>
                  <a:pt x="4031973" y="556984"/>
                  <a:pt x="3955147" y="187516"/>
                  <a:pt x="4304746" y="61814"/>
                </a:cubicBezTo>
                <a:cubicBezTo>
                  <a:pt x="4350964" y="45176"/>
                  <a:pt x="4461713" y="5359"/>
                  <a:pt x="4591430" y="491"/>
                </a:cubicBezTo>
                <a:close/>
              </a:path>
            </a:pathLst>
          </a:custGeom>
        </p:spPr>
      </p:pic>
      <p:pic>
        <p:nvPicPr>
          <p:cNvPr id="14338" name="Picture 2">
            <a:extLst>
              <a:ext uri="{FF2B5EF4-FFF2-40B4-BE49-F238E27FC236}">
                <a16:creationId xmlns:a16="http://schemas.microsoft.com/office/drawing/2014/main" id="{6D13098C-F9BA-1F95-E9BB-1FDAF2F70519}"/>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rcRect t="9052" b="9052"/>
          <a:stretch/>
        </p:blipFill>
        <p:spPr bwMode="auto">
          <a:xfrm>
            <a:off x="7" y="1"/>
            <a:ext cx="4238047" cy="3470765"/>
          </a:xfrm>
          <a:custGeom>
            <a:avLst/>
            <a:gdLst/>
            <a:ahLst/>
            <a:cxnLst/>
            <a:rect l="l" t="t" r="r" b="b"/>
            <a:pathLst>
              <a:path w="6734174" h="5514977">
                <a:moveTo>
                  <a:pt x="1077007" y="4987440"/>
                </a:moveTo>
                <a:cubicBezTo>
                  <a:pt x="1094537" y="4990273"/>
                  <a:pt x="1112073" y="4996453"/>
                  <a:pt x="1128635" y="5006199"/>
                </a:cubicBezTo>
                <a:cubicBezTo>
                  <a:pt x="1194883" y="5045182"/>
                  <a:pt x="1220457" y="5126442"/>
                  <a:pt x="1185757" y="5187698"/>
                </a:cubicBezTo>
                <a:cubicBezTo>
                  <a:pt x="1151058" y="5248954"/>
                  <a:pt x="1069223" y="5267011"/>
                  <a:pt x="1002975" y="5228028"/>
                </a:cubicBezTo>
                <a:cubicBezTo>
                  <a:pt x="936728" y="5189045"/>
                  <a:pt x="911153" y="5107785"/>
                  <a:pt x="945853" y="5046529"/>
                </a:cubicBezTo>
                <a:cubicBezTo>
                  <a:pt x="963203" y="5015901"/>
                  <a:pt x="992337" y="4996072"/>
                  <a:pt x="1025413" y="4988775"/>
                </a:cubicBezTo>
                <a:cubicBezTo>
                  <a:pt x="1041952" y="4985125"/>
                  <a:pt x="1059476" y="4984609"/>
                  <a:pt x="1077007" y="4987440"/>
                </a:cubicBezTo>
                <a:close/>
                <a:moveTo>
                  <a:pt x="474762" y="4590962"/>
                </a:moveTo>
                <a:cubicBezTo>
                  <a:pt x="500491" y="4587824"/>
                  <a:pt x="527063" y="4588310"/>
                  <a:pt x="553642" y="4592604"/>
                </a:cubicBezTo>
                <a:cubicBezTo>
                  <a:pt x="589081" y="4598329"/>
                  <a:pt x="624531" y="4610823"/>
                  <a:pt x="658012" y="4630525"/>
                </a:cubicBezTo>
                <a:cubicBezTo>
                  <a:pt x="791935" y="4709331"/>
                  <a:pt x="843635" y="4873604"/>
                  <a:pt x="773488" y="4997438"/>
                </a:cubicBezTo>
                <a:cubicBezTo>
                  <a:pt x="703339" y="5121271"/>
                  <a:pt x="537907" y="5157774"/>
                  <a:pt x="403983" y="5078968"/>
                </a:cubicBezTo>
                <a:cubicBezTo>
                  <a:pt x="270060" y="5000162"/>
                  <a:pt x="218360" y="4835889"/>
                  <a:pt x="288508" y="4712055"/>
                </a:cubicBezTo>
                <a:cubicBezTo>
                  <a:pt x="327966" y="4642398"/>
                  <a:pt x="397573" y="4600375"/>
                  <a:pt x="474762" y="4590962"/>
                </a:cubicBezTo>
                <a:close/>
                <a:moveTo>
                  <a:pt x="0" y="0"/>
                </a:moveTo>
                <a:lnTo>
                  <a:pt x="952983" y="0"/>
                </a:lnTo>
                <a:lnTo>
                  <a:pt x="2081055" y="0"/>
                </a:lnTo>
                <a:lnTo>
                  <a:pt x="2263577" y="150988"/>
                </a:lnTo>
                <a:cubicBezTo>
                  <a:pt x="2504052" y="338565"/>
                  <a:pt x="2728791" y="577550"/>
                  <a:pt x="2992530" y="694885"/>
                </a:cubicBezTo>
                <a:cubicBezTo>
                  <a:pt x="3318395" y="839609"/>
                  <a:pt x="3657608" y="716866"/>
                  <a:pt x="3970058" y="592698"/>
                </a:cubicBezTo>
                <a:cubicBezTo>
                  <a:pt x="4331373" y="448982"/>
                  <a:pt x="4690914" y="359985"/>
                  <a:pt x="5084944" y="488161"/>
                </a:cubicBezTo>
                <a:cubicBezTo>
                  <a:pt x="5565424" y="644433"/>
                  <a:pt x="5733507" y="1009888"/>
                  <a:pt x="5669311" y="1444982"/>
                </a:cubicBezTo>
                <a:cubicBezTo>
                  <a:pt x="5633326" y="1688985"/>
                  <a:pt x="5552663" y="1922553"/>
                  <a:pt x="5493314" y="2161331"/>
                </a:cubicBezTo>
                <a:cubicBezTo>
                  <a:pt x="5439656" y="2378561"/>
                  <a:pt x="5495983" y="2579198"/>
                  <a:pt x="5660990" y="2721315"/>
                </a:cubicBezTo>
                <a:cubicBezTo>
                  <a:pt x="5835491" y="2871524"/>
                  <a:pt x="6009868" y="3023606"/>
                  <a:pt x="6194694" y="3156288"/>
                </a:cubicBezTo>
                <a:cubicBezTo>
                  <a:pt x="6992820" y="3729094"/>
                  <a:pt x="6788369" y="4727029"/>
                  <a:pt x="6332492" y="5124196"/>
                </a:cubicBezTo>
                <a:cubicBezTo>
                  <a:pt x="5760173" y="5622336"/>
                  <a:pt x="5107042" y="5619729"/>
                  <a:pt x="4441677" y="5255068"/>
                </a:cubicBezTo>
                <a:cubicBezTo>
                  <a:pt x="4173482" y="5108729"/>
                  <a:pt x="3929482" y="4905798"/>
                  <a:pt x="3670848" y="4735132"/>
                </a:cubicBezTo>
                <a:cubicBezTo>
                  <a:pt x="3306542" y="4495539"/>
                  <a:pt x="2914030" y="4470019"/>
                  <a:pt x="2584477" y="4836478"/>
                </a:cubicBezTo>
                <a:cubicBezTo>
                  <a:pt x="2461558" y="4973117"/>
                  <a:pt x="2326491" y="5118013"/>
                  <a:pt x="2168844" y="5190252"/>
                </a:cubicBezTo>
                <a:cubicBezTo>
                  <a:pt x="1762360" y="5376523"/>
                  <a:pt x="1372544" y="5223527"/>
                  <a:pt x="1038433" y="4794945"/>
                </a:cubicBezTo>
                <a:cubicBezTo>
                  <a:pt x="904350" y="4623011"/>
                  <a:pt x="765802" y="4432532"/>
                  <a:pt x="552043" y="4416221"/>
                </a:cubicBezTo>
                <a:cubicBezTo>
                  <a:pt x="379074" y="4403135"/>
                  <a:pt x="204522" y="4409418"/>
                  <a:pt x="31608" y="4426144"/>
                </a:cubicBezTo>
                <a:lnTo>
                  <a:pt x="0" y="4429791"/>
                </a:lnTo>
                <a:close/>
              </a:path>
            </a:pathLst>
          </a:cu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1CCE1F2-C44B-AB9F-76B9-8E578BBADCAC}"/>
              </a:ext>
            </a:extLst>
          </p:cNvPr>
          <p:cNvSpPr txBox="1"/>
          <p:nvPr/>
        </p:nvSpPr>
        <p:spPr>
          <a:xfrm>
            <a:off x="5976730" y="3834055"/>
            <a:ext cx="6096000" cy="584775"/>
          </a:xfrm>
          <a:prstGeom prst="rect">
            <a:avLst/>
          </a:prstGeom>
          <a:noFill/>
        </p:spPr>
        <p:txBody>
          <a:bodyPr wrap="square">
            <a:spAutoFit/>
          </a:bodyPr>
          <a:lstStyle/>
          <a:p>
            <a:r>
              <a:rPr lang="en-US" sz="3200" dirty="0">
                <a:latin typeface="Georgia" panose="02040502050405020303" pitchFamily="18" charset="0"/>
              </a:rPr>
              <a:t>PROF. YUSUF ALI SAN, </a:t>
            </a:r>
            <a:r>
              <a:rPr lang="en-US" sz="2000" b="1" dirty="0">
                <a:latin typeface="Georgia" panose="02040502050405020303" pitchFamily="18" charset="0"/>
              </a:rPr>
              <a:t>FCIArb.</a:t>
            </a:r>
            <a:endParaRPr lang="en-GB" sz="2000" dirty="0"/>
          </a:p>
        </p:txBody>
      </p:sp>
    </p:spTree>
    <p:extLst>
      <p:ext uri="{BB962C8B-B14F-4D97-AF65-F5344CB8AC3E}">
        <p14:creationId xmlns:p14="http://schemas.microsoft.com/office/powerpoint/2010/main" val="1480142963"/>
      </p:ext>
    </p:extLst>
  </p:cSld>
  <p:clrMapOvr>
    <a:masterClrMapping/>
  </p:clrMapOvr>
</p:sld>
</file>

<file path=ppt/theme/theme1.xml><?xml version="1.0" encoding="utf-8"?>
<a:theme xmlns:a="http://schemas.openxmlformats.org/drawingml/2006/main" name="SplashVTI">
  <a:themeElements>
    <a:clrScheme name="Custom 11">
      <a:dk1>
        <a:srgbClr val="262626"/>
      </a:dk1>
      <a:lt1>
        <a:sysClr val="window" lastClr="FFFFFF"/>
      </a:lt1>
      <a:dk2>
        <a:srgbClr val="2F333D"/>
      </a:dk2>
      <a:lt2>
        <a:srgbClr val="E9F3F3"/>
      </a:lt2>
      <a:accent1>
        <a:srgbClr val="1EBE9B"/>
      </a:accent1>
      <a:accent2>
        <a:srgbClr val="FD8686"/>
      </a:accent2>
      <a:accent3>
        <a:srgbClr val="0AC8AD"/>
      </a:accent3>
      <a:accent4>
        <a:srgbClr val="E69500"/>
      </a:accent4>
      <a:accent5>
        <a:srgbClr val="EC4E70"/>
      </a:accent5>
      <a:accent6>
        <a:srgbClr val="794DFF"/>
      </a:accent6>
      <a:hlink>
        <a:srgbClr val="3E8FF1"/>
      </a:hlink>
      <a:folHlink>
        <a:srgbClr val="939393"/>
      </a:folHlink>
    </a:clrScheme>
    <a:fontScheme name="Custom 23">
      <a:majorFont>
        <a:latin typeface="Posterama"/>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plashVTI" id="{CD38C481-21EC-466B-953B-A1440B42712A}" vid="{D3E4813C-1D98-48C2-AF59-2D0D78E2550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1076</TotalTime>
  <Words>1437</Words>
  <Application>Microsoft Office PowerPoint</Application>
  <PresentationFormat>Widescreen</PresentationFormat>
  <Paragraphs>118</Paragraphs>
  <Slides>18</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Avenir Next LT Pro</vt:lpstr>
      <vt:lpstr>Calibri</vt:lpstr>
      <vt:lpstr>Georgia</vt:lpstr>
      <vt:lpstr>Posterama</vt:lpstr>
      <vt:lpstr>Symbol</vt:lpstr>
      <vt:lpstr>Wingdings</vt:lpstr>
      <vt:lpstr>SplashVTI</vt:lpstr>
      <vt:lpstr>THE SENIOR ADVOCATE OF NIGERIA: ORIGIN, EVOLUTION, AND ROLE OF THE RANK IN SHAPING NIGERIA'S LEGAL PROFESSION</vt:lpstr>
      <vt:lpstr>Presentation Outline</vt:lpstr>
      <vt:lpstr>ABSTRACT </vt:lpstr>
      <vt:lpstr>Introduction</vt:lpstr>
      <vt:lpstr>This presentation will address the following questions:</vt:lpstr>
      <vt:lpstr>The Rank of SAN: meaning and what it represents</vt:lpstr>
      <vt:lpstr>History and Evolution of the Rank of SAN</vt:lpstr>
      <vt:lpstr>PowerPoint Presentation</vt:lpstr>
      <vt:lpstr>PowerPoint Presentation</vt:lpstr>
      <vt:lpstr>PowerPoint Presentation</vt:lpstr>
      <vt:lpstr> Privileges and Restrictions of the Rank of SAN</vt:lpstr>
      <vt:lpstr>The Role and of SAN in shaping the Legal Profession</vt:lpstr>
      <vt:lpstr>CHALLENGES AND CRITICISMS OF THE SAN RANK</vt:lpstr>
      <vt:lpstr>The Future of the Rank of SAN</vt:lpstr>
      <vt:lpstr>Core Attributes of a SAN</vt:lpstr>
      <vt:lpstr>A charge to the new senior advocates of Nigeria</vt:lpstr>
      <vt:lpstr>CONCLUSION</vt:lpstr>
      <vt:lpstr>Thanks for listening!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AISHAT OMOLADE LAWAL</dc:creator>
  <cp:lastModifiedBy>Aishat  Omolade Lawal</cp:lastModifiedBy>
  <cp:revision>35</cp:revision>
  <dcterms:created xsi:type="dcterms:W3CDTF">2025-05-16T11:31:27Z</dcterms:created>
  <dcterms:modified xsi:type="dcterms:W3CDTF">2025-09-16T16:38:56Z</dcterms:modified>
</cp:coreProperties>
</file>