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04" r:id="rId3"/>
    <p:sldId id="277" r:id="rId4"/>
    <p:sldId id="316" r:id="rId5"/>
    <p:sldId id="278" r:id="rId6"/>
    <p:sldId id="315" r:id="rId7"/>
    <p:sldId id="332" r:id="rId8"/>
    <p:sldId id="290" r:id="rId9"/>
    <p:sldId id="307" r:id="rId10"/>
    <p:sldId id="323" r:id="rId11"/>
    <p:sldId id="325" r:id="rId12"/>
    <p:sldId id="324" r:id="rId13"/>
    <p:sldId id="308" r:id="rId14"/>
    <p:sldId id="327" r:id="rId15"/>
    <p:sldId id="333" r:id="rId16"/>
    <p:sldId id="320" r:id="rId17"/>
    <p:sldId id="311" r:id="rId18"/>
    <p:sldId id="312" r:id="rId19"/>
    <p:sldId id="321" r:id="rId20"/>
    <p:sldId id="313" r:id="rId2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3B72"/>
    <a:srgbClr val="FE9809"/>
    <a:srgbClr val="CC00FF"/>
    <a:srgbClr val="AC2475"/>
    <a:srgbClr val="E2201D"/>
    <a:srgbClr val="95B6DF"/>
    <a:srgbClr val="FEB200"/>
    <a:srgbClr val="EEEEEB"/>
    <a:srgbClr val="DFE2EA"/>
    <a:srgbClr val="4965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53"/>
    <p:restoredTop sz="92941" autoAdjust="0"/>
  </p:normalViewPr>
  <p:slideViewPr>
    <p:cSldViewPr>
      <p:cViewPr>
        <p:scale>
          <a:sx n="60" d="100"/>
          <a:sy n="60" d="100"/>
        </p:scale>
        <p:origin x="728" y="2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9/21/2025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Source: https://pixabay.com/en/coins-pennies-money-currency-cash-912719/</a:t>
            </a:r>
          </a:p>
        </p:txBody>
      </p:sp>
      <p:sp>
        <p:nvSpPr>
          <p:cNvPr id="4" name="Slide Number Placeholder 3"/>
          <p:cNvSpPr>
            <a:spLocks noGrp="1"/>
          </p:cNvSpPr>
          <p:nvPr>
            <p:ph type="sldNum" sz="quarter" idx="10"/>
          </p:nvPr>
        </p:nvSpPr>
        <p:spPr/>
        <p:txBody>
          <a:bodyPr/>
          <a:lstStyle/>
          <a:p>
            <a:fld id="{9DD52C0D-EA9D-45E2-A905-27ECF9FDA683}" type="slidenum">
              <a:rPr lang="en-US" smtClean="0"/>
              <a:t>1</a:t>
            </a:fld>
            <a:endParaRPr lang="en-US"/>
          </a:p>
        </p:txBody>
      </p:sp>
    </p:spTree>
    <p:extLst>
      <p:ext uri="{BB962C8B-B14F-4D97-AF65-F5344CB8AC3E}">
        <p14:creationId xmlns:p14="http://schemas.microsoft.com/office/powerpoint/2010/main" val="2095116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179534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2425305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498B-3730-02A6-0B2D-90F1D8206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1A01C-5B1F-7A6F-8F2E-BCA3E50A2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671D2-A377-B8BF-608F-6447F976BE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EFF8D-274C-C908-4DCC-573305A65BC2}"/>
              </a:ext>
            </a:extLst>
          </p:cNvPr>
          <p:cNvSpPr>
            <a:spLocks noGrp="1"/>
          </p:cNvSpPr>
          <p:nvPr>
            <p:ph type="sldNum" sz="quarter" idx="5"/>
          </p:nvPr>
        </p:nvSpPr>
        <p:spPr/>
        <p:txBody>
          <a:bodyPr/>
          <a:lstStyle/>
          <a:p>
            <a:fld id="{CA2D21D1-52E2-420B-B491-CFF6D7BB79FB}"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1633494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5</a:t>
            </a:fld>
            <a:endParaRPr lang="en-US"/>
          </a:p>
        </p:txBody>
      </p:sp>
    </p:spTree>
    <p:extLst>
      <p:ext uri="{BB962C8B-B14F-4D97-AF65-F5344CB8AC3E}">
        <p14:creationId xmlns:p14="http://schemas.microsoft.com/office/powerpoint/2010/main" val="803720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408880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498B-3730-02A6-0B2D-90F1D8206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1A01C-5B1F-7A6F-8F2E-BCA3E50A2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671D2-A377-B8BF-608F-6447F976BE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EFF8D-274C-C908-4DCC-573305A65BC2}"/>
              </a:ext>
            </a:extLst>
          </p:cNvPr>
          <p:cNvSpPr>
            <a:spLocks noGrp="1"/>
          </p:cNvSpPr>
          <p:nvPr>
            <p:ph type="sldNum" sz="quarter" idx="5"/>
          </p:nvPr>
        </p:nvSpPr>
        <p:spPr/>
        <p:txBody>
          <a:bodyPr/>
          <a:lstStyle/>
          <a:p>
            <a:fld id="{CA2D21D1-52E2-420B-B491-CFF6D7BB79FB}" type="slidenum">
              <a:rPr lang="en-US" smtClean="0"/>
              <a:pPr/>
              <a:t>8</a:t>
            </a:fld>
            <a:endParaRPr lang="en-US"/>
          </a:p>
        </p:txBody>
      </p:sp>
    </p:spTree>
    <p:extLst>
      <p:ext uri="{BB962C8B-B14F-4D97-AF65-F5344CB8AC3E}">
        <p14:creationId xmlns:p14="http://schemas.microsoft.com/office/powerpoint/2010/main" val="313940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2223738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069380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251187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404473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266855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1984427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3916439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3953650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498B-3730-02A6-0B2D-90F1D8206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1A01C-5B1F-7A6F-8F2E-BCA3E50A2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C671D2-A377-B8BF-608F-6447F976BE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EFF8D-274C-C908-4DCC-573305A65BC2}"/>
              </a:ext>
            </a:extLst>
          </p:cNvPr>
          <p:cNvSpPr>
            <a:spLocks noGrp="1"/>
          </p:cNvSpPr>
          <p:nvPr>
            <p:ph type="sldNum" sz="quarter" idx="5"/>
          </p:nvPr>
        </p:nvSpPr>
        <p:spPr/>
        <p:txBody>
          <a:bodyPr/>
          <a:lstStyle/>
          <a:p>
            <a:fld id="{CA2D21D1-52E2-420B-B491-CFF6D7BB79FB}"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838576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2D21D1-52E2-420B-B491-CFF6D7BB79FB}"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1200925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8895" y="4176728"/>
            <a:ext cx="3816424" cy="764440"/>
          </a:xfrm>
        </p:spPr>
        <p:txBody>
          <a:bodyPr>
            <a:normAutofit/>
          </a:bodyPr>
          <a:lstStyle>
            <a:lvl1pPr marL="0" indent="0" algn="l">
              <a:buNone/>
              <a:defRPr lang="en-US" sz="2400" kern="1200" smtClean="0">
                <a:solidFill>
                  <a:schemeClr val="bg1"/>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13" name="Title 1">
            <a:extLst>
              <a:ext uri="{FF2B5EF4-FFF2-40B4-BE49-F238E27FC236}">
                <a16:creationId xmlns:a16="http://schemas.microsoft.com/office/drawing/2014/main" id="{5C532430-68DD-E050-CF5E-A3C1209424A0}"/>
              </a:ext>
            </a:extLst>
          </p:cNvPr>
          <p:cNvSpPr>
            <a:spLocks noGrp="1"/>
          </p:cNvSpPr>
          <p:nvPr>
            <p:ph type="ctrTitle" hasCustomPrompt="1"/>
          </p:nvPr>
        </p:nvSpPr>
        <p:spPr>
          <a:xfrm>
            <a:off x="608894" y="2242116"/>
            <a:ext cx="3816425" cy="1834956"/>
          </a:xfrm>
        </p:spPr>
        <p:txBody>
          <a:bodyPr anchor="b">
            <a:noAutofit/>
          </a:bodyPr>
          <a:lstStyle>
            <a:lvl1pPr algn="l">
              <a:defRPr lang="en-US" sz="4800" kern="1200" smtClean="0">
                <a:solidFill>
                  <a:schemeClr val="bg1"/>
                </a:solidFill>
                <a:latin typeface="Segoe UI Black" panose="020B0A02040204020203" pitchFamily="34" charset="0"/>
                <a:ea typeface="Segoe UI Black" panose="020B0A02040204020203" pitchFamily="34" charset="0"/>
                <a:cs typeface="+mj-cs"/>
              </a:defRPr>
            </a:lvl1pPr>
          </a:lstStyle>
          <a:p>
            <a:r>
              <a:rPr lang="en-US" dirty="0"/>
              <a:t>CLICK TO EDIT MASTER TITLE STYLE</a:t>
            </a:r>
          </a:p>
        </p:txBody>
      </p: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527858" y="274639"/>
            <a:ext cx="10051526" cy="711081"/>
          </a:xfrm>
        </p:spPr>
        <p:txBody>
          <a:bodyPr>
            <a:noAutofit/>
          </a:bodyPr>
          <a:lstStyle>
            <a:lvl1pPr>
              <a:defRPr sz="4400">
                <a:solidFill>
                  <a:schemeClr val="accent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14" name="Text Placeholder 13">
            <a:extLst>
              <a:ext uri="{FF2B5EF4-FFF2-40B4-BE49-F238E27FC236}">
                <a16:creationId xmlns:a16="http://schemas.microsoft.com/office/drawing/2014/main" id="{3E0F98F1-58B1-71B5-CED7-25043889BE72}"/>
              </a:ext>
            </a:extLst>
          </p:cNvPr>
          <p:cNvSpPr>
            <a:spLocks noGrp="1"/>
          </p:cNvSpPr>
          <p:nvPr>
            <p:ph type="body" sz="quarter" idx="13"/>
          </p:nvPr>
        </p:nvSpPr>
        <p:spPr>
          <a:xfrm>
            <a:off x="1516284" y="1052736"/>
            <a:ext cx="10069974" cy="307273"/>
          </a:xfrm>
        </p:spPr>
        <p:txBody>
          <a:bodyPr anchor="ctr">
            <a:noAutofit/>
          </a:bodyPr>
          <a:lstStyle>
            <a:lvl1pPr marL="0" indent="0">
              <a:buFontTx/>
              <a:buNone/>
              <a:defRPr sz="1800">
                <a:solidFill>
                  <a:schemeClr val="tx1">
                    <a:lumMod val="50000"/>
                    <a:lumOff val="50000"/>
                  </a:schemeClr>
                </a:solidFill>
                <a:latin typeface="+mn-lt"/>
              </a:defRPr>
            </a:lvl1pPr>
          </a:lstStyle>
          <a:p>
            <a:pPr lvl="0"/>
            <a:r>
              <a:rPr lang="en-US" dirty="0"/>
              <a:t>Click to edit Master text style</a:t>
            </a:r>
          </a:p>
        </p:txBody>
      </p:sp>
    </p:spTree>
    <p:extLst>
      <p:ext uri="{BB962C8B-B14F-4D97-AF65-F5344CB8AC3E}">
        <p14:creationId xmlns:p14="http://schemas.microsoft.com/office/powerpoint/2010/main" val="142987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681249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23EA47-8A13-5580-E668-11C9EAA9C4EC}"/>
              </a:ext>
            </a:extLst>
          </p:cNvPr>
          <p:cNvSpPr>
            <a:spLocks noGrp="1"/>
          </p:cNvSpPr>
          <p:nvPr>
            <p:ph type="pic" sz="quarter" idx="13"/>
          </p:nvPr>
        </p:nvSpPr>
        <p:spPr>
          <a:xfrm>
            <a:off x="-1" y="-1"/>
            <a:ext cx="12188825" cy="6858000"/>
          </a:xfrm>
          <a:custGeom>
            <a:avLst/>
            <a:gdLst>
              <a:gd name="connsiteX0" fmla="*/ 0 w 12188825"/>
              <a:gd name="connsiteY0" fmla="*/ 0 h 6858000"/>
              <a:gd name="connsiteX1" fmla="*/ 12188825 w 12188825"/>
              <a:gd name="connsiteY1" fmla="*/ 0 h 6858000"/>
              <a:gd name="connsiteX2" fmla="*/ 12188825 w 12188825"/>
              <a:gd name="connsiteY2" fmla="*/ 6858000 h 6858000"/>
              <a:gd name="connsiteX3" fmla="*/ 0 w 1218882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88825" h="6858000">
                <a:moveTo>
                  <a:pt x="0" y="0"/>
                </a:moveTo>
                <a:lnTo>
                  <a:pt x="12188825" y="0"/>
                </a:lnTo>
                <a:lnTo>
                  <a:pt x="12188825" y="6858000"/>
                </a:lnTo>
                <a:lnTo>
                  <a:pt x="0" y="6858000"/>
                </a:lnTo>
                <a:close/>
              </a:path>
            </a:pathLst>
          </a:custGeom>
        </p:spPr>
        <p:txBody>
          <a:bodyPr wrap="square" anchor="ctr">
            <a:noAutofit/>
          </a:bodyPr>
          <a:lstStyle>
            <a:lvl1pPr marL="0" indent="0" algn="ctr">
              <a:buFontTx/>
              <a:buNone/>
              <a:defRPr/>
            </a:lvl1pPr>
          </a:lstStyle>
          <a:p>
            <a:endParaRPr lang="en-US"/>
          </a:p>
        </p:txBody>
      </p:sp>
      <p:sp>
        <p:nvSpPr>
          <p:cNvPr id="2" name="Date Placeholder 1"/>
          <p:cNvSpPr>
            <a:spLocks noGrp="1"/>
          </p:cNvSpPr>
          <p:nvPr>
            <p:ph type="dt" sz="half" idx="10"/>
          </p:nvPr>
        </p:nvSpPr>
        <p:spPr/>
        <p:txBody>
          <a:bodyPr/>
          <a:lstStyle/>
          <a:p>
            <a:fld id="{425404F2-BE9A-4460-8815-8F645183555F}" type="datetimeFigureOut">
              <a:rPr lang="en-US" smtClean="0"/>
              <a:pPr/>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24973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9" name="Picture Placeholder 8">
            <a:extLst>
              <a:ext uri="{FF2B5EF4-FFF2-40B4-BE49-F238E27FC236}">
                <a16:creationId xmlns:a16="http://schemas.microsoft.com/office/drawing/2014/main" id="{AF6F8577-4E31-9E00-CB4D-B9ADB3FA3EF3}"/>
              </a:ext>
            </a:extLst>
          </p:cNvPr>
          <p:cNvSpPr>
            <a:spLocks noGrp="1"/>
          </p:cNvSpPr>
          <p:nvPr>
            <p:ph type="pic" sz="quarter" idx="13"/>
          </p:nvPr>
        </p:nvSpPr>
        <p:spPr>
          <a:xfrm>
            <a:off x="6958507" y="0"/>
            <a:ext cx="5230317" cy="6858000"/>
          </a:xfrm>
          <a:custGeom>
            <a:avLst/>
            <a:gdLst>
              <a:gd name="connsiteX0" fmla="*/ 1015876 w 5230317"/>
              <a:gd name="connsiteY0" fmla="*/ 0 h 6858000"/>
              <a:gd name="connsiteX1" fmla="*/ 5230317 w 5230317"/>
              <a:gd name="connsiteY1" fmla="*/ 0 h 6858000"/>
              <a:gd name="connsiteX2" fmla="*/ 5230317 w 5230317"/>
              <a:gd name="connsiteY2" fmla="*/ 6858000 h 6858000"/>
              <a:gd name="connsiteX3" fmla="*/ 1015876 w 5230317"/>
              <a:gd name="connsiteY3" fmla="*/ 6858000 h 6858000"/>
              <a:gd name="connsiteX4" fmla="*/ 0 w 5230317"/>
              <a:gd name="connsiteY4" fmla="*/ 5842124 h 6858000"/>
              <a:gd name="connsiteX5" fmla="*/ 0 w 5230317"/>
              <a:gd name="connsiteY5" fmla="*/ 1015876 h 6858000"/>
              <a:gd name="connsiteX6" fmla="*/ 1015876 w 523031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0317" h="6858000">
                <a:moveTo>
                  <a:pt x="1015876" y="0"/>
                </a:moveTo>
                <a:lnTo>
                  <a:pt x="5230317" y="0"/>
                </a:lnTo>
                <a:lnTo>
                  <a:pt x="5230317" y="6858000"/>
                </a:lnTo>
                <a:lnTo>
                  <a:pt x="1015876" y="6858000"/>
                </a:lnTo>
                <a:cubicBezTo>
                  <a:pt x="454823" y="6858000"/>
                  <a:pt x="0" y="6403177"/>
                  <a:pt x="0" y="5842124"/>
                </a:cubicBezTo>
                <a:lnTo>
                  <a:pt x="0" y="1015876"/>
                </a:lnTo>
                <a:cubicBezTo>
                  <a:pt x="0" y="454823"/>
                  <a:pt x="454823" y="0"/>
                  <a:pt x="1015876" y="0"/>
                </a:cubicBezTo>
                <a:close/>
              </a:path>
            </a:pathLst>
          </a:custGeom>
        </p:spPr>
        <p:txBody>
          <a:bodyPr wrap="square" anchor="ctr">
            <a:noAutofit/>
          </a:bodyPr>
          <a:lstStyle>
            <a:lvl1pPr marL="0" indent="0" algn="ctr">
              <a:buFontTx/>
              <a:buNone/>
              <a:defRPr/>
            </a:lvl1pPr>
          </a:lstStyle>
          <a:p>
            <a:endParaRPr lang="en-US"/>
          </a:p>
        </p:txBody>
      </p:sp>
    </p:spTree>
    <p:extLst>
      <p:ext uri="{BB962C8B-B14F-4D97-AF65-F5344CB8AC3E}">
        <p14:creationId xmlns:p14="http://schemas.microsoft.com/office/powerpoint/2010/main" val="189750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16" name="Picture Placeholder 15">
            <a:extLst>
              <a:ext uri="{FF2B5EF4-FFF2-40B4-BE49-F238E27FC236}">
                <a16:creationId xmlns:a16="http://schemas.microsoft.com/office/drawing/2014/main" id="{5754AEE8-08A7-1D3D-4CBC-A3538CD579C2}"/>
              </a:ext>
            </a:extLst>
          </p:cNvPr>
          <p:cNvSpPr>
            <a:spLocks noGrp="1"/>
          </p:cNvSpPr>
          <p:nvPr>
            <p:ph type="pic" sz="quarter" idx="14"/>
          </p:nvPr>
        </p:nvSpPr>
        <p:spPr>
          <a:xfrm>
            <a:off x="0" y="1"/>
            <a:ext cx="6949440" cy="6851469"/>
          </a:xfrm>
          <a:custGeom>
            <a:avLst/>
            <a:gdLst>
              <a:gd name="connsiteX0" fmla="*/ 0 w 6949440"/>
              <a:gd name="connsiteY0" fmla="*/ 0 h 6851469"/>
              <a:gd name="connsiteX1" fmla="*/ 5807506 w 6949440"/>
              <a:gd name="connsiteY1" fmla="*/ 0 h 6851469"/>
              <a:gd name="connsiteX2" fmla="*/ 6949440 w 6949440"/>
              <a:gd name="connsiteY2" fmla="*/ 1141934 h 6851469"/>
              <a:gd name="connsiteX3" fmla="*/ 6949440 w 6949440"/>
              <a:gd name="connsiteY3" fmla="*/ 5709535 h 6851469"/>
              <a:gd name="connsiteX4" fmla="*/ 5807506 w 6949440"/>
              <a:gd name="connsiteY4" fmla="*/ 6851469 h 6851469"/>
              <a:gd name="connsiteX5" fmla="*/ 0 w 6949440"/>
              <a:gd name="connsiteY5" fmla="*/ 6851469 h 685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9440" h="6851469">
                <a:moveTo>
                  <a:pt x="0" y="0"/>
                </a:moveTo>
                <a:lnTo>
                  <a:pt x="5807506" y="0"/>
                </a:lnTo>
                <a:cubicBezTo>
                  <a:pt x="6438179" y="0"/>
                  <a:pt x="6949440" y="511261"/>
                  <a:pt x="6949440" y="1141934"/>
                </a:cubicBezTo>
                <a:lnTo>
                  <a:pt x="6949440" y="5709535"/>
                </a:lnTo>
                <a:cubicBezTo>
                  <a:pt x="6949440" y="6340208"/>
                  <a:pt x="6438179" y="6851469"/>
                  <a:pt x="5807506" y="6851469"/>
                </a:cubicBezTo>
                <a:lnTo>
                  <a:pt x="0" y="6851469"/>
                </a:lnTo>
                <a:close/>
              </a:path>
            </a:pathLst>
          </a:custGeom>
        </p:spPr>
        <p:txBody>
          <a:bodyPr wrap="square" anchor="ctr">
            <a:noAutofit/>
          </a:bodyPr>
          <a:lstStyle>
            <a:lvl1pPr marL="0" indent="0" algn="ctr">
              <a:buFontTx/>
              <a:buNone/>
              <a:defRPr/>
            </a:lvl1pPr>
          </a:lstStyle>
          <a:p>
            <a:endParaRPr lang="en-US"/>
          </a:p>
        </p:txBody>
      </p:sp>
    </p:spTree>
    <p:extLst>
      <p:ext uri="{BB962C8B-B14F-4D97-AF65-F5344CB8AC3E}">
        <p14:creationId xmlns:p14="http://schemas.microsoft.com/office/powerpoint/2010/main" val="10929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106868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9/21/2025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54" r:id="rId2"/>
    <p:sldLayoutId id="2147483655" r:id="rId3"/>
    <p:sldLayoutId id="2147483662" r:id="rId4"/>
    <p:sldLayoutId id="2147483663" r:id="rId5"/>
    <p:sldLayoutId id="2147483664" r:id="rId6"/>
    <p:sldLayoutId id="2147483665" r:id="rId7"/>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894"/>
            <a:ext cx="12188825" cy="457081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9" name="Parallelogram 8"/>
          <p:cNvSpPr/>
          <p:nvPr/>
        </p:nvSpPr>
        <p:spPr>
          <a:xfrm flipH="1">
            <a:off x="5967775" y="895"/>
            <a:ext cx="6221050" cy="4570809"/>
          </a:xfrm>
          <a:prstGeom prst="parallelogram">
            <a:avLst>
              <a:gd name="adj" fmla="val 47338"/>
            </a:avLst>
          </a:prstGeom>
          <a:solidFill>
            <a:srgbClr val="80808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6" name="TextBox 5"/>
          <p:cNvSpPr txBox="1"/>
          <p:nvPr/>
        </p:nvSpPr>
        <p:spPr>
          <a:xfrm>
            <a:off x="550701" y="4690284"/>
            <a:ext cx="4535599" cy="461665"/>
          </a:xfrm>
          <a:prstGeom prst="rect">
            <a:avLst/>
          </a:prstGeom>
          <a:noFill/>
        </p:spPr>
        <p:txBody>
          <a:bodyPr wrap="square" rtlCol="0">
            <a:spAutoFit/>
          </a:bodyPr>
          <a:lstStyle/>
          <a:p>
            <a:r>
              <a:rPr lang="en-US" dirty="0">
                <a:latin typeface="Swis721 Ex BT" panose="020B0605020202020204" pitchFamily="34" charset="0"/>
              </a:rPr>
              <a:t>A presentation  </a:t>
            </a:r>
            <a:r>
              <a:rPr lang="en-US" dirty="0">
                <a:latin typeface="Trebuchet MS" panose="020B0603020202020204" pitchFamily="34" charset="0"/>
              </a:rPr>
              <a:t>by</a:t>
            </a:r>
            <a:endParaRPr lang="en-US" spc="-150" dirty="0">
              <a:solidFill>
                <a:schemeClr val="accent6"/>
              </a:solidFill>
              <a:latin typeface="Arial" panose="020B0604020202020204" pitchFamily="34" charset="0"/>
              <a:cs typeface="Arial" panose="020B0604020202020204" pitchFamily="34" charset="0"/>
            </a:endParaRPr>
          </a:p>
        </p:txBody>
      </p:sp>
      <p:sp>
        <p:nvSpPr>
          <p:cNvPr id="8" name="TextBox 7"/>
          <p:cNvSpPr txBox="1"/>
          <p:nvPr/>
        </p:nvSpPr>
        <p:spPr>
          <a:xfrm>
            <a:off x="550700" y="5288958"/>
            <a:ext cx="8194414" cy="830997"/>
          </a:xfrm>
          <a:prstGeom prst="rect">
            <a:avLst/>
          </a:prstGeom>
          <a:noFill/>
        </p:spPr>
        <p:txBody>
          <a:bodyPr wrap="square" rtlCol="0">
            <a:spAutoFit/>
          </a:bodyPr>
          <a:lstStyle/>
          <a:p>
            <a:r>
              <a:rPr lang="en-US" sz="2800" dirty="0">
                <a:latin typeface="Swis721 Hv BT" panose="020B0804020202020204" pitchFamily="34" charset="0"/>
              </a:rPr>
              <a:t>Mrs. Nella </a:t>
            </a:r>
            <a:r>
              <a:rPr lang="en-US" sz="2800" dirty="0" err="1">
                <a:latin typeface="Swis721 Hv BT" panose="020B0804020202020204" pitchFamily="34" charset="0"/>
              </a:rPr>
              <a:t>Andem</a:t>
            </a:r>
            <a:r>
              <a:rPr lang="en-US" sz="2800" dirty="0">
                <a:latin typeface="Swis721 Hv BT" panose="020B0804020202020204" pitchFamily="34" charset="0"/>
              </a:rPr>
              <a:t>-Ewa SAN </a:t>
            </a:r>
            <a:br>
              <a:rPr lang="en-US" sz="2800" dirty="0">
                <a:latin typeface="Swis721 Hv BT" panose="020B0804020202020204" pitchFamily="34" charset="0"/>
              </a:rPr>
            </a:br>
            <a:r>
              <a:rPr lang="en-US" sz="2000" dirty="0">
                <a:latin typeface="Swis721 Hv BT" panose="020B0804020202020204"/>
              </a:rPr>
              <a:t>FCI Arb, FNIPR</a:t>
            </a:r>
            <a:endParaRPr lang="en-US" sz="2799" spc="-150" dirty="0">
              <a:latin typeface="Arial" panose="020B0604020202020204" pitchFamily="34" charset="0"/>
              <a:cs typeface="Arial" panose="020B0604020202020204" pitchFamily="34" charset="0"/>
            </a:endParaRPr>
          </a:p>
        </p:txBody>
      </p:sp>
      <p:sp>
        <p:nvSpPr>
          <p:cNvPr id="23" name="Snip Diagonal Corner Rectangle 22"/>
          <p:cNvSpPr/>
          <p:nvPr/>
        </p:nvSpPr>
        <p:spPr>
          <a:xfrm>
            <a:off x="6660322" y="4495075"/>
            <a:ext cx="4891360" cy="988288"/>
          </a:xfrm>
          <a:prstGeom prst="snip2DiagRect">
            <a:avLst>
              <a:gd name="adj1" fmla="val 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bg1"/>
              </a:solidFill>
              <a:latin typeface="Arial" panose="020B0604020202020204" pitchFamily="34" charset="0"/>
              <a:cs typeface="Arial" panose="020B0604020202020204" pitchFamily="34" charset="0"/>
            </a:endParaRPr>
          </a:p>
        </p:txBody>
      </p:sp>
      <p:sp>
        <p:nvSpPr>
          <p:cNvPr id="24" name="Snip Diagonal Corner Rectangle 23"/>
          <p:cNvSpPr/>
          <p:nvPr/>
        </p:nvSpPr>
        <p:spPr>
          <a:xfrm flipH="1">
            <a:off x="6660322" y="3074099"/>
            <a:ext cx="4891360" cy="988288"/>
          </a:xfrm>
          <a:prstGeom prst="snip2DiagRect">
            <a:avLst>
              <a:gd name="adj1" fmla="val 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bg1"/>
              </a:solidFill>
              <a:latin typeface="Arial" panose="020B0604020202020204" pitchFamily="34" charset="0"/>
              <a:cs typeface="Arial" panose="020B0604020202020204" pitchFamily="34" charset="0"/>
            </a:endParaRPr>
          </a:p>
        </p:txBody>
      </p:sp>
      <p:sp>
        <p:nvSpPr>
          <p:cNvPr id="25" name="Snip Diagonal Corner Rectangle 24"/>
          <p:cNvSpPr/>
          <p:nvPr/>
        </p:nvSpPr>
        <p:spPr>
          <a:xfrm>
            <a:off x="6660322" y="1653122"/>
            <a:ext cx="4891360" cy="988288"/>
          </a:xfrm>
          <a:prstGeom prst="snip2DiagRect">
            <a:avLst>
              <a:gd name="adj1" fmla="val 0"/>
              <a:gd name="adj2"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dirty="0">
              <a:solidFill>
                <a:schemeClr val="bg1"/>
              </a:solidFill>
              <a:latin typeface="Arial" panose="020B0604020202020204" pitchFamily="34" charset="0"/>
              <a:cs typeface="Arial" panose="020B0604020202020204" pitchFamily="34" charset="0"/>
            </a:endParaRPr>
          </a:p>
        </p:txBody>
      </p:sp>
      <p:sp>
        <p:nvSpPr>
          <p:cNvPr id="27" name="Rectangle 26"/>
          <p:cNvSpPr/>
          <p:nvPr/>
        </p:nvSpPr>
        <p:spPr>
          <a:xfrm>
            <a:off x="6660322" y="893"/>
            <a:ext cx="854801" cy="16522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8" name="Rectangle 27"/>
          <p:cNvSpPr/>
          <p:nvPr/>
        </p:nvSpPr>
        <p:spPr>
          <a:xfrm>
            <a:off x="10696880" y="5483362"/>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9" name="Rectangle 28"/>
          <p:cNvSpPr/>
          <p:nvPr/>
        </p:nvSpPr>
        <p:spPr>
          <a:xfrm>
            <a:off x="6660321" y="4062387"/>
            <a:ext cx="854801" cy="44025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30" name="Rectangle 29"/>
          <p:cNvSpPr/>
          <p:nvPr/>
        </p:nvSpPr>
        <p:spPr>
          <a:xfrm>
            <a:off x="10696880" y="2637628"/>
            <a:ext cx="854801" cy="44025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pic>
        <p:nvPicPr>
          <p:cNvPr id="31" name="Picture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0827" y="2633016"/>
            <a:ext cx="4380854" cy="219616"/>
          </a:xfrm>
          <a:prstGeom prst="rect">
            <a:avLst/>
          </a:prstGeom>
        </p:spPr>
      </p:pic>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321" y="4058481"/>
            <a:ext cx="4380854" cy="215126"/>
          </a:xfrm>
          <a:prstGeom prst="rect">
            <a:avLst/>
          </a:prstGeom>
        </p:spPr>
      </p:pic>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0828" y="5486490"/>
            <a:ext cx="4380854" cy="460519"/>
          </a:xfrm>
          <a:prstGeom prst="rect">
            <a:avLst/>
          </a:prstGeom>
        </p:spPr>
      </p:pic>
      <p:sp>
        <p:nvSpPr>
          <p:cNvPr id="2" name="TextBox 1">
            <a:extLst>
              <a:ext uri="{FF2B5EF4-FFF2-40B4-BE49-F238E27FC236}">
                <a16:creationId xmlns:a16="http://schemas.microsoft.com/office/drawing/2014/main" id="{0AE9902C-D499-950C-7EDA-4CFAD5520259}"/>
              </a:ext>
            </a:extLst>
          </p:cNvPr>
          <p:cNvSpPr txBox="1"/>
          <p:nvPr/>
        </p:nvSpPr>
        <p:spPr>
          <a:xfrm>
            <a:off x="781469" y="3446941"/>
            <a:ext cx="9494067" cy="523220"/>
          </a:xfrm>
          <a:prstGeom prst="rect">
            <a:avLst/>
          </a:prstGeom>
          <a:noFill/>
        </p:spPr>
        <p:txBody>
          <a:bodyPr wrap="square" rtlCol="0">
            <a:spAutoFit/>
          </a:bodyPr>
          <a:lstStyle/>
          <a:p>
            <a:pPr algn="ctr"/>
            <a:r>
              <a:rPr lang="en-US" sz="2800" dirty="0">
                <a:solidFill>
                  <a:schemeClr val="bg1"/>
                </a:solidFill>
                <a:latin typeface="Swis721 Hv BT" panose="020B0804020202020204" pitchFamily="34" charset="0"/>
              </a:rPr>
              <a:t>Preserving the standards of the inner BAR </a:t>
            </a:r>
            <a:endParaRPr lang="en-US" sz="1600" dirty="0">
              <a:solidFill>
                <a:schemeClr val="bg1"/>
              </a:solidFill>
              <a:latin typeface="Swis721 Hv BT" panose="020B0804020202020204" pitchFamily="34" charset="0"/>
            </a:endParaRPr>
          </a:p>
        </p:txBody>
      </p:sp>
      <p:sp>
        <p:nvSpPr>
          <p:cNvPr id="5" name="TextBox 4"/>
          <p:cNvSpPr txBox="1"/>
          <p:nvPr/>
        </p:nvSpPr>
        <p:spPr>
          <a:xfrm>
            <a:off x="-25671" y="1777097"/>
            <a:ext cx="9494067" cy="1200329"/>
          </a:xfrm>
          <a:prstGeom prst="rect">
            <a:avLst/>
          </a:prstGeom>
          <a:noFill/>
        </p:spPr>
        <p:txBody>
          <a:bodyPr wrap="square" rtlCol="0">
            <a:spAutoFit/>
          </a:bodyPr>
          <a:lstStyle/>
          <a:p>
            <a:pPr algn="ctr"/>
            <a:r>
              <a:rPr lang="en-US" sz="3600" dirty="0">
                <a:solidFill>
                  <a:schemeClr val="bg1"/>
                </a:solidFill>
                <a:latin typeface="Swis721 Hv BT" panose="020B0804020202020204" pitchFamily="34" charset="0"/>
              </a:rPr>
              <a:t>MENTORSHIP AND KNOWLEDGE TRANSFER:</a:t>
            </a:r>
            <a:endParaRPr lang="en-US" sz="2000" dirty="0">
              <a:solidFill>
                <a:schemeClr val="bg1"/>
              </a:solidFill>
              <a:latin typeface="Swis721 Hv BT" panose="020B0804020202020204" pitchFamily="34" charset="0"/>
            </a:endParaRPr>
          </a:p>
        </p:txBody>
      </p:sp>
    </p:spTree>
    <p:extLst>
      <p:ext uri="{BB962C8B-B14F-4D97-AF65-F5344CB8AC3E}">
        <p14:creationId xmlns:p14="http://schemas.microsoft.com/office/powerpoint/2010/main" val="64185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750144" y="1143797"/>
            <a:ext cx="2463948" cy="711081"/>
          </a:xfrm>
        </p:spPr>
        <p:txBody>
          <a:bodyPr/>
          <a:lstStyle/>
          <a:p>
            <a:r>
              <a:rPr lang="en-US" dirty="0">
                <a:solidFill>
                  <a:schemeClr val="tx1"/>
                </a:solidFill>
                <a:latin typeface="Aptos" panose="020B0004020202020204" pitchFamily="34" charset="0"/>
              </a:rPr>
              <a:t>Outline</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3214092" y="1047583"/>
            <a:ext cx="9083456" cy="5621777"/>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457200" indent="-457200"/>
            <a:r>
              <a:rPr lang="en-US" sz="1800" dirty="0">
                <a:latin typeface="Aptos" panose="020B0004020202020204" pitchFamily="34" charset="0"/>
              </a:rPr>
              <a:t>Preamble</a:t>
            </a:r>
          </a:p>
          <a:p>
            <a:pPr marL="457200" indent="-457200"/>
            <a:r>
              <a:rPr lang="en-US" sz="1800" dirty="0">
                <a:latin typeface="Aptos" panose="020B0004020202020204" pitchFamily="34" charset="0"/>
              </a:rPr>
              <a:t>Introduction</a:t>
            </a:r>
          </a:p>
          <a:p>
            <a:pPr marL="457200" indent="-457200"/>
            <a:r>
              <a:rPr lang="en-US" sz="1800" dirty="0">
                <a:latin typeface="Aptos" panose="020B0004020202020204" pitchFamily="34" charset="0"/>
              </a:rPr>
              <a:t>Posers</a:t>
            </a:r>
          </a:p>
          <a:p>
            <a:pPr marL="457200" indent="-457200"/>
            <a:r>
              <a:rPr lang="en-US" sz="1800" dirty="0">
                <a:latin typeface="Aptos" panose="020B0004020202020204" pitchFamily="34" charset="0"/>
              </a:rPr>
              <a:t>Cornerstone Pillars of the Inner Bar</a:t>
            </a:r>
          </a:p>
          <a:p>
            <a:pPr marL="457200" indent="-457200"/>
            <a:r>
              <a:rPr lang="en-US" sz="1800" dirty="0">
                <a:latin typeface="Aptos" panose="020B0004020202020204" pitchFamily="34" charset="0"/>
              </a:rPr>
              <a:t>Mentorship</a:t>
            </a:r>
          </a:p>
          <a:p>
            <a:pPr marL="457200" indent="-457200"/>
            <a:r>
              <a:rPr lang="en-US" sz="1800" dirty="0">
                <a:latin typeface="Aptos" panose="020B0004020202020204" pitchFamily="34" charset="0"/>
              </a:rPr>
              <a:t>Types of Mentorship</a:t>
            </a:r>
          </a:p>
          <a:p>
            <a:pPr marL="457200" indent="-457200"/>
            <a:r>
              <a:rPr lang="en-US" sz="1800" kern="0" dirty="0">
                <a:latin typeface="Aptos" panose="020B0004020202020204" pitchFamily="34" charset="0"/>
                <a:ea typeface="Times New Roman" panose="02020603050405020304" pitchFamily="18" charset="0"/>
                <a:cs typeface="Times New Roman" panose="02020603050405020304" pitchFamily="18" charset="0"/>
              </a:rPr>
              <a:t>The Presumption and Responsibility of the Senior Advocate as a Mentor</a:t>
            </a:r>
            <a:r>
              <a:rPr lang="en-US" sz="1800" dirty="0">
                <a:latin typeface="Aptos" panose="020B0004020202020204" pitchFamily="34" charset="0"/>
              </a:rPr>
              <a:t> </a:t>
            </a:r>
          </a:p>
          <a:p>
            <a:pPr marL="457200" indent="-457200"/>
            <a:r>
              <a:rPr lang="en-US" sz="1800" dirty="0">
                <a:latin typeface="Aptos" panose="020B0004020202020204" pitchFamily="34" charset="0"/>
              </a:rPr>
              <a:t>Knowledge Transfer as Legacy: Technical and Moral</a:t>
            </a:r>
          </a:p>
          <a:p>
            <a:pPr marL="457200" indent="-457200"/>
            <a:r>
              <a:rPr lang="en-US" sz="1800" dirty="0">
                <a:latin typeface="Aptos" panose="020B0004020202020204" pitchFamily="34" charset="0"/>
              </a:rPr>
              <a:t>Mentorship: Skill Transfer</a:t>
            </a:r>
          </a:p>
          <a:p>
            <a:pPr marL="457200" indent="-457200"/>
            <a:r>
              <a:rPr lang="en-US" sz="1800" dirty="0">
                <a:latin typeface="Aptos" panose="020B0004020202020204" pitchFamily="34" charset="0"/>
              </a:rPr>
              <a:t>Practical Steps of Preserving  Standards </a:t>
            </a:r>
          </a:p>
          <a:p>
            <a:pPr marL="457200" indent="-457200"/>
            <a:r>
              <a:rPr lang="en-US" sz="1800" dirty="0">
                <a:latin typeface="Aptos" panose="020B0004020202020204" pitchFamily="34" charset="0"/>
              </a:rPr>
              <a:t>Challenges to Overcome as Mentors</a:t>
            </a:r>
          </a:p>
          <a:p>
            <a:pPr marL="457200" indent="-457200"/>
            <a:r>
              <a:rPr lang="en-US" sz="1800" dirty="0">
                <a:latin typeface="Aptos" panose="020B0004020202020204" pitchFamily="34" charset="0"/>
              </a:rPr>
              <a:t>Charge to New Senior Advocates </a:t>
            </a:r>
          </a:p>
          <a:p>
            <a:pPr marL="457200" indent="-457200"/>
            <a:r>
              <a:rPr lang="en-US" sz="1800" dirty="0">
                <a:latin typeface="Aptos" panose="020B0004020202020204" pitchFamily="34" charset="0"/>
              </a:rPr>
              <a:t>Proposals for Body of Senior Advocates of Nigeria (BOSAN)</a:t>
            </a:r>
          </a:p>
          <a:p>
            <a:pPr marL="457200" indent="-457200"/>
            <a:r>
              <a:rPr lang="en-US" sz="1800" dirty="0">
                <a:latin typeface="Aptos" panose="020B0004020202020204" pitchFamily="34" charset="0"/>
              </a:rPr>
              <a:t>Conclusion: A Legacy of Distinction</a:t>
            </a:r>
          </a:p>
        </p:txBody>
      </p:sp>
      <p:grpSp>
        <p:nvGrpSpPr>
          <p:cNvPr id="2" name="Group 1">
            <a:extLst>
              <a:ext uri="{FF2B5EF4-FFF2-40B4-BE49-F238E27FC236}">
                <a16:creationId xmlns:a16="http://schemas.microsoft.com/office/drawing/2014/main" id="{B3F68C73-32D7-9C31-060A-B3232A84E9C2}"/>
              </a:ext>
            </a:extLst>
          </p:cNvPr>
          <p:cNvGrpSpPr/>
          <p:nvPr/>
        </p:nvGrpSpPr>
        <p:grpSpPr>
          <a:xfrm>
            <a:off x="765820" y="2136597"/>
            <a:ext cx="2366691" cy="2455626"/>
            <a:chOff x="1783505" y="2413534"/>
            <a:chExt cx="1002890" cy="1002890"/>
          </a:xfrm>
        </p:grpSpPr>
        <p:sp>
          <p:nvSpPr>
            <p:cNvPr id="3" name="Oval 2">
              <a:extLst>
                <a:ext uri="{FF2B5EF4-FFF2-40B4-BE49-F238E27FC236}">
                  <a16:creationId xmlns:a16="http://schemas.microsoft.com/office/drawing/2014/main" id="{4E5F00D2-3BE0-90F8-AEDA-9E244B326735}"/>
                </a:ext>
              </a:extLst>
            </p:cNvPr>
            <p:cNvSpPr/>
            <p:nvPr/>
          </p:nvSpPr>
          <p:spPr>
            <a:xfrm>
              <a:off x="1783505" y="2413534"/>
              <a:ext cx="1002890" cy="1002890"/>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 name="Graphic 3" descr="Open book outline">
              <a:extLst>
                <a:ext uri="{FF2B5EF4-FFF2-40B4-BE49-F238E27FC236}">
                  <a16:creationId xmlns:a16="http://schemas.microsoft.com/office/drawing/2014/main" id="{10DCAB6C-3AE1-E177-2D18-41195A3149A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3136" y="2643645"/>
              <a:ext cx="583628" cy="583628"/>
            </a:xfrm>
            <a:prstGeom prst="rect">
              <a:avLst/>
            </a:prstGeom>
          </p:spPr>
        </p:pic>
      </p:grpSp>
      <p:sp>
        <p:nvSpPr>
          <p:cNvPr id="6" name="Rectangle 5">
            <a:extLst>
              <a:ext uri="{FF2B5EF4-FFF2-40B4-BE49-F238E27FC236}">
                <a16:creationId xmlns:a16="http://schemas.microsoft.com/office/drawing/2014/main" id="{14F1603A-EC9B-BBAC-579A-2778C34FF01F}"/>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02</a:t>
            </a:r>
            <a:endParaRPr lang="en-IN" b="1" dirty="0">
              <a:solidFill>
                <a:schemeClr val="bg1"/>
              </a:solidFill>
              <a:latin typeface="Aptos" panose="020B0004020202020204" pitchFamily="34" charset="0"/>
            </a:endParaRPr>
          </a:p>
        </p:txBody>
      </p:sp>
    </p:spTree>
    <p:extLst>
      <p:ext uri="{BB962C8B-B14F-4D97-AF65-F5344CB8AC3E}">
        <p14:creationId xmlns:p14="http://schemas.microsoft.com/office/powerpoint/2010/main" val="2460438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54BAD5-3A3D-62AC-75A9-D8D375CADDDE}"/>
              </a:ext>
            </a:extLst>
          </p:cNvPr>
          <p:cNvSpPr txBox="1">
            <a:spLocks/>
          </p:cNvSpPr>
          <p:nvPr/>
        </p:nvSpPr>
        <p:spPr>
          <a:xfrm>
            <a:off x="833624" y="1745472"/>
            <a:ext cx="10441160" cy="4641312"/>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457200" indent="-457200">
              <a:spcBef>
                <a:spcPts val="0"/>
              </a:spcBef>
            </a:pPr>
            <a:r>
              <a:rPr lang="en-US" sz="1800" dirty="0">
                <a:latin typeface="Aptos" panose="020B0004020202020204" pitchFamily="34" charset="0"/>
              </a:rPr>
              <a:t>Congratulations for successfully achieving the feat of entering the Body of Senior Advocates of Nigeria (BOSAN).</a:t>
            </a:r>
          </a:p>
          <a:p>
            <a:pPr marL="0" indent="0">
              <a:spcBef>
                <a:spcPts val="0"/>
              </a:spcBef>
              <a:buNone/>
            </a:pPr>
            <a:endParaRPr lang="en-US" sz="1600" dirty="0">
              <a:latin typeface="Aptos" panose="020B0004020202020204" pitchFamily="34" charset="0"/>
            </a:endParaRPr>
          </a:p>
          <a:p>
            <a:pPr marL="457200" indent="-457200">
              <a:spcBef>
                <a:spcPts val="0"/>
              </a:spcBef>
            </a:pPr>
            <a:r>
              <a:rPr lang="en-US" sz="1800" dirty="0">
                <a:latin typeface="Aptos" panose="020B0004020202020204" pitchFamily="34" charset="0"/>
              </a:rPr>
              <a:t>By achieving the highest legal distinction in</a:t>
            </a:r>
            <a:r>
              <a:rPr lang="en-US" sz="1800" b="1" dirty="0">
                <a:latin typeface="Aptos" panose="020B0004020202020204" pitchFamily="34" charset="0"/>
              </a:rPr>
              <a:t> Advocacy </a:t>
            </a:r>
            <a:r>
              <a:rPr lang="en-US" sz="1800" dirty="0">
                <a:latin typeface="Aptos" panose="020B0004020202020204" pitchFamily="34" charset="0"/>
              </a:rPr>
              <a:t>and </a:t>
            </a:r>
            <a:r>
              <a:rPr lang="en-US" sz="1800" b="1" dirty="0">
                <a:latin typeface="Aptos" panose="020B0004020202020204" pitchFamily="34" charset="0"/>
              </a:rPr>
              <a:t>Scholarship</a:t>
            </a:r>
            <a:r>
              <a:rPr lang="en-US" sz="1800" dirty="0">
                <a:latin typeface="Aptos" panose="020B0004020202020204" pitchFamily="34" charset="0"/>
              </a:rPr>
              <a:t> of the law.</a:t>
            </a:r>
          </a:p>
          <a:p>
            <a:pPr marL="0" indent="0">
              <a:spcBef>
                <a:spcPts val="0"/>
              </a:spcBef>
              <a:buNone/>
            </a:pPr>
            <a:endParaRPr lang="en-US" sz="1600" dirty="0">
              <a:latin typeface="Aptos" panose="020B0004020202020204" pitchFamily="34" charset="0"/>
            </a:endParaRPr>
          </a:p>
          <a:p>
            <a:pPr marL="457200" indent="-457200">
              <a:spcBef>
                <a:spcPts val="0"/>
              </a:spcBef>
            </a:pPr>
            <a:r>
              <a:rPr lang="en-US" sz="1800" dirty="0">
                <a:latin typeface="Aptos" panose="020B0004020202020204" pitchFamily="34" charset="0"/>
              </a:rPr>
              <a:t>It is not just a personal triumph  but a badge of </a:t>
            </a:r>
            <a:r>
              <a:rPr lang="en-US" sz="1800" dirty="0" err="1">
                <a:latin typeface="Aptos" panose="020B0004020202020204" pitchFamily="34" charset="0"/>
              </a:rPr>
              <a:t>honour</a:t>
            </a:r>
            <a:r>
              <a:rPr lang="en-US" sz="1800" dirty="0">
                <a:latin typeface="Aptos" panose="020B0004020202020204" pitchFamily="34" charset="0"/>
              </a:rPr>
              <a:t> and prestige and a recognition of expertise and excellence, </a:t>
            </a:r>
            <a:r>
              <a:rPr lang="en-US" sz="1800" b="1" dirty="0">
                <a:latin typeface="Aptos" panose="020B0004020202020204" pitchFamily="34" charset="0"/>
              </a:rPr>
              <a:t>Congratulations!!!</a:t>
            </a:r>
          </a:p>
          <a:p>
            <a:pPr marL="0" indent="0">
              <a:spcBef>
                <a:spcPts val="0"/>
              </a:spcBef>
              <a:buNone/>
            </a:pPr>
            <a:endParaRPr lang="en-US" sz="1600" b="1" dirty="0">
              <a:latin typeface="Aptos" panose="020B0004020202020204" pitchFamily="34" charset="0"/>
            </a:endParaRPr>
          </a:p>
          <a:p>
            <a:pPr marL="457200" indent="-457200">
              <a:spcBef>
                <a:spcPts val="0"/>
              </a:spcBef>
            </a:pPr>
            <a:r>
              <a:rPr lang="en-US" sz="1800" dirty="0">
                <a:latin typeface="Aptos" panose="020B0004020202020204" pitchFamily="34" charset="0"/>
              </a:rPr>
              <a:t>The rank confers the Awardee with:</a:t>
            </a:r>
          </a:p>
          <a:p>
            <a:pPr marL="0" indent="0">
              <a:spcBef>
                <a:spcPts val="0"/>
              </a:spcBef>
              <a:buNone/>
            </a:pPr>
            <a:r>
              <a:rPr lang="en-US" sz="1800" dirty="0">
                <a:latin typeface="Aptos" panose="020B0004020202020204" pitchFamily="34" charset="0"/>
              </a:rPr>
              <a:t>	- </a:t>
            </a:r>
            <a:r>
              <a:rPr lang="en-US" sz="1800" b="1" dirty="0">
                <a:latin typeface="Aptos" panose="020B0004020202020204" pitchFamily="34" charset="0"/>
              </a:rPr>
              <a:t>Great Responsibility </a:t>
            </a:r>
            <a:r>
              <a:rPr lang="en-US" sz="1800" dirty="0">
                <a:latin typeface="Aptos" panose="020B0004020202020204" pitchFamily="34" charset="0"/>
              </a:rPr>
              <a:t>– to shape the next generation of lawyers by passing not just your skills but values.</a:t>
            </a:r>
          </a:p>
          <a:p>
            <a:pPr marL="0" indent="0">
              <a:spcBef>
                <a:spcPts val="0"/>
              </a:spcBef>
              <a:buNone/>
            </a:pPr>
            <a:r>
              <a:rPr lang="en-US" sz="1800" dirty="0">
                <a:latin typeface="Aptos" panose="020B0004020202020204" pitchFamily="34" charset="0"/>
              </a:rPr>
              <a:t>	- </a:t>
            </a:r>
            <a:r>
              <a:rPr lang="en-US" sz="1800" b="1" dirty="0">
                <a:latin typeface="Aptos" panose="020B0004020202020204" pitchFamily="34" charset="0"/>
              </a:rPr>
              <a:t>Massive duty </a:t>
            </a:r>
            <a:r>
              <a:rPr lang="en-US" sz="1800" dirty="0">
                <a:latin typeface="Aptos" panose="020B0004020202020204" pitchFamily="34" charset="0"/>
              </a:rPr>
              <a:t>– to guide and inspire those who follow.</a:t>
            </a:r>
          </a:p>
          <a:p>
            <a:pPr marL="0" indent="0">
              <a:spcBef>
                <a:spcPts val="0"/>
              </a:spcBef>
              <a:buNone/>
            </a:pPr>
            <a:endParaRPr lang="en-US" sz="1600" dirty="0">
              <a:latin typeface="Aptos" panose="020B0004020202020204" pitchFamily="34" charset="0"/>
            </a:endParaRPr>
          </a:p>
          <a:p>
            <a:pPr marL="457200" indent="-457200">
              <a:spcBef>
                <a:spcPts val="0"/>
              </a:spcBef>
            </a:pPr>
            <a:r>
              <a:rPr lang="en-US" sz="1800" dirty="0">
                <a:latin typeface="Aptos" panose="020B0004020202020204" pitchFamily="34" charset="0"/>
              </a:rPr>
              <a:t>This new status marks the beginning of the transition from your individual achievement(s) to a collective professional stewardship where you individually and collectively have a duty to ensure that the fabric of the legal profession is strengthened and protected. </a:t>
            </a:r>
          </a:p>
          <a:p>
            <a:pPr marL="457200" indent="-457200">
              <a:spcBef>
                <a:spcPts val="0"/>
              </a:spcBef>
            </a:pPr>
            <a:endParaRPr lang="en-GB" sz="2000" dirty="0">
              <a:latin typeface="Aptos" panose="020B0004020202020204" pitchFamily="34" charset="0"/>
            </a:endParaRPr>
          </a:p>
          <a:p>
            <a:pPr marL="457200" indent="-457200">
              <a:spcBef>
                <a:spcPts val="0"/>
              </a:spcBef>
            </a:pPr>
            <a:endParaRPr lang="x-none" sz="2400" b="1" dirty="0">
              <a:latin typeface="Aptos" panose="020B0004020202020204" pitchFamily="34" charset="0"/>
            </a:endParaRPr>
          </a:p>
        </p:txBody>
      </p:sp>
      <p:grpSp>
        <p:nvGrpSpPr>
          <p:cNvPr id="6" name="Group 5">
            <a:extLst>
              <a:ext uri="{FF2B5EF4-FFF2-40B4-BE49-F238E27FC236}">
                <a16:creationId xmlns:a16="http://schemas.microsoft.com/office/drawing/2014/main" id="{DD6A2D09-BEEB-2FD6-14DE-3D3BCA92F993}"/>
              </a:ext>
            </a:extLst>
          </p:cNvPr>
          <p:cNvGrpSpPr/>
          <p:nvPr/>
        </p:nvGrpSpPr>
        <p:grpSpPr>
          <a:xfrm>
            <a:off x="833624" y="328275"/>
            <a:ext cx="3892636" cy="1186605"/>
            <a:chOff x="1474011" y="306063"/>
            <a:chExt cx="3136027" cy="1186605"/>
          </a:xfrm>
        </p:grpSpPr>
        <p:sp>
          <p:nvSpPr>
            <p:cNvPr id="17" name="Rectangle: Rounded Corners 16">
              <a:extLst>
                <a:ext uri="{FF2B5EF4-FFF2-40B4-BE49-F238E27FC236}">
                  <a16:creationId xmlns:a16="http://schemas.microsoft.com/office/drawing/2014/main" id="{F0018598-6351-C8FF-FAE4-C990D1A47A5C}"/>
                </a:ext>
              </a:extLst>
            </p:cNvPr>
            <p:cNvSpPr/>
            <p:nvPr/>
          </p:nvSpPr>
          <p:spPr>
            <a:xfrm>
              <a:off x="1474011" y="306063"/>
              <a:ext cx="3136027" cy="118660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panose="020B0004020202020204" pitchFamily="34" charset="0"/>
              </a:endParaRPr>
            </a:p>
          </p:txBody>
        </p:sp>
        <p:pic>
          <p:nvPicPr>
            <p:cNvPr id="23" name="Graphic 22" descr="Beaker outline">
              <a:extLst>
                <a:ext uri="{FF2B5EF4-FFF2-40B4-BE49-F238E27FC236}">
                  <a16:creationId xmlns:a16="http://schemas.microsoft.com/office/drawing/2014/main" id="{62F09559-CC35-0693-DAB8-ABBBBA9D322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38430" y="536655"/>
              <a:ext cx="725420" cy="725420"/>
            </a:xfrm>
            <a:prstGeom prst="rect">
              <a:avLst/>
            </a:prstGeom>
          </p:spPr>
        </p:pic>
        <p:sp>
          <p:nvSpPr>
            <p:cNvPr id="25" name="TextBox 24">
              <a:extLst>
                <a:ext uri="{FF2B5EF4-FFF2-40B4-BE49-F238E27FC236}">
                  <a16:creationId xmlns:a16="http://schemas.microsoft.com/office/drawing/2014/main" id="{CBBE8DA3-BEB8-518E-2B47-EA6008FB4254}"/>
                </a:ext>
              </a:extLst>
            </p:cNvPr>
            <p:cNvSpPr txBox="1"/>
            <p:nvPr/>
          </p:nvSpPr>
          <p:spPr>
            <a:xfrm>
              <a:off x="2422004" y="683985"/>
              <a:ext cx="2046911" cy="584775"/>
            </a:xfrm>
            <a:prstGeom prst="rect">
              <a:avLst/>
            </a:prstGeom>
            <a:noFill/>
          </p:spPr>
          <p:txBody>
            <a:bodyPr wrap="square" lIns="0" tIns="0" rIns="0" bIns="0" rtlCol="0" anchor="ctr">
              <a:noAutofit/>
            </a:bodyPr>
            <a:lstStyle/>
            <a:p>
              <a:r>
                <a:rPr lang="en-US" sz="4400" dirty="0">
                  <a:latin typeface="Aptos" panose="020B0004020202020204" pitchFamily="34" charset="0"/>
                </a:rPr>
                <a:t>Preamble</a:t>
              </a:r>
            </a:p>
          </p:txBody>
        </p:sp>
      </p:grpSp>
      <p:sp>
        <p:nvSpPr>
          <p:cNvPr id="4" name="Rectangle 3">
            <a:extLst>
              <a:ext uri="{FF2B5EF4-FFF2-40B4-BE49-F238E27FC236}">
                <a16:creationId xmlns:a16="http://schemas.microsoft.com/office/drawing/2014/main" id="{F6D51883-7F3D-7223-57B0-EE14A6380264}"/>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03</a:t>
            </a:r>
            <a:endParaRPr lang="en-US" sz="2399" dirty="0"/>
          </a:p>
        </p:txBody>
      </p:sp>
    </p:spTree>
    <p:extLst>
      <p:ext uri="{BB962C8B-B14F-4D97-AF65-F5344CB8AC3E}">
        <p14:creationId xmlns:p14="http://schemas.microsoft.com/office/powerpoint/2010/main" val="3269986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09F5-B6BF-FC4E-F456-4A360AA1C6E3}"/>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C1EEFA78-D63A-6A57-52BB-78C402BED1A0}"/>
              </a:ext>
            </a:extLst>
          </p:cNvPr>
          <p:cNvGrpSpPr/>
          <p:nvPr/>
        </p:nvGrpSpPr>
        <p:grpSpPr>
          <a:xfrm>
            <a:off x="765820" y="2136597"/>
            <a:ext cx="2366691" cy="2455626"/>
            <a:chOff x="1783505" y="2413534"/>
            <a:chExt cx="1002890" cy="1002890"/>
          </a:xfrm>
        </p:grpSpPr>
        <p:sp>
          <p:nvSpPr>
            <p:cNvPr id="3" name="Oval 2">
              <a:extLst>
                <a:ext uri="{FF2B5EF4-FFF2-40B4-BE49-F238E27FC236}">
                  <a16:creationId xmlns:a16="http://schemas.microsoft.com/office/drawing/2014/main" id="{27273E46-8D3C-5A4E-7DDF-C7D0EAAA7F6A}"/>
                </a:ext>
              </a:extLst>
            </p:cNvPr>
            <p:cNvSpPr/>
            <p:nvPr/>
          </p:nvSpPr>
          <p:spPr>
            <a:xfrm>
              <a:off x="1783505" y="2413534"/>
              <a:ext cx="1002890" cy="1002890"/>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28" name="Graphic 27" descr="Open book outline">
              <a:extLst>
                <a:ext uri="{FF2B5EF4-FFF2-40B4-BE49-F238E27FC236}">
                  <a16:creationId xmlns:a16="http://schemas.microsoft.com/office/drawing/2014/main" id="{BC9A7929-0EF0-5ACD-CB09-42A599C5227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3136" y="2643645"/>
              <a:ext cx="583628" cy="583628"/>
            </a:xfrm>
            <a:prstGeom prst="rect">
              <a:avLst/>
            </a:prstGeom>
          </p:spPr>
        </p:pic>
      </p:grpSp>
      <p:sp>
        <p:nvSpPr>
          <p:cNvPr id="19" name="Content Placeholder 6">
            <a:extLst>
              <a:ext uri="{FF2B5EF4-FFF2-40B4-BE49-F238E27FC236}">
                <a16:creationId xmlns:a16="http://schemas.microsoft.com/office/drawing/2014/main" id="{6863FE2B-D250-2203-6BE6-9B4F84C52716}"/>
              </a:ext>
            </a:extLst>
          </p:cNvPr>
          <p:cNvSpPr txBox="1">
            <a:spLocks noChangeAspect="1"/>
          </p:cNvSpPr>
          <p:nvPr/>
        </p:nvSpPr>
        <p:spPr>
          <a:xfrm>
            <a:off x="3430116" y="645027"/>
            <a:ext cx="7560840" cy="5438767"/>
          </a:xfrm>
          <a:prstGeom prst="ellipse">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x-none" sz="3200" dirty="0">
                <a:solidFill>
                  <a:prstClr val="black"/>
                </a:solidFill>
                <a:latin typeface="Aptos" panose="020B0004020202020204" pitchFamily="34" charset="0"/>
              </a:rPr>
              <a:t>“</a:t>
            </a:r>
            <a:r>
              <a:rPr lang="en-US" sz="3200" dirty="0">
                <a:solidFill>
                  <a:prstClr val="black"/>
                </a:solidFill>
                <a:latin typeface="Aptos" panose="020B0004020202020204" pitchFamily="34" charset="0"/>
              </a:rPr>
              <a:t>At the core of the Silk’s responsibility lies Mentorship and Knowledge transfer.</a:t>
            </a:r>
            <a:br>
              <a:rPr lang="en-US" sz="3200" dirty="0">
                <a:solidFill>
                  <a:prstClr val="black"/>
                </a:solidFill>
                <a:latin typeface="Aptos" panose="020B0004020202020204" pitchFamily="34" charset="0"/>
              </a:rPr>
            </a:br>
            <a:endParaRPr lang="en-US" sz="3200" dirty="0">
              <a:solidFill>
                <a:prstClr val="black"/>
              </a:solidFill>
              <a:latin typeface="Aptos" panose="020B0004020202020204" pitchFamily="34" charset="0"/>
            </a:endParaRPr>
          </a:p>
          <a:p>
            <a:pPr marL="0" indent="0">
              <a:buNone/>
            </a:pPr>
            <a:r>
              <a:rPr lang="en-US" sz="3200" dirty="0">
                <a:solidFill>
                  <a:prstClr val="black"/>
                </a:solidFill>
                <a:latin typeface="Aptos" panose="020B0004020202020204" pitchFamily="34" charset="0"/>
              </a:rPr>
              <a:t>These two pillars guarantee the preservation of the standards of the Inner Bar”</a:t>
            </a:r>
            <a:endParaRPr lang="x-none" sz="3200" dirty="0">
              <a:solidFill>
                <a:prstClr val="black"/>
              </a:solidFill>
              <a:latin typeface="Aptos" panose="020B0004020202020204" pitchFamily="34" charset="0"/>
            </a:endParaRPr>
          </a:p>
        </p:txBody>
      </p:sp>
      <p:sp>
        <p:nvSpPr>
          <p:cNvPr id="4" name="Rectangle 3">
            <a:extLst>
              <a:ext uri="{FF2B5EF4-FFF2-40B4-BE49-F238E27FC236}">
                <a16:creationId xmlns:a16="http://schemas.microsoft.com/office/drawing/2014/main" id="{9A06DE84-CC17-71AA-4D4A-104846BE3747}"/>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04</a:t>
            </a:r>
            <a:endParaRPr lang="en-US" sz="2399" dirty="0"/>
          </a:p>
        </p:txBody>
      </p:sp>
    </p:spTree>
    <p:extLst>
      <p:ext uri="{BB962C8B-B14F-4D97-AF65-F5344CB8AC3E}">
        <p14:creationId xmlns:p14="http://schemas.microsoft.com/office/powerpoint/2010/main" val="1781565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1068649" y="293580"/>
            <a:ext cx="10051526" cy="711081"/>
          </a:xfrm>
        </p:spPr>
        <p:txBody>
          <a:bodyPr/>
          <a:lstStyle/>
          <a:p>
            <a:r>
              <a:rPr lang="en-US" dirty="0">
                <a:latin typeface="Aptos" panose="020B0004020202020204" pitchFamily="34" charset="0"/>
              </a:rPr>
              <a:t>Introduction</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863073" y="987901"/>
            <a:ext cx="10462678" cy="5576519"/>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algn="just">
              <a:lnSpc>
                <a:spcPct val="107000"/>
              </a:lnSpc>
              <a:spcBef>
                <a:spcPts val="0"/>
              </a:spcBef>
              <a:spcAft>
                <a:spcPts val="800"/>
              </a:spcAft>
            </a:pPr>
            <a:r>
              <a:rPr lang="en-US" sz="1800" kern="100" dirty="0">
                <a:latin typeface="Aptos" panose="020B0004020202020204" pitchFamily="34" charset="0"/>
                <a:ea typeface="Calibri" panose="020F0502020204030204" pitchFamily="34" charset="0"/>
                <a:cs typeface="Times New Roman" panose="02020603050405020304" pitchFamily="18" charset="0"/>
              </a:rPr>
              <a:t>The elevation to the rank of Senior Advocate of Nigeria (SAN) is the highest recognition of  professional achievement that can be bestowed on a lawyer and this recognition comes with huge responsibility.</a:t>
            </a:r>
          </a:p>
          <a:p>
            <a:pPr marL="0" marR="0" algn="just">
              <a:lnSpc>
                <a:spcPct val="107000"/>
              </a:lnSpc>
              <a:spcBef>
                <a:spcPts val="0"/>
              </a:spcBef>
              <a:spcAft>
                <a:spcPts val="800"/>
              </a:spcAft>
            </a:pPr>
            <a:r>
              <a:rPr lang="en-US" sz="1800" kern="100" dirty="0">
                <a:latin typeface="Aptos" panose="020B0004020202020204" pitchFamily="34" charset="0"/>
                <a:ea typeface="Calibri" panose="020F0502020204030204" pitchFamily="34" charset="0"/>
                <a:cs typeface="Times New Roman" panose="02020603050405020304" pitchFamily="18" charset="0"/>
              </a:rPr>
              <a:t>The elevation to the rank of Senior Advocate of Nigeria is a conferment of profound responsibility which vests the Senior Advocate with  a mandate to become a custodian of the legal tradition(s), a role model for the Bar, and trustee of the standards of the Inner Bar and by extension the future of the  legal profession. This role demands active participation in "shaping not just the future of ethics and practice of members of the legal profession but affects the very fabric of the legal profession. At the core of the mandate is the preservation of the standards of the Inner Bar.“</a:t>
            </a:r>
          </a:p>
          <a:p>
            <a:pPr marL="0" marR="0" algn="just">
              <a:lnSpc>
                <a:spcPct val="107000"/>
              </a:lnSpc>
              <a:spcBef>
                <a:spcPts val="0"/>
              </a:spcBef>
              <a:spcAft>
                <a:spcPts val="800"/>
              </a:spcAft>
            </a:pPr>
            <a:r>
              <a:rPr lang="en-US" sz="1800" kern="100" dirty="0">
                <a:latin typeface="Aptos" panose="020B0004020202020204" pitchFamily="34" charset="0"/>
                <a:ea typeface="Calibri" panose="020F0502020204030204" pitchFamily="34" charset="0"/>
                <a:cs typeface="Times New Roman" panose="02020603050405020304" pitchFamily="18" charset="0"/>
              </a:rPr>
              <a:t>It is profound responsibility to preserve standards, to diligently transmit wisdom and to consciously shape the future of the legal profession through active </a:t>
            </a:r>
            <a:r>
              <a:rPr lang="en-US" sz="1800" b="1" kern="100" dirty="0">
                <a:latin typeface="Aptos" panose="020B0004020202020204" pitchFamily="34" charset="0"/>
                <a:ea typeface="Calibri" panose="020F0502020204030204" pitchFamily="34" charset="0"/>
                <a:cs typeface="Times New Roman" panose="02020603050405020304" pitchFamily="18" charset="0"/>
              </a:rPr>
              <a:t>mentorship</a:t>
            </a:r>
            <a:r>
              <a:rPr lang="en-US" sz="1800" kern="100" dirty="0">
                <a:latin typeface="Aptos" panose="020B0004020202020204" pitchFamily="34" charset="0"/>
                <a:ea typeface="Calibri" panose="020F0502020204030204" pitchFamily="34" charset="0"/>
                <a:cs typeface="Times New Roman" panose="02020603050405020304" pitchFamily="18" charset="0"/>
              </a:rPr>
              <a:t> and </a:t>
            </a:r>
            <a:r>
              <a:rPr lang="en-US" sz="1800" b="1" kern="100" dirty="0">
                <a:latin typeface="Aptos" panose="020B0004020202020204" pitchFamily="34" charset="0"/>
                <a:ea typeface="Calibri" panose="020F0502020204030204" pitchFamily="34" charset="0"/>
                <a:cs typeface="Times New Roman" panose="02020603050405020304" pitchFamily="18" charset="0"/>
              </a:rPr>
              <a:t>committed knowledge transfer</a:t>
            </a:r>
            <a:r>
              <a:rPr lang="en-US" sz="1800" kern="100" dirty="0">
                <a:latin typeface="Aptos" panose="020B0004020202020204" pitchFamily="34" charset="0"/>
                <a:ea typeface="Calibri" panose="020F0502020204030204" pitchFamily="34" charset="0"/>
                <a:cs typeface="Times New Roman" panose="02020603050405020304" pitchFamily="18" charset="0"/>
              </a:rPr>
              <a:t>.</a:t>
            </a:r>
          </a:p>
          <a:p>
            <a:pPr marL="0" marR="0" algn="just">
              <a:lnSpc>
                <a:spcPct val="107000"/>
              </a:lnSpc>
              <a:spcBef>
                <a:spcPts val="0"/>
              </a:spcBef>
              <a:spcAft>
                <a:spcPts val="800"/>
              </a:spcAft>
            </a:pPr>
            <a:r>
              <a:rPr lang="en-US" sz="1800" kern="100" dirty="0">
                <a:latin typeface="Aptos" panose="020B0004020202020204" pitchFamily="34" charset="0"/>
                <a:ea typeface="Calibri" panose="020F0502020204030204" pitchFamily="34" charset="0"/>
                <a:cs typeface="Times New Roman" panose="02020603050405020304" pitchFamily="18" charset="0"/>
              </a:rPr>
              <a:t>Today, I propose to remind all of us of what the rank stands for (portends). I shall also highlight the primary role of the Senior Advocate which is </a:t>
            </a:r>
            <a:r>
              <a:rPr lang="en-US" sz="1800" b="1" kern="100" dirty="0">
                <a:latin typeface="Aptos" panose="020B0004020202020204" pitchFamily="34" charset="0"/>
                <a:ea typeface="Calibri" panose="020F0502020204030204" pitchFamily="34" charset="0"/>
                <a:cs typeface="Times New Roman" panose="02020603050405020304" pitchFamily="18" charset="0"/>
              </a:rPr>
              <a:t>Mentorship</a:t>
            </a:r>
            <a:r>
              <a:rPr lang="en-US" sz="1800" kern="100" dirty="0">
                <a:latin typeface="Aptos" panose="020B0004020202020204" pitchFamily="34" charset="0"/>
                <a:ea typeface="Calibri" panose="020F0502020204030204" pitchFamily="34" charset="0"/>
                <a:cs typeface="Times New Roman" panose="02020603050405020304" pitchFamily="18" charset="0"/>
              </a:rPr>
              <a:t> and </a:t>
            </a:r>
            <a:r>
              <a:rPr lang="en-US" sz="1800" b="1" kern="100" dirty="0">
                <a:latin typeface="Aptos" panose="020B0004020202020204" pitchFamily="34" charset="0"/>
                <a:ea typeface="Calibri" panose="020F0502020204030204" pitchFamily="34" charset="0"/>
                <a:cs typeface="Times New Roman" panose="02020603050405020304" pitchFamily="18" charset="0"/>
              </a:rPr>
              <a:t>Leadership</a:t>
            </a:r>
            <a:r>
              <a:rPr lang="en-US" sz="1800" kern="100" dirty="0">
                <a:latin typeface="Aptos" panose="020B0004020202020204" pitchFamily="34" charset="0"/>
                <a:ea typeface="Calibri" panose="020F0502020204030204" pitchFamily="34" charset="0"/>
                <a:cs typeface="Times New Roman" panose="02020603050405020304" pitchFamily="18" charset="0"/>
              </a:rPr>
              <a:t>.</a:t>
            </a:r>
          </a:p>
          <a:p>
            <a:pPr marL="0" marR="0" algn="just">
              <a:lnSpc>
                <a:spcPct val="107000"/>
              </a:lnSpc>
              <a:spcBef>
                <a:spcPts val="0"/>
              </a:spcBef>
              <a:spcAft>
                <a:spcPts val="800"/>
              </a:spcAft>
            </a:pPr>
            <a:r>
              <a:rPr lang="en-US" sz="1800" kern="100" dirty="0">
                <a:latin typeface="Aptos" panose="020B0004020202020204" pitchFamily="34" charset="0"/>
                <a:ea typeface="Calibri" panose="020F0502020204030204" pitchFamily="34" charset="0"/>
                <a:cs typeface="Times New Roman" panose="02020603050405020304" pitchFamily="18" charset="0"/>
              </a:rPr>
              <a:t>I will touch on Mentorship and the various types of Mentorship, some challenges that may be faced by the Mentor and give a Charge to the new Senior Advocates whilst proposing some steps that could be taken by Body of Senior Advocates of Nigeria (BOSAN) to strengthen this critical tool for preserving standards of the Inner Bar.</a:t>
            </a:r>
          </a:p>
        </p:txBody>
      </p:sp>
      <p:sp>
        <p:nvSpPr>
          <p:cNvPr id="2" name="Rectangle 1">
            <a:extLst>
              <a:ext uri="{FF2B5EF4-FFF2-40B4-BE49-F238E27FC236}">
                <a16:creationId xmlns:a16="http://schemas.microsoft.com/office/drawing/2014/main" id="{90000FD2-4632-D312-3FA0-046EA666C38F}"/>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05</a:t>
            </a:r>
            <a:endParaRPr lang="en-US" sz="2399" dirty="0"/>
          </a:p>
        </p:txBody>
      </p:sp>
    </p:spTree>
    <p:extLst>
      <p:ext uri="{BB962C8B-B14F-4D97-AF65-F5344CB8AC3E}">
        <p14:creationId xmlns:p14="http://schemas.microsoft.com/office/powerpoint/2010/main" val="135287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554351" y="865002"/>
            <a:ext cx="10051526" cy="711081"/>
          </a:xfrm>
        </p:spPr>
        <p:txBody>
          <a:bodyPr/>
          <a:lstStyle/>
          <a:p>
            <a:r>
              <a:rPr lang="en-US" dirty="0">
                <a:latin typeface="Aptos" panose="020B0004020202020204" pitchFamily="34" charset="0"/>
              </a:rPr>
              <a:t>POSERS</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2400373" y="1901968"/>
            <a:ext cx="9044149" cy="3600400"/>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07000"/>
              </a:lnSpc>
              <a:spcBef>
                <a:spcPts val="0"/>
              </a:spcBef>
              <a:spcAft>
                <a:spcPts val="800"/>
              </a:spcAft>
              <a:buFont typeface="Wingdings" panose="05000000000000000000" pitchFamily="2" charset="2"/>
              <a:buChar char="§"/>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Do you feel that in your journey so far, you have been a custodian of legal excellence and legal tradition(s)</a:t>
            </a:r>
          </a:p>
          <a:p>
            <a:pPr>
              <a:lnSpc>
                <a:spcPct val="107000"/>
              </a:lnSpc>
              <a:spcBef>
                <a:spcPts val="0"/>
              </a:spcBef>
              <a:spcAft>
                <a:spcPts val="800"/>
              </a:spcAft>
              <a:buFont typeface="Wingdings" panose="05000000000000000000" pitchFamily="2" charset="2"/>
              <a:buChar char="§"/>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a:lnSpc>
                <a:spcPct val="107000"/>
              </a:lnSpc>
              <a:spcBef>
                <a:spcPts val="0"/>
              </a:spcBef>
              <a:spcAft>
                <a:spcPts val="800"/>
              </a:spcAft>
              <a:buFont typeface="Wingdings" panose="05000000000000000000" pitchFamily="2" charset="2"/>
              <a:buChar char="§"/>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Are you positioned or do you already intentionally build bridges to the next generation?</a:t>
            </a:r>
          </a:p>
          <a:p>
            <a:pPr>
              <a:lnSpc>
                <a:spcPct val="107000"/>
              </a:lnSpc>
              <a:spcBef>
                <a:spcPts val="0"/>
              </a:spcBef>
              <a:spcAft>
                <a:spcPts val="800"/>
              </a:spcAft>
              <a:buFont typeface="Wingdings" panose="05000000000000000000" pitchFamily="2" charset="2"/>
              <a:buChar char="§"/>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a:lnSpc>
                <a:spcPct val="107000"/>
              </a:lnSpc>
              <a:spcBef>
                <a:spcPts val="0"/>
              </a:spcBef>
              <a:spcAft>
                <a:spcPts val="800"/>
              </a:spcAft>
              <a:buFont typeface="Wingdings" panose="05000000000000000000" pitchFamily="2" charset="2"/>
              <a:buChar char="§"/>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What legacy are intentionally creating or intend to start creating?  </a:t>
            </a:r>
            <a:b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b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457200" indent="-457200"/>
            <a:endParaRPr lang="en-GB" sz="2000" dirty="0">
              <a:solidFill>
                <a:srgbClr val="273B72"/>
              </a:solidFill>
              <a:latin typeface="Aptos" panose="020B0004020202020204" pitchFamily="34" charset="0"/>
            </a:endParaRPr>
          </a:p>
        </p:txBody>
      </p:sp>
      <p:sp>
        <p:nvSpPr>
          <p:cNvPr id="2" name="Chevron 3">
            <a:extLst>
              <a:ext uri="{FF2B5EF4-FFF2-40B4-BE49-F238E27FC236}">
                <a16:creationId xmlns:a16="http://schemas.microsoft.com/office/drawing/2014/main" id="{E7AAE9A5-98B2-7E4F-4F93-CAAD0366E8EF}"/>
              </a:ext>
            </a:extLst>
          </p:cNvPr>
          <p:cNvSpPr/>
          <p:nvPr/>
        </p:nvSpPr>
        <p:spPr>
          <a:xfrm>
            <a:off x="538548" y="1874552"/>
            <a:ext cx="1922585" cy="445477"/>
          </a:xfrm>
          <a:prstGeom prst="chevron">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0" scaled="1"/>
            <a:tileRect/>
          </a:gradFill>
          <a:ln w="6350">
            <a:solidFill>
              <a:schemeClr val="bg1">
                <a:alpha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cap="all" dirty="0">
              <a:solidFill>
                <a:schemeClr val="bg1"/>
              </a:solidFill>
              <a:latin typeface="Calibri Light" charset="0"/>
              <a:ea typeface="Calibri Light" charset="0"/>
              <a:cs typeface="Calibri Light" charset="0"/>
            </a:endParaRPr>
          </a:p>
          <a:p>
            <a:pPr algn="ctr"/>
            <a:r>
              <a:rPr lang="en-US" sz="2000" b="1" cap="all" dirty="0">
                <a:solidFill>
                  <a:schemeClr val="bg1"/>
                </a:solidFill>
                <a:latin typeface="Aptos" panose="020B0004020202020204" pitchFamily="34" charset="0"/>
                <a:ea typeface="Calibri Light" charset="0"/>
                <a:cs typeface="Calibri Light" charset="0"/>
              </a:rPr>
              <a:t>1</a:t>
            </a:r>
            <a:endParaRPr lang="en-US" sz="1600" b="1" cap="all" dirty="0">
              <a:solidFill>
                <a:schemeClr val="bg1"/>
              </a:solidFill>
              <a:latin typeface="Aptos" panose="020B0004020202020204" pitchFamily="34" charset="0"/>
              <a:ea typeface="Calibri Light" charset="0"/>
              <a:cs typeface="Calibri Light" charset="0"/>
            </a:endParaRPr>
          </a:p>
          <a:p>
            <a:pPr algn="ctr"/>
            <a:endParaRPr lang="en-US" sz="2000" dirty="0">
              <a:solidFill>
                <a:schemeClr val="tx1"/>
              </a:solidFill>
              <a:latin typeface="Calibri Light" charset="0"/>
              <a:ea typeface="Calibri Light" charset="0"/>
              <a:cs typeface="Calibri Light" charset="0"/>
            </a:endParaRPr>
          </a:p>
        </p:txBody>
      </p:sp>
      <p:sp>
        <p:nvSpPr>
          <p:cNvPr id="3" name="Chevron 4">
            <a:extLst>
              <a:ext uri="{FF2B5EF4-FFF2-40B4-BE49-F238E27FC236}">
                <a16:creationId xmlns:a16="http://schemas.microsoft.com/office/drawing/2014/main" id="{CAFC0233-219E-D5BE-E704-AD50E94B2B69}"/>
              </a:ext>
            </a:extLst>
          </p:cNvPr>
          <p:cNvSpPr/>
          <p:nvPr/>
        </p:nvSpPr>
        <p:spPr>
          <a:xfrm>
            <a:off x="477786" y="4273878"/>
            <a:ext cx="1922585" cy="445477"/>
          </a:xfrm>
          <a:prstGeom prst="chevron">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0" scaled="1"/>
            <a:tileRect/>
          </a:gradFill>
          <a:ln w="6350">
            <a:solidFill>
              <a:schemeClr val="bg1">
                <a:alpha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cap="all" dirty="0">
              <a:solidFill>
                <a:schemeClr val="bg1"/>
              </a:solidFill>
              <a:latin typeface="Calibri Light" charset="0"/>
              <a:ea typeface="Calibri Light" charset="0"/>
              <a:cs typeface="Calibri Light" charset="0"/>
            </a:endParaRPr>
          </a:p>
          <a:p>
            <a:pPr algn="ctr"/>
            <a:r>
              <a:rPr lang="en-US" sz="2000" b="1" cap="all" dirty="0">
                <a:solidFill>
                  <a:schemeClr val="bg1"/>
                </a:solidFill>
                <a:latin typeface="Aptos" panose="020B0004020202020204" pitchFamily="34" charset="0"/>
                <a:ea typeface="Calibri Light" charset="0"/>
                <a:cs typeface="Calibri Light" charset="0"/>
              </a:rPr>
              <a:t>3</a:t>
            </a:r>
          </a:p>
          <a:p>
            <a:pPr algn="ctr"/>
            <a:endParaRPr lang="en-US" sz="2000" dirty="0">
              <a:solidFill>
                <a:schemeClr val="tx1"/>
              </a:solidFill>
              <a:latin typeface="Calibri Light" charset="0"/>
              <a:ea typeface="Calibri Light" charset="0"/>
              <a:cs typeface="Calibri Light" charset="0"/>
            </a:endParaRPr>
          </a:p>
        </p:txBody>
      </p:sp>
      <p:sp>
        <p:nvSpPr>
          <p:cNvPr id="4" name="Chevron 5">
            <a:extLst>
              <a:ext uri="{FF2B5EF4-FFF2-40B4-BE49-F238E27FC236}">
                <a16:creationId xmlns:a16="http://schemas.microsoft.com/office/drawing/2014/main" id="{75C69F85-9F51-BCFD-735E-32E0C59F5058}"/>
              </a:ext>
            </a:extLst>
          </p:cNvPr>
          <p:cNvSpPr/>
          <p:nvPr/>
        </p:nvSpPr>
        <p:spPr>
          <a:xfrm>
            <a:off x="477787" y="3068960"/>
            <a:ext cx="1922585" cy="445477"/>
          </a:xfrm>
          <a:prstGeom prst="chevron">
            <a:avLst/>
          </a:prstGeom>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0" scaled="1"/>
            <a:tileRect/>
          </a:gradFill>
          <a:ln w="6350">
            <a:solidFill>
              <a:schemeClr val="bg1">
                <a:alpha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000" b="1" cap="all" dirty="0">
                <a:solidFill>
                  <a:schemeClr val="bg1"/>
                </a:solidFill>
                <a:latin typeface="Aptos" panose="020B0004020202020204" pitchFamily="34" charset="0"/>
                <a:ea typeface="Calibri Light" charset="0"/>
                <a:cs typeface="Calibri Light" charset="0"/>
              </a:rPr>
              <a:t>2</a:t>
            </a:r>
          </a:p>
        </p:txBody>
      </p:sp>
      <p:sp>
        <p:nvSpPr>
          <p:cNvPr id="5" name="Rectangle 4">
            <a:extLst>
              <a:ext uri="{FF2B5EF4-FFF2-40B4-BE49-F238E27FC236}">
                <a16:creationId xmlns:a16="http://schemas.microsoft.com/office/drawing/2014/main" id="{0EF48D9D-512C-B819-109D-3A227EF540F8}"/>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06</a:t>
            </a:r>
            <a:endParaRPr lang="en-US" sz="2399" dirty="0"/>
          </a:p>
        </p:txBody>
      </p:sp>
    </p:spTree>
    <p:extLst>
      <p:ext uri="{BB962C8B-B14F-4D97-AF65-F5344CB8AC3E}">
        <p14:creationId xmlns:p14="http://schemas.microsoft.com/office/powerpoint/2010/main" val="19880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49">
            <a:extLst>
              <a:ext uri="{FF2B5EF4-FFF2-40B4-BE49-F238E27FC236}">
                <a16:creationId xmlns:a16="http://schemas.microsoft.com/office/drawing/2014/main" id="{C56EA63D-0C52-6962-4050-5FDCB9ED9EA3}"/>
              </a:ext>
            </a:extLst>
          </p:cNvPr>
          <p:cNvSpPr/>
          <p:nvPr/>
        </p:nvSpPr>
        <p:spPr>
          <a:xfrm>
            <a:off x="3229137" y="1450916"/>
            <a:ext cx="1402151" cy="847683"/>
          </a:xfrm>
          <a:custGeom>
            <a:avLst/>
            <a:gdLst>
              <a:gd name="connsiteX0" fmla="*/ 0 w 943928"/>
              <a:gd name="connsiteY0" fmla="*/ 0 h 810488"/>
              <a:gd name="connsiteX1" fmla="*/ 943928 w 943928"/>
              <a:gd name="connsiteY1" fmla="*/ 0 h 810488"/>
              <a:gd name="connsiteX2" fmla="*/ 943928 w 943928"/>
              <a:gd name="connsiteY2" fmla="*/ 810488 h 810488"/>
              <a:gd name="connsiteX3" fmla="*/ 0 w 943928"/>
              <a:gd name="connsiteY3" fmla="*/ 810488 h 810488"/>
              <a:gd name="connsiteX4" fmla="*/ 0 w 943928"/>
              <a:gd name="connsiteY4" fmla="*/ 0 h 810488"/>
              <a:gd name="connsiteX0" fmla="*/ 0 w 943928"/>
              <a:gd name="connsiteY0" fmla="*/ 810488 h 901928"/>
              <a:gd name="connsiteX1" fmla="*/ 0 w 943928"/>
              <a:gd name="connsiteY1" fmla="*/ 0 h 901928"/>
              <a:gd name="connsiteX2" fmla="*/ 943928 w 943928"/>
              <a:gd name="connsiteY2" fmla="*/ 0 h 901928"/>
              <a:gd name="connsiteX3" fmla="*/ 943928 w 943928"/>
              <a:gd name="connsiteY3" fmla="*/ 810488 h 901928"/>
              <a:gd name="connsiteX4" fmla="*/ 91440 w 943928"/>
              <a:gd name="connsiteY4" fmla="*/ 901928 h 901928"/>
              <a:gd name="connsiteX0" fmla="*/ 0 w 943928"/>
              <a:gd name="connsiteY0" fmla="*/ 810488 h 810488"/>
              <a:gd name="connsiteX1" fmla="*/ 0 w 943928"/>
              <a:gd name="connsiteY1" fmla="*/ 0 h 810488"/>
              <a:gd name="connsiteX2" fmla="*/ 943928 w 943928"/>
              <a:gd name="connsiteY2" fmla="*/ 0 h 810488"/>
              <a:gd name="connsiteX3" fmla="*/ 943928 w 943928"/>
              <a:gd name="connsiteY3" fmla="*/ 810488 h 810488"/>
              <a:gd name="connsiteX0" fmla="*/ 0 w 943928"/>
              <a:gd name="connsiteY0" fmla="*/ 0 h 810488"/>
              <a:gd name="connsiteX1" fmla="*/ 943928 w 943928"/>
              <a:gd name="connsiteY1" fmla="*/ 0 h 810488"/>
              <a:gd name="connsiteX2" fmla="*/ 943928 w 943928"/>
              <a:gd name="connsiteY2" fmla="*/ 810488 h 810488"/>
              <a:gd name="connsiteX0" fmla="*/ 0 w 943928"/>
              <a:gd name="connsiteY0" fmla="*/ 961 h 811449"/>
              <a:gd name="connsiteX1" fmla="*/ 717058 w 943928"/>
              <a:gd name="connsiteY1" fmla="*/ 0 h 811449"/>
              <a:gd name="connsiteX2" fmla="*/ 943928 w 943928"/>
              <a:gd name="connsiteY2" fmla="*/ 961 h 811449"/>
              <a:gd name="connsiteX3" fmla="*/ 943928 w 943928"/>
              <a:gd name="connsiteY3" fmla="*/ 811449 h 811449"/>
              <a:gd name="connsiteX0" fmla="*/ 0 w 943928"/>
              <a:gd name="connsiteY0" fmla="*/ 961 h 811449"/>
              <a:gd name="connsiteX1" fmla="*/ 717058 w 943928"/>
              <a:gd name="connsiteY1" fmla="*/ 0 h 811449"/>
              <a:gd name="connsiteX2" fmla="*/ 943928 w 943928"/>
              <a:gd name="connsiteY2" fmla="*/ 811449 h 811449"/>
              <a:gd name="connsiteX0" fmla="*/ 0 w 1267886"/>
              <a:gd name="connsiteY0" fmla="*/ 961 h 649470"/>
              <a:gd name="connsiteX1" fmla="*/ 717058 w 1267886"/>
              <a:gd name="connsiteY1" fmla="*/ 0 h 649470"/>
              <a:gd name="connsiteX2" fmla="*/ 1267886 w 1267886"/>
              <a:gd name="connsiteY2" fmla="*/ 649470 h 649470"/>
            </a:gdLst>
            <a:ahLst/>
            <a:cxnLst>
              <a:cxn ang="0">
                <a:pos x="connsiteX0" y="connsiteY0"/>
              </a:cxn>
              <a:cxn ang="0">
                <a:pos x="connsiteX1" y="connsiteY1"/>
              </a:cxn>
              <a:cxn ang="0">
                <a:pos x="connsiteX2" y="connsiteY2"/>
              </a:cxn>
            </a:cxnLst>
            <a:rect l="l" t="t" r="r" b="b"/>
            <a:pathLst>
              <a:path w="1267886" h="649470">
                <a:moveTo>
                  <a:pt x="0" y="961"/>
                </a:moveTo>
                <a:lnTo>
                  <a:pt x="717058" y="0"/>
                </a:lnTo>
                <a:lnTo>
                  <a:pt x="1267886" y="649470"/>
                </a:lnTo>
              </a:path>
            </a:pathLst>
          </a:custGeom>
          <a:noFill/>
          <a:ln>
            <a:solidFill>
              <a:srgbClr val="0070C0"/>
            </a:solidFill>
            <a:head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49">
            <a:extLst>
              <a:ext uri="{FF2B5EF4-FFF2-40B4-BE49-F238E27FC236}">
                <a16:creationId xmlns:a16="http://schemas.microsoft.com/office/drawing/2014/main" id="{A7DEDCE2-F9BE-8178-711D-C5E8E9904442}"/>
              </a:ext>
            </a:extLst>
          </p:cNvPr>
          <p:cNvSpPr/>
          <p:nvPr/>
        </p:nvSpPr>
        <p:spPr>
          <a:xfrm flipH="1" flipV="1">
            <a:off x="7377659" y="4747626"/>
            <a:ext cx="1240547" cy="635466"/>
          </a:xfrm>
          <a:custGeom>
            <a:avLst/>
            <a:gdLst>
              <a:gd name="connsiteX0" fmla="*/ 0 w 943928"/>
              <a:gd name="connsiteY0" fmla="*/ 0 h 810488"/>
              <a:gd name="connsiteX1" fmla="*/ 943928 w 943928"/>
              <a:gd name="connsiteY1" fmla="*/ 0 h 810488"/>
              <a:gd name="connsiteX2" fmla="*/ 943928 w 943928"/>
              <a:gd name="connsiteY2" fmla="*/ 810488 h 810488"/>
              <a:gd name="connsiteX3" fmla="*/ 0 w 943928"/>
              <a:gd name="connsiteY3" fmla="*/ 810488 h 810488"/>
              <a:gd name="connsiteX4" fmla="*/ 0 w 943928"/>
              <a:gd name="connsiteY4" fmla="*/ 0 h 810488"/>
              <a:gd name="connsiteX0" fmla="*/ 0 w 943928"/>
              <a:gd name="connsiteY0" fmla="*/ 810488 h 901928"/>
              <a:gd name="connsiteX1" fmla="*/ 0 w 943928"/>
              <a:gd name="connsiteY1" fmla="*/ 0 h 901928"/>
              <a:gd name="connsiteX2" fmla="*/ 943928 w 943928"/>
              <a:gd name="connsiteY2" fmla="*/ 0 h 901928"/>
              <a:gd name="connsiteX3" fmla="*/ 943928 w 943928"/>
              <a:gd name="connsiteY3" fmla="*/ 810488 h 901928"/>
              <a:gd name="connsiteX4" fmla="*/ 91440 w 943928"/>
              <a:gd name="connsiteY4" fmla="*/ 901928 h 901928"/>
              <a:gd name="connsiteX0" fmla="*/ 0 w 943928"/>
              <a:gd name="connsiteY0" fmla="*/ 810488 h 810488"/>
              <a:gd name="connsiteX1" fmla="*/ 0 w 943928"/>
              <a:gd name="connsiteY1" fmla="*/ 0 h 810488"/>
              <a:gd name="connsiteX2" fmla="*/ 943928 w 943928"/>
              <a:gd name="connsiteY2" fmla="*/ 0 h 810488"/>
              <a:gd name="connsiteX3" fmla="*/ 943928 w 943928"/>
              <a:gd name="connsiteY3" fmla="*/ 810488 h 810488"/>
              <a:gd name="connsiteX0" fmla="*/ 0 w 943928"/>
              <a:gd name="connsiteY0" fmla="*/ 0 h 810488"/>
              <a:gd name="connsiteX1" fmla="*/ 943928 w 943928"/>
              <a:gd name="connsiteY1" fmla="*/ 0 h 810488"/>
              <a:gd name="connsiteX2" fmla="*/ 943928 w 943928"/>
              <a:gd name="connsiteY2" fmla="*/ 810488 h 810488"/>
              <a:gd name="connsiteX0" fmla="*/ 0 w 943928"/>
              <a:gd name="connsiteY0" fmla="*/ 961 h 811449"/>
              <a:gd name="connsiteX1" fmla="*/ 717058 w 943928"/>
              <a:gd name="connsiteY1" fmla="*/ 0 h 811449"/>
              <a:gd name="connsiteX2" fmla="*/ 943928 w 943928"/>
              <a:gd name="connsiteY2" fmla="*/ 961 h 811449"/>
              <a:gd name="connsiteX3" fmla="*/ 943928 w 943928"/>
              <a:gd name="connsiteY3" fmla="*/ 811449 h 811449"/>
              <a:gd name="connsiteX0" fmla="*/ 0 w 943928"/>
              <a:gd name="connsiteY0" fmla="*/ 961 h 811449"/>
              <a:gd name="connsiteX1" fmla="*/ 717058 w 943928"/>
              <a:gd name="connsiteY1" fmla="*/ 0 h 811449"/>
              <a:gd name="connsiteX2" fmla="*/ 943928 w 943928"/>
              <a:gd name="connsiteY2" fmla="*/ 811449 h 811449"/>
              <a:gd name="connsiteX0" fmla="*/ 0 w 1267886"/>
              <a:gd name="connsiteY0" fmla="*/ 961 h 649470"/>
              <a:gd name="connsiteX1" fmla="*/ 717058 w 1267886"/>
              <a:gd name="connsiteY1" fmla="*/ 0 h 649470"/>
              <a:gd name="connsiteX2" fmla="*/ 1267886 w 1267886"/>
              <a:gd name="connsiteY2" fmla="*/ 649470 h 649470"/>
            </a:gdLst>
            <a:ahLst/>
            <a:cxnLst>
              <a:cxn ang="0">
                <a:pos x="connsiteX0" y="connsiteY0"/>
              </a:cxn>
              <a:cxn ang="0">
                <a:pos x="connsiteX1" y="connsiteY1"/>
              </a:cxn>
              <a:cxn ang="0">
                <a:pos x="connsiteX2" y="connsiteY2"/>
              </a:cxn>
            </a:cxnLst>
            <a:rect l="l" t="t" r="r" b="b"/>
            <a:pathLst>
              <a:path w="1267886" h="649470">
                <a:moveTo>
                  <a:pt x="0" y="961"/>
                </a:moveTo>
                <a:lnTo>
                  <a:pt x="717058" y="0"/>
                </a:lnTo>
                <a:lnTo>
                  <a:pt x="1267886" y="649470"/>
                </a:lnTo>
              </a:path>
            </a:pathLst>
          </a:custGeom>
          <a:noFill/>
          <a:ln>
            <a:solidFill>
              <a:srgbClr val="FE9809"/>
            </a:solidFill>
            <a:head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49">
            <a:extLst>
              <a:ext uri="{FF2B5EF4-FFF2-40B4-BE49-F238E27FC236}">
                <a16:creationId xmlns:a16="http://schemas.microsoft.com/office/drawing/2014/main" id="{C3221AA6-D389-895D-F0FB-587A96CA47D7}"/>
              </a:ext>
            </a:extLst>
          </p:cNvPr>
          <p:cNvSpPr/>
          <p:nvPr/>
        </p:nvSpPr>
        <p:spPr>
          <a:xfrm flipH="1">
            <a:off x="7091184" y="1374973"/>
            <a:ext cx="1255523" cy="593120"/>
          </a:xfrm>
          <a:custGeom>
            <a:avLst/>
            <a:gdLst>
              <a:gd name="connsiteX0" fmla="*/ 0 w 943928"/>
              <a:gd name="connsiteY0" fmla="*/ 0 h 810488"/>
              <a:gd name="connsiteX1" fmla="*/ 943928 w 943928"/>
              <a:gd name="connsiteY1" fmla="*/ 0 h 810488"/>
              <a:gd name="connsiteX2" fmla="*/ 943928 w 943928"/>
              <a:gd name="connsiteY2" fmla="*/ 810488 h 810488"/>
              <a:gd name="connsiteX3" fmla="*/ 0 w 943928"/>
              <a:gd name="connsiteY3" fmla="*/ 810488 h 810488"/>
              <a:gd name="connsiteX4" fmla="*/ 0 w 943928"/>
              <a:gd name="connsiteY4" fmla="*/ 0 h 810488"/>
              <a:gd name="connsiteX0" fmla="*/ 0 w 943928"/>
              <a:gd name="connsiteY0" fmla="*/ 810488 h 901928"/>
              <a:gd name="connsiteX1" fmla="*/ 0 w 943928"/>
              <a:gd name="connsiteY1" fmla="*/ 0 h 901928"/>
              <a:gd name="connsiteX2" fmla="*/ 943928 w 943928"/>
              <a:gd name="connsiteY2" fmla="*/ 0 h 901928"/>
              <a:gd name="connsiteX3" fmla="*/ 943928 w 943928"/>
              <a:gd name="connsiteY3" fmla="*/ 810488 h 901928"/>
              <a:gd name="connsiteX4" fmla="*/ 91440 w 943928"/>
              <a:gd name="connsiteY4" fmla="*/ 901928 h 901928"/>
              <a:gd name="connsiteX0" fmla="*/ 0 w 943928"/>
              <a:gd name="connsiteY0" fmla="*/ 810488 h 810488"/>
              <a:gd name="connsiteX1" fmla="*/ 0 w 943928"/>
              <a:gd name="connsiteY1" fmla="*/ 0 h 810488"/>
              <a:gd name="connsiteX2" fmla="*/ 943928 w 943928"/>
              <a:gd name="connsiteY2" fmla="*/ 0 h 810488"/>
              <a:gd name="connsiteX3" fmla="*/ 943928 w 943928"/>
              <a:gd name="connsiteY3" fmla="*/ 810488 h 810488"/>
              <a:gd name="connsiteX0" fmla="*/ 0 w 943928"/>
              <a:gd name="connsiteY0" fmla="*/ 0 h 810488"/>
              <a:gd name="connsiteX1" fmla="*/ 943928 w 943928"/>
              <a:gd name="connsiteY1" fmla="*/ 0 h 810488"/>
              <a:gd name="connsiteX2" fmla="*/ 943928 w 943928"/>
              <a:gd name="connsiteY2" fmla="*/ 810488 h 810488"/>
              <a:gd name="connsiteX0" fmla="*/ 0 w 943928"/>
              <a:gd name="connsiteY0" fmla="*/ 961 h 811449"/>
              <a:gd name="connsiteX1" fmla="*/ 717058 w 943928"/>
              <a:gd name="connsiteY1" fmla="*/ 0 h 811449"/>
              <a:gd name="connsiteX2" fmla="*/ 943928 w 943928"/>
              <a:gd name="connsiteY2" fmla="*/ 961 h 811449"/>
              <a:gd name="connsiteX3" fmla="*/ 943928 w 943928"/>
              <a:gd name="connsiteY3" fmla="*/ 811449 h 811449"/>
              <a:gd name="connsiteX0" fmla="*/ 0 w 943928"/>
              <a:gd name="connsiteY0" fmla="*/ 961 h 811449"/>
              <a:gd name="connsiteX1" fmla="*/ 717058 w 943928"/>
              <a:gd name="connsiteY1" fmla="*/ 0 h 811449"/>
              <a:gd name="connsiteX2" fmla="*/ 943928 w 943928"/>
              <a:gd name="connsiteY2" fmla="*/ 811449 h 811449"/>
              <a:gd name="connsiteX0" fmla="*/ 0 w 1267886"/>
              <a:gd name="connsiteY0" fmla="*/ 961 h 649470"/>
              <a:gd name="connsiteX1" fmla="*/ 717058 w 1267886"/>
              <a:gd name="connsiteY1" fmla="*/ 0 h 649470"/>
              <a:gd name="connsiteX2" fmla="*/ 1267886 w 1267886"/>
              <a:gd name="connsiteY2" fmla="*/ 649470 h 649470"/>
            </a:gdLst>
            <a:ahLst/>
            <a:cxnLst>
              <a:cxn ang="0">
                <a:pos x="connsiteX0" y="connsiteY0"/>
              </a:cxn>
              <a:cxn ang="0">
                <a:pos x="connsiteX1" y="connsiteY1"/>
              </a:cxn>
              <a:cxn ang="0">
                <a:pos x="connsiteX2" y="connsiteY2"/>
              </a:cxn>
            </a:cxnLst>
            <a:rect l="l" t="t" r="r" b="b"/>
            <a:pathLst>
              <a:path w="1267886" h="649470">
                <a:moveTo>
                  <a:pt x="0" y="961"/>
                </a:moveTo>
                <a:lnTo>
                  <a:pt x="717058" y="0"/>
                </a:lnTo>
                <a:lnTo>
                  <a:pt x="1267886" y="649470"/>
                </a:lnTo>
              </a:path>
            </a:pathLst>
          </a:custGeom>
          <a:noFill/>
          <a:ln>
            <a:solidFill>
              <a:schemeClr val="bg1">
                <a:lumMod val="85000"/>
              </a:schemeClr>
            </a:solidFill>
            <a:head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49">
            <a:extLst>
              <a:ext uri="{FF2B5EF4-FFF2-40B4-BE49-F238E27FC236}">
                <a16:creationId xmlns:a16="http://schemas.microsoft.com/office/drawing/2014/main" id="{4AC803A3-D47A-230C-25D6-0C1E21D1FC6D}"/>
              </a:ext>
            </a:extLst>
          </p:cNvPr>
          <p:cNvSpPr/>
          <p:nvPr/>
        </p:nvSpPr>
        <p:spPr>
          <a:xfrm flipH="1">
            <a:off x="8512900" y="2849865"/>
            <a:ext cx="1240547" cy="635466"/>
          </a:xfrm>
          <a:custGeom>
            <a:avLst/>
            <a:gdLst>
              <a:gd name="connsiteX0" fmla="*/ 0 w 943928"/>
              <a:gd name="connsiteY0" fmla="*/ 0 h 810488"/>
              <a:gd name="connsiteX1" fmla="*/ 943928 w 943928"/>
              <a:gd name="connsiteY1" fmla="*/ 0 h 810488"/>
              <a:gd name="connsiteX2" fmla="*/ 943928 w 943928"/>
              <a:gd name="connsiteY2" fmla="*/ 810488 h 810488"/>
              <a:gd name="connsiteX3" fmla="*/ 0 w 943928"/>
              <a:gd name="connsiteY3" fmla="*/ 810488 h 810488"/>
              <a:gd name="connsiteX4" fmla="*/ 0 w 943928"/>
              <a:gd name="connsiteY4" fmla="*/ 0 h 810488"/>
              <a:gd name="connsiteX0" fmla="*/ 0 w 943928"/>
              <a:gd name="connsiteY0" fmla="*/ 810488 h 901928"/>
              <a:gd name="connsiteX1" fmla="*/ 0 w 943928"/>
              <a:gd name="connsiteY1" fmla="*/ 0 h 901928"/>
              <a:gd name="connsiteX2" fmla="*/ 943928 w 943928"/>
              <a:gd name="connsiteY2" fmla="*/ 0 h 901928"/>
              <a:gd name="connsiteX3" fmla="*/ 943928 w 943928"/>
              <a:gd name="connsiteY3" fmla="*/ 810488 h 901928"/>
              <a:gd name="connsiteX4" fmla="*/ 91440 w 943928"/>
              <a:gd name="connsiteY4" fmla="*/ 901928 h 901928"/>
              <a:gd name="connsiteX0" fmla="*/ 0 w 943928"/>
              <a:gd name="connsiteY0" fmla="*/ 810488 h 810488"/>
              <a:gd name="connsiteX1" fmla="*/ 0 w 943928"/>
              <a:gd name="connsiteY1" fmla="*/ 0 h 810488"/>
              <a:gd name="connsiteX2" fmla="*/ 943928 w 943928"/>
              <a:gd name="connsiteY2" fmla="*/ 0 h 810488"/>
              <a:gd name="connsiteX3" fmla="*/ 943928 w 943928"/>
              <a:gd name="connsiteY3" fmla="*/ 810488 h 810488"/>
              <a:gd name="connsiteX0" fmla="*/ 0 w 943928"/>
              <a:gd name="connsiteY0" fmla="*/ 0 h 810488"/>
              <a:gd name="connsiteX1" fmla="*/ 943928 w 943928"/>
              <a:gd name="connsiteY1" fmla="*/ 0 h 810488"/>
              <a:gd name="connsiteX2" fmla="*/ 943928 w 943928"/>
              <a:gd name="connsiteY2" fmla="*/ 810488 h 810488"/>
              <a:gd name="connsiteX0" fmla="*/ 0 w 943928"/>
              <a:gd name="connsiteY0" fmla="*/ 961 h 811449"/>
              <a:gd name="connsiteX1" fmla="*/ 717058 w 943928"/>
              <a:gd name="connsiteY1" fmla="*/ 0 h 811449"/>
              <a:gd name="connsiteX2" fmla="*/ 943928 w 943928"/>
              <a:gd name="connsiteY2" fmla="*/ 961 h 811449"/>
              <a:gd name="connsiteX3" fmla="*/ 943928 w 943928"/>
              <a:gd name="connsiteY3" fmla="*/ 811449 h 811449"/>
              <a:gd name="connsiteX0" fmla="*/ 0 w 943928"/>
              <a:gd name="connsiteY0" fmla="*/ 961 h 811449"/>
              <a:gd name="connsiteX1" fmla="*/ 717058 w 943928"/>
              <a:gd name="connsiteY1" fmla="*/ 0 h 811449"/>
              <a:gd name="connsiteX2" fmla="*/ 943928 w 943928"/>
              <a:gd name="connsiteY2" fmla="*/ 811449 h 811449"/>
              <a:gd name="connsiteX0" fmla="*/ 0 w 1267886"/>
              <a:gd name="connsiteY0" fmla="*/ 961 h 649470"/>
              <a:gd name="connsiteX1" fmla="*/ 717058 w 1267886"/>
              <a:gd name="connsiteY1" fmla="*/ 0 h 649470"/>
              <a:gd name="connsiteX2" fmla="*/ 1267886 w 1267886"/>
              <a:gd name="connsiteY2" fmla="*/ 649470 h 649470"/>
            </a:gdLst>
            <a:ahLst/>
            <a:cxnLst>
              <a:cxn ang="0">
                <a:pos x="connsiteX0" y="connsiteY0"/>
              </a:cxn>
              <a:cxn ang="0">
                <a:pos x="connsiteX1" y="connsiteY1"/>
              </a:cxn>
              <a:cxn ang="0">
                <a:pos x="connsiteX2" y="connsiteY2"/>
              </a:cxn>
            </a:cxnLst>
            <a:rect l="l" t="t" r="r" b="b"/>
            <a:pathLst>
              <a:path w="1267886" h="649470">
                <a:moveTo>
                  <a:pt x="0" y="961"/>
                </a:moveTo>
                <a:lnTo>
                  <a:pt x="717058" y="0"/>
                </a:lnTo>
                <a:lnTo>
                  <a:pt x="1267886" y="649470"/>
                </a:lnTo>
              </a:path>
            </a:pathLst>
          </a:custGeom>
          <a:noFill/>
          <a:ln>
            <a:solidFill>
              <a:schemeClr val="accent6">
                <a:lumMod val="75000"/>
              </a:schemeClr>
            </a:solidFill>
            <a:head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1" name="Group 60">
            <a:extLst>
              <a:ext uri="{FF2B5EF4-FFF2-40B4-BE49-F238E27FC236}">
                <a16:creationId xmlns:a16="http://schemas.microsoft.com/office/drawing/2014/main" id="{D59FA504-FF03-1D4E-BE0C-AA9035B9FD87}"/>
              </a:ext>
            </a:extLst>
          </p:cNvPr>
          <p:cNvGrpSpPr/>
          <p:nvPr/>
        </p:nvGrpSpPr>
        <p:grpSpPr>
          <a:xfrm>
            <a:off x="2995558" y="3017390"/>
            <a:ext cx="1784346" cy="1784346"/>
            <a:chOff x="5783898" y="3730420"/>
            <a:chExt cx="1784346" cy="1784346"/>
          </a:xfrm>
          <a:solidFill>
            <a:srgbClr val="00B050"/>
          </a:solidFill>
        </p:grpSpPr>
        <p:sp>
          <p:nvSpPr>
            <p:cNvPr id="62" name="Oval 61">
              <a:extLst>
                <a:ext uri="{FF2B5EF4-FFF2-40B4-BE49-F238E27FC236}">
                  <a16:creationId xmlns:a16="http://schemas.microsoft.com/office/drawing/2014/main" id="{5346E639-A765-1623-B11B-A3034C446D8C}"/>
                </a:ext>
              </a:extLst>
            </p:cNvPr>
            <p:cNvSpPr/>
            <p:nvPr/>
          </p:nvSpPr>
          <p:spPr>
            <a:xfrm>
              <a:off x="5783898" y="3730420"/>
              <a:ext cx="1784346" cy="1784346"/>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a:extLst>
                <a:ext uri="{FF2B5EF4-FFF2-40B4-BE49-F238E27FC236}">
                  <a16:creationId xmlns:a16="http://schemas.microsoft.com/office/drawing/2014/main" id="{884CAFF0-1B7E-6EFA-2980-785D1CB10DC3}"/>
                </a:ext>
              </a:extLst>
            </p:cNvPr>
            <p:cNvSpPr txBox="1"/>
            <p:nvPr/>
          </p:nvSpPr>
          <p:spPr>
            <a:xfrm flipH="1">
              <a:off x="5925294" y="4267052"/>
              <a:ext cx="1031358" cy="711081"/>
            </a:xfrm>
            <a:prstGeom prst="rect">
              <a:avLst/>
            </a:prstGeom>
            <a:grpFill/>
          </p:spPr>
          <p:txBody>
            <a:bodyPr wrap="square" lIns="0" tIns="0" rIns="0" bIns="0" rtlCol="0" anchor="ctr">
              <a:noAutofit/>
            </a:bodyPr>
            <a:lstStyle/>
            <a:p>
              <a:pPr>
                <a:lnSpc>
                  <a:spcPct val="90000"/>
                </a:lnSpc>
              </a:pPr>
              <a:r>
                <a:rPr lang="en-US" sz="1400" dirty="0">
                  <a:solidFill>
                    <a:schemeClr val="bg1"/>
                  </a:solidFill>
                  <a:latin typeface="Aptos" panose="020B0004020202020204" pitchFamily="34" charset="0"/>
                </a:rPr>
                <a:t>Custodian of Professional Ethics and Discipline</a:t>
              </a:r>
              <a:endParaRPr lang="en-IN" sz="1400" dirty="0">
                <a:solidFill>
                  <a:schemeClr val="bg1"/>
                </a:solidFill>
                <a:latin typeface="Aptos" panose="020B0004020202020204" pitchFamily="34" charset="0"/>
              </a:endParaRPr>
            </a:p>
          </p:txBody>
        </p:sp>
      </p:grpSp>
      <p:grpSp>
        <p:nvGrpSpPr>
          <p:cNvPr id="17" name="Group 16">
            <a:extLst>
              <a:ext uri="{FF2B5EF4-FFF2-40B4-BE49-F238E27FC236}">
                <a16:creationId xmlns:a16="http://schemas.microsoft.com/office/drawing/2014/main" id="{049C49D0-F758-1530-2CDD-B8712B3A49D8}"/>
              </a:ext>
            </a:extLst>
          </p:cNvPr>
          <p:cNvGrpSpPr/>
          <p:nvPr/>
        </p:nvGrpSpPr>
        <p:grpSpPr>
          <a:xfrm>
            <a:off x="5629031" y="1868962"/>
            <a:ext cx="2265784" cy="2265784"/>
            <a:chOff x="5629031" y="1868962"/>
            <a:chExt cx="2265784" cy="2265784"/>
          </a:xfrm>
        </p:grpSpPr>
        <p:sp>
          <p:nvSpPr>
            <p:cNvPr id="18" name="Oval 17">
              <a:extLst>
                <a:ext uri="{FF2B5EF4-FFF2-40B4-BE49-F238E27FC236}">
                  <a16:creationId xmlns:a16="http://schemas.microsoft.com/office/drawing/2014/main" id="{0D09C12F-EF08-884F-49E7-DC6A02F85856}"/>
                </a:ext>
              </a:extLst>
            </p:cNvPr>
            <p:cNvSpPr/>
            <p:nvPr/>
          </p:nvSpPr>
          <p:spPr>
            <a:xfrm>
              <a:off x="5629031" y="1868962"/>
              <a:ext cx="2265784" cy="2265784"/>
            </a:xfrm>
            <a:prstGeom prst="ellipse">
              <a:avLst/>
            </a:prstGeom>
            <a:gradFill>
              <a:gsLst>
                <a:gs pos="0">
                  <a:schemeClr val="accent3"/>
                </a:gs>
                <a:gs pos="100000">
                  <a:schemeClr val="accent3">
                    <a:lumMod val="75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F6B759A9-5F47-21DB-25C4-81B5048DFA6B}"/>
                </a:ext>
              </a:extLst>
            </p:cNvPr>
            <p:cNvSpPr txBox="1"/>
            <p:nvPr/>
          </p:nvSpPr>
          <p:spPr>
            <a:xfrm flipH="1">
              <a:off x="6472763" y="2071790"/>
              <a:ext cx="1255522" cy="711081"/>
            </a:xfrm>
            <a:prstGeom prst="rect">
              <a:avLst/>
            </a:prstGeom>
            <a:noFill/>
          </p:spPr>
          <p:txBody>
            <a:bodyPr wrap="square" lIns="0" tIns="0" rIns="0" bIns="0" rtlCol="0" anchor="ctr">
              <a:noAutofit/>
            </a:bodyPr>
            <a:lstStyle/>
            <a:p>
              <a:pPr>
                <a:lnSpc>
                  <a:spcPct val="90000"/>
                </a:lnSpc>
              </a:pPr>
              <a:r>
                <a:rPr lang="en-US" sz="1400" dirty="0">
                  <a:solidFill>
                    <a:schemeClr val="bg1"/>
                  </a:solidFill>
                  <a:latin typeface="Aptos" panose="020B0004020202020204" pitchFamily="34" charset="0"/>
                </a:rPr>
                <a:t>Excellent </a:t>
              </a:r>
              <a:br>
                <a:rPr lang="en-US" sz="1400" dirty="0">
                  <a:solidFill>
                    <a:schemeClr val="bg1"/>
                  </a:solidFill>
                  <a:latin typeface="Aptos" panose="020B0004020202020204" pitchFamily="34" charset="0"/>
                </a:rPr>
              </a:br>
              <a:r>
                <a:rPr lang="en-US" sz="1400" dirty="0">
                  <a:solidFill>
                    <a:schemeClr val="bg1"/>
                  </a:solidFill>
                  <a:latin typeface="Aptos" panose="020B0004020202020204" pitchFamily="34" charset="0"/>
                </a:rPr>
                <a:t>Skill Set </a:t>
              </a:r>
              <a:endParaRPr lang="en-IN" sz="1400" dirty="0">
                <a:solidFill>
                  <a:schemeClr val="bg1"/>
                </a:solidFill>
                <a:latin typeface="Aptos" panose="020B0004020202020204" pitchFamily="34" charset="0"/>
              </a:endParaRPr>
            </a:p>
          </p:txBody>
        </p:sp>
      </p:grpSp>
      <p:sp>
        <p:nvSpPr>
          <p:cNvPr id="60" name="Oval 59">
            <a:extLst>
              <a:ext uri="{FF2B5EF4-FFF2-40B4-BE49-F238E27FC236}">
                <a16:creationId xmlns:a16="http://schemas.microsoft.com/office/drawing/2014/main" id="{DBAA33C3-8874-15A3-BB6A-E9A28B07A0D4}"/>
              </a:ext>
            </a:extLst>
          </p:cNvPr>
          <p:cNvSpPr/>
          <p:nvPr/>
        </p:nvSpPr>
        <p:spPr>
          <a:xfrm>
            <a:off x="6793471" y="2748047"/>
            <a:ext cx="1784346" cy="1784346"/>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dirty="0">
                <a:latin typeface="Aptos" panose="020B0004020202020204" pitchFamily="34" charset="0"/>
              </a:rPr>
              <a:t>Integrity and Character above Reproach</a:t>
            </a:r>
            <a:endParaRPr lang="en-IN" sz="1400" dirty="0">
              <a:latin typeface="Aptos" panose="020B0004020202020204" pitchFamily="34" charset="0"/>
            </a:endParaRPr>
          </a:p>
        </p:txBody>
      </p:sp>
      <p:grpSp>
        <p:nvGrpSpPr>
          <p:cNvPr id="3" name="Group 2">
            <a:extLst>
              <a:ext uri="{FF2B5EF4-FFF2-40B4-BE49-F238E27FC236}">
                <a16:creationId xmlns:a16="http://schemas.microsoft.com/office/drawing/2014/main" id="{B5862104-035A-CAE9-9D7C-9B6FD041357C}"/>
              </a:ext>
            </a:extLst>
          </p:cNvPr>
          <p:cNvGrpSpPr/>
          <p:nvPr/>
        </p:nvGrpSpPr>
        <p:grpSpPr>
          <a:xfrm>
            <a:off x="4118383" y="2097562"/>
            <a:ext cx="2034718" cy="2034718"/>
            <a:chOff x="4118383" y="2097562"/>
            <a:chExt cx="2034718" cy="2034718"/>
          </a:xfrm>
        </p:grpSpPr>
        <p:sp>
          <p:nvSpPr>
            <p:cNvPr id="4" name="Oval 3">
              <a:extLst>
                <a:ext uri="{FF2B5EF4-FFF2-40B4-BE49-F238E27FC236}">
                  <a16:creationId xmlns:a16="http://schemas.microsoft.com/office/drawing/2014/main" id="{9E4D583D-82FD-3F54-B730-E46E32D834C3}"/>
                </a:ext>
              </a:extLst>
            </p:cNvPr>
            <p:cNvSpPr/>
            <p:nvPr/>
          </p:nvSpPr>
          <p:spPr>
            <a:xfrm>
              <a:off x="4118383" y="2097562"/>
              <a:ext cx="2034718" cy="2034718"/>
            </a:xfrm>
            <a:prstGeom prst="ellipse">
              <a:avLst/>
            </a:prstGeom>
            <a:gradFill>
              <a:gsLst>
                <a:gs pos="0">
                  <a:schemeClr val="accent2"/>
                </a:gs>
                <a:gs pos="100000">
                  <a:schemeClr val="accent2">
                    <a:lumMod val="75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467C427-6F96-D55F-F877-DE95083C2240}"/>
                </a:ext>
              </a:extLst>
            </p:cNvPr>
            <p:cNvSpPr txBox="1"/>
            <p:nvPr/>
          </p:nvSpPr>
          <p:spPr>
            <a:xfrm flipH="1">
              <a:off x="4294897" y="2382643"/>
              <a:ext cx="1707866" cy="711081"/>
            </a:xfrm>
            <a:prstGeom prst="rect">
              <a:avLst/>
            </a:prstGeom>
            <a:noFill/>
          </p:spPr>
          <p:txBody>
            <a:bodyPr wrap="square" lIns="0" tIns="0" rIns="0" bIns="0" rtlCol="0" anchor="ctr">
              <a:noAutofit/>
            </a:bodyPr>
            <a:lstStyle/>
            <a:p>
              <a:pPr algn="ctr">
                <a:lnSpc>
                  <a:spcPct val="90000"/>
                </a:lnSpc>
              </a:pPr>
              <a:r>
                <a:rPr lang="en-US" sz="1400" dirty="0" err="1">
                  <a:solidFill>
                    <a:schemeClr val="bg1"/>
                  </a:solidFill>
                  <a:latin typeface="Aptos" panose="020B0004020202020204" pitchFamily="34" charset="0"/>
                </a:rPr>
                <a:t>Adaptabilty</a:t>
              </a:r>
              <a:r>
                <a:rPr lang="en-US" sz="1400" dirty="0">
                  <a:solidFill>
                    <a:schemeClr val="bg1"/>
                  </a:solidFill>
                  <a:latin typeface="Aptos" panose="020B0004020202020204" pitchFamily="34" charset="0"/>
                </a:rPr>
                <a:t> and Technological Fluency (savvy)</a:t>
              </a:r>
              <a:endParaRPr lang="en-IN" sz="1600" dirty="0">
                <a:solidFill>
                  <a:schemeClr val="bg1"/>
                </a:solidFill>
              </a:endParaRPr>
            </a:p>
          </p:txBody>
        </p:sp>
      </p:grpSp>
      <p:sp>
        <p:nvSpPr>
          <p:cNvPr id="6" name="Title 1">
            <a:extLst>
              <a:ext uri="{FF2B5EF4-FFF2-40B4-BE49-F238E27FC236}">
                <a16:creationId xmlns:a16="http://schemas.microsoft.com/office/drawing/2014/main" id="{1F274D52-3F8E-760A-2CF4-ADD275801624}"/>
              </a:ext>
            </a:extLst>
          </p:cNvPr>
          <p:cNvSpPr>
            <a:spLocks noGrp="1"/>
          </p:cNvSpPr>
          <p:nvPr>
            <p:ph type="title"/>
          </p:nvPr>
        </p:nvSpPr>
        <p:spPr>
          <a:xfrm>
            <a:off x="609441" y="274639"/>
            <a:ext cx="10969943" cy="711081"/>
          </a:xfrm>
        </p:spPr>
        <p:txBody>
          <a:bodyPr/>
          <a:lstStyle/>
          <a:p>
            <a:r>
              <a:rPr lang="en-GB" sz="4400" dirty="0">
                <a:latin typeface="Aptos" panose="020B0004020202020204" pitchFamily="34" charset="0"/>
              </a:rPr>
              <a:t>Cornerstone Pillars of the Inner Bar</a:t>
            </a:r>
            <a:endParaRPr lang="en-IN" sz="4400" dirty="0">
              <a:solidFill>
                <a:schemeClr val="tx1">
                  <a:lumMod val="85000"/>
                  <a:lumOff val="15000"/>
                </a:schemeClr>
              </a:solidFill>
              <a:latin typeface="Aptos" panose="020B0004020202020204" pitchFamily="34" charset="0"/>
            </a:endParaRPr>
          </a:p>
        </p:txBody>
      </p:sp>
      <p:grpSp>
        <p:nvGrpSpPr>
          <p:cNvPr id="7" name="Group 6">
            <a:extLst>
              <a:ext uri="{FF2B5EF4-FFF2-40B4-BE49-F238E27FC236}">
                <a16:creationId xmlns:a16="http://schemas.microsoft.com/office/drawing/2014/main" id="{16EA7D68-DDE1-63BB-F9DB-87CDA55C95A3}"/>
              </a:ext>
            </a:extLst>
          </p:cNvPr>
          <p:cNvGrpSpPr/>
          <p:nvPr/>
        </p:nvGrpSpPr>
        <p:grpSpPr>
          <a:xfrm>
            <a:off x="1541766" y="1033305"/>
            <a:ext cx="2819421" cy="1241045"/>
            <a:chOff x="1541766" y="1033305"/>
            <a:chExt cx="2819421" cy="1241045"/>
          </a:xfrm>
        </p:grpSpPr>
        <p:sp>
          <p:nvSpPr>
            <p:cNvPr id="10" name="TextBox 9">
              <a:extLst>
                <a:ext uri="{FF2B5EF4-FFF2-40B4-BE49-F238E27FC236}">
                  <a16:creationId xmlns:a16="http://schemas.microsoft.com/office/drawing/2014/main" id="{8D9CFC25-93E1-C7AE-7A01-18D080000F6B}"/>
                </a:ext>
              </a:extLst>
            </p:cNvPr>
            <p:cNvSpPr txBox="1"/>
            <p:nvPr/>
          </p:nvSpPr>
          <p:spPr>
            <a:xfrm flipH="1">
              <a:off x="1541766" y="1563269"/>
              <a:ext cx="2819421" cy="711081"/>
            </a:xfrm>
            <a:prstGeom prst="rect">
              <a:avLst/>
            </a:prstGeom>
            <a:noFill/>
          </p:spPr>
          <p:txBody>
            <a:bodyPr wrap="square" lIns="0" tIns="0" rIns="0" bIns="0" rtlCol="0" anchor="t">
              <a:noAutofit/>
            </a:bodyPr>
            <a:lstStyle/>
            <a:p>
              <a:r>
                <a:rPr lang="en-US" sz="1400" dirty="0">
                  <a:latin typeface="Aptos" panose="020B0004020202020204" pitchFamily="34" charset="0"/>
                </a:rPr>
                <a:t>embrace innovation and technological global best practices</a:t>
              </a:r>
              <a:endParaRPr lang="en-IN" sz="1400" dirty="0">
                <a:solidFill>
                  <a:schemeClr val="tx1">
                    <a:lumMod val="85000"/>
                    <a:lumOff val="15000"/>
                  </a:schemeClr>
                </a:solidFill>
                <a:latin typeface="Aptos" panose="020B0004020202020204" pitchFamily="34" charset="0"/>
              </a:endParaRPr>
            </a:p>
          </p:txBody>
        </p:sp>
        <p:sp>
          <p:nvSpPr>
            <p:cNvPr id="9" name="TextBox 8">
              <a:extLst>
                <a:ext uri="{FF2B5EF4-FFF2-40B4-BE49-F238E27FC236}">
                  <a16:creationId xmlns:a16="http://schemas.microsoft.com/office/drawing/2014/main" id="{BF185785-3BF8-E955-9D30-9FB3161B070C}"/>
                </a:ext>
              </a:extLst>
            </p:cNvPr>
            <p:cNvSpPr txBox="1"/>
            <p:nvPr/>
          </p:nvSpPr>
          <p:spPr>
            <a:xfrm>
              <a:off x="2367910" y="1033305"/>
              <a:ext cx="752730" cy="646736"/>
            </a:xfrm>
            <a:prstGeom prst="rect">
              <a:avLst/>
            </a:prstGeom>
            <a:noFill/>
          </p:spPr>
          <p:txBody>
            <a:bodyPr wrap="square" lIns="0" tIns="0" rIns="0" bIns="0" rtlCol="0" anchor="ctr">
              <a:noAutofit/>
            </a:bodyPr>
            <a:lstStyle/>
            <a:p>
              <a:pPr algn="ctr"/>
              <a:r>
                <a:rPr lang="en-US" sz="4000" b="1" dirty="0">
                  <a:gradFill>
                    <a:gsLst>
                      <a:gs pos="0">
                        <a:schemeClr val="accent2"/>
                      </a:gs>
                      <a:gs pos="100000">
                        <a:schemeClr val="accent2">
                          <a:lumMod val="75000"/>
                        </a:schemeClr>
                      </a:gs>
                    </a:gsLst>
                    <a:lin ang="13500000" scaled="1"/>
                  </a:gradFill>
                </a:rPr>
                <a:t>01</a:t>
              </a:r>
              <a:endParaRPr lang="en-IN" sz="4000" b="1" dirty="0">
                <a:gradFill>
                  <a:gsLst>
                    <a:gs pos="0">
                      <a:schemeClr val="accent2"/>
                    </a:gs>
                    <a:gs pos="100000">
                      <a:schemeClr val="accent2">
                        <a:lumMod val="75000"/>
                      </a:schemeClr>
                    </a:gs>
                  </a:gsLst>
                  <a:lin ang="13500000" scaled="1"/>
                </a:gradFill>
              </a:endParaRPr>
            </a:p>
          </p:txBody>
        </p:sp>
      </p:grpSp>
      <p:grpSp>
        <p:nvGrpSpPr>
          <p:cNvPr id="12" name="Group 11">
            <a:extLst>
              <a:ext uri="{FF2B5EF4-FFF2-40B4-BE49-F238E27FC236}">
                <a16:creationId xmlns:a16="http://schemas.microsoft.com/office/drawing/2014/main" id="{5320F542-4DCE-8493-9B94-550367B43F12}"/>
              </a:ext>
            </a:extLst>
          </p:cNvPr>
          <p:cNvGrpSpPr/>
          <p:nvPr/>
        </p:nvGrpSpPr>
        <p:grpSpPr>
          <a:xfrm>
            <a:off x="7593268" y="990780"/>
            <a:ext cx="2677607" cy="1307820"/>
            <a:chOff x="700484" y="4587454"/>
            <a:chExt cx="2677607" cy="1307820"/>
          </a:xfrm>
        </p:grpSpPr>
        <p:sp>
          <p:nvSpPr>
            <p:cNvPr id="15" name="TextBox 14">
              <a:extLst>
                <a:ext uri="{FF2B5EF4-FFF2-40B4-BE49-F238E27FC236}">
                  <a16:creationId xmlns:a16="http://schemas.microsoft.com/office/drawing/2014/main" id="{FE94A2E5-762C-EDDB-737E-2DC80DC67FBE}"/>
                </a:ext>
              </a:extLst>
            </p:cNvPr>
            <p:cNvSpPr txBox="1"/>
            <p:nvPr/>
          </p:nvSpPr>
          <p:spPr>
            <a:xfrm flipH="1">
              <a:off x="700484" y="5184193"/>
              <a:ext cx="2677607" cy="711081"/>
            </a:xfrm>
            <a:prstGeom prst="rect">
              <a:avLst/>
            </a:prstGeom>
            <a:noFill/>
          </p:spPr>
          <p:txBody>
            <a:bodyPr wrap="square" lIns="0" tIns="0" rIns="0" bIns="0" rtlCol="0" anchor="t">
              <a:noAutofit/>
            </a:bodyPr>
            <a:lstStyle/>
            <a:p>
              <a:pPr algn="r"/>
              <a:r>
                <a:rPr lang="en-US" sz="1400" dirty="0">
                  <a:latin typeface="Aptos" panose="020B0004020202020204" pitchFamily="34" charset="0"/>
                </a:rPr>
                <a:t>Excellence in Advocacy, distinction in Court room, mastery of the law, share legal brilliance</a:t>
              </a:r>
              <a:endParaRPr lang="en-IN" sz="1400" dirty="0">
                <a:solidFill>
                  <a:schemeClr val="tx1">
                    <a:lumMod val="85000"/>
                    <a:lumOff val="15000"/>
                  </a:schemeClr>
                </a:solidFill>
                <a:latin typeface="Aptos" panose="020B0004020202020204" pitchFamily="34" charset="0"/>
              </a:endParaRPr>
            </a:p>
          </p:txBody>
        </p:sp>
        <p:sp>
          <p:nvSpPr>
            <p:cNvPr id="14" name="TextBox 13">
              <a:extLst>
                <a:ext uri="{FF2B5EF4-FFF2-40B4-BE49-F238E27FC236}">
                  <a16:creationId xmlns:a16="http://schemas.microsoft.com/office/drawing/2014/main" id="{AB0FE358-2000-B045-6955-178E9FC974A6}"/>
                </a:ext>
              </a:extLst>
            </p:cNvPr>
            <p:cNvSpPr txBox="1"/>
            <p:nvPr/>
          </p:nvSpPr>
          <p:spPr>
            <a:xfrm>
              <a:off x="1598421" y="4587454"/>
              <a:ext cx="752730" cy="646736"/>
            </a:xfrm>
            <a:prstGeom prst="rect">
              <a:avLst/>
            </a:prstGeom>
            <a:noFill/>
          </p:spPr>
          <p:txBody>
            <a:bodyPr wrap="square" lIns="0" tIns="0" rIns="0" bIns="0" rtlCol="0" anchor="ctr">
              <a:noAutofit/>
            </a:bodyPr>
            <a:lstStyle/>
            <a:p>
              <a:pPr algn="ctr"/>
              <a:r>
                <a:rPr lang="en-US" sz="4000" b="1" dirty="0">
                  <a:gradFill>
                    <a:gsLst>
                      <a:gs pos="0">
                        <a:schemeClr val="accent3"/>
                      </a:gs>
                      <a:gs pos="100000">
                        <a:schemeClr val="accent3">
                          <a:lumMod val="75000"/>
                        </a:schemeClr>
                      </a:gs>
                    </a:gsLst>
                    <a:lin ang="13500000" scaled="1"/>
                  </a:gradFill>
                </a:rPr>
                <a:t>02</a:t>
              </a:r>
              <a:endParaRPr lang="en-IN" sz="4000" b="1" dirty="0">
                <a:gradFill>
                  <a:gsLst>
                    <a:gs pos="0">
                      <a:schemeClr val="accent1"/>
                    </a:gs>
                    <a:gs pos="100000">
                      <a:schemeClr val="accent1">
                        <a:lumMod val="75000"/>
                      </a:schemeClr>
                    </a:gs>
                  </a:gsLst>
                  <a:lin ang="13500000" scaled="1"/>
                </a:gradFill>
              </a:endParaRPr>
            </a:p>
          </p:txBody>
        </p:sp>
      </p:grpSp>
      <p:grpSp>
        <p:nvGrpSpPr>
          <p:cNvPr id="20" name="Group 19">
            <a:extLst>
              <a:ext uri="{FF2B5EF4-FFF2-40B4-BE49-F238E27FC236}">
                <a16:creationId xmlns:a16="http://schemas.microsoft.com/office/drawing/2014/main" id="{2AE2139B-385A-FBE3-D074-2CF72E6873C9}"/>
              </a:ext>
            </a:extLst>
          </p:cNvPr>
          <p:cNvGrpSpPr/>
          <p:nvPr/>
        </p:nvGrpSpPr>
        <p:grpSpPr>
          <a:xfrm>
            <a:off x="5783898" y="3730420"/>
            <a:ext cx="1784346" cy="1784346"/>
            <a:chOff x="5783898" y="3730420"/>
            <a:chExt cx="1784346" cy="1784346"/>
          </a:xfrm>
        </p:grpSpPr>
        <p:sp>
          <p:nvSpPr>
            <p:cNvPr id="21" name="Oval 20">
              <a:extLst>
                <a:ext uri="{FF2B5EF4-FFF2-40B4-BE49-F238E27FC236}">
                  <a16:creationId xmlns:a16="http://schemas.microsoft.com/office/drawing/2014/main" id="{DFB9E65B-1044-D6CE-78B8-AD17A26CBF98}"/>
                </a:ext>
              </a:extLst>
            </p:cNvPr>
            <p:cNvSpPr/>
            <p:nvPr/>
          </p:nvSpPr>
          <p:spPr>
            <a:xfrm>
              <a:off x="5783898" y="3730420"/>
              <a:ext cx="1784346" cy="1784346"/>
            </a:xfrm>
            <a:prstGeom prst="ellipse">
              <a:avLst/>
            </a:prstGeom>
            <a:gradFill>
              <a:gsLst>
                <a:gs pos="0">
                  <a:schemeClr val="accent5"/>
                </a:gs>
                <a:gs pos="100000">
                  <a:schemeClr val="accent5">
                    <a:lumMod val="75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F8B2EBB-0873-3278-EA12-82C852D9E0A4}"/>
                </a:ext>
              </a:extLst>
            </p:cNvPr>
            <p:cNvSpPr txBox="1"/>
            <p:nvPr/>
          </p:nvSpPr>
          <p:spPr>
            <a:xfrm flipH="1">
              <a:off x="6332992" y="4504327"/>
              <a:ext cx="1060379" cy="711081"/>
            </a:xfrm>
            <a:prstGeom prst="rect">
              <a:avLst/>
            </a:prstGeom>
            <a:noFill/>
          </p:spPr>
          <p:txBody>
            <a:bodyPr wrap="square" lIns="0" tIns="0" rIns="0" bIns="0" rtlCol="0" anchor="ctr">
              <a:noAutofit/>
            </a:bodyPr>
            <a:lstStyle/>
            <a:p>
              <a:pPr algn="r">
                <a:lnSpc>
                  <a:spcPct val="90000"/>
                </a:lnSpc>
              </a:pPr>
              <a:r>
                <a:rPr lang="en-US" sz="1400" dirty="0">
                  <a:solidFill>
                    <a:schemeClr val="bg1"/>
                  </a:solidFill>
                  <a:latin typeface="Aptos" panose="020B0004020202020204" pitchFamily="34" charset="0"/>
                </a:rPr>
                <a:t>Leadership and Mentorship</a:t>
              </a:r>
              <a:endParaRPr lang="en-IN" sz="1400" dirty="0">
                <a:solidFill>
                  <a:schemeClr val="bg1"/>
                </a:solidFill>
                <a:latin typeface="Aptos" panose="020B0004020202020204" pitchFamily="34" charset="0"/>
              </a:endParaRPr>
            </a:p>
          </p:txBody>
        </p:sp>
      </p:grpSp>
      <p:sp>
        <p:nvSpPr>
          <p:cNvPr id="24" name="Oval 23">
            <a:extLst>
              <a:ext uri="{FF2B5EF4-FFF2-40B4-BE49-F238E27FC236}">
                <a16:creationId xmlns:a16="http://schemas.microsoft.com/office/drawing/2014/main" id="{FD582C9F-75D6-6B9C-E8BB-8DCAE915B12E}"/>
              </a:ext>
            </a:extLst>
          </p:cNvPr>
          <p:cNvSpPr/>
          <p:nvPr/>
        </p:nvSpPr>
        <p:spPr>
          <a:xfrm>
            <a:off x="4148574" y="3284105"/>
            <a:ext cx="2265784" cy="2265784"/>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61E06067-E4F1-0222-A467-02B184BE93E8}"/>
              </a:ext>
            </a:extLst>
          </p:cNvPr>
          <p:cNvSpPr txBox="1"/>
          <p:nvPr/>
        </p:nvSpPr>
        <p:spPr>
          <a:xfrm flipH="1">
            <a:off x="4172576" y="4588197"/>
            <a:ext cx="1703194" cy="711081"/>
          </a:xfrm>
          <a:prstGeom prst="rect">
            <a:avLst/>
          </a:prstGeom>
          <a:noFill/>
        </p:spPr>
        <p:txBody>
          <a:bodyPr wrap="square" lIns="0" tIns="0" rIns="0" bIns="0" rtlCol="0" anchor="ctr">
            <a:noAutofit/>
          </a:bodyPr>
          <a:lstStyle/>
          <a:p>
            <a:pPr algn="r">
              <a:lnSpc>
                <a:spcPct val="90000"/>
              </a:lnSpc>
            </a:pPr>
            <a:r>
              <a:rPr lang="en-US" sz="1400" dirty="0">
                <a:solidFill>
                  <a:schemeClr val="bg1"/>
                </a:solidFill>
                <a:latin typeface="Aptos" panose="020B0004020202020204" pitchFamily="34" charset="0"/>
              </a:rPr>
              <a:t>Service to Court of Administration of Justice</a:t>
            </a:r>
            <a:endParaRPr lang="en-IN" sz="1400" dirty="0">
              <a:solidFill>
                <a:schemeClr val="bg1"/>
              </a:solidFill>
              <a:latin typeface="Aptos" panose="020B0004020202020204" pitchFamily="34" charset="0"/>
            </a:endParaRPr>
          </a:p>
        </p:txBody>
      </p:sp>
      <p:sp>
        <p:nvSpPr>
          <p:cNvPr id="28" name="Oval 27">
            <a:extLst>
              <a:ext uri="{FF2B5EF4-FFF2-40B4-BE49-F238E27FC236}">
                <a16:creationId xmlns:a16="http://schemas.microsoft.com/office/drawing/2014/main" id="{1539959B-DB6E-CDB5-6507-6FDE9198C344}"/>
              </a:ext>
            </a:extLst>
          </p:cNvPr>
          <p:cNvSpPr/>
          <p:nvPr/>
        </p:nvSpPr>
        <p:spPr>
          <a:xfrm>
            <a:off x="4861367" y="2849327"/>
            <a:ext cx="2152891" cy="2152891"/>
          </a:xfrm>
          <a:prstGeom prst="ellipse">
            <a:avLst/>
          </a:prstGeom>
          <a:solidFill>
            <a:schemeClr val="tx1">
              <a:alpha val="36000"/>
            </a:schemeClr>
          </a:solidFill>
          <a:ln w="76200">
            <a:noFill/>
          </a:ln>
          <a:effectLst>
            <a:softEdge rad="241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5433A638-AD75-8CF1-6236-C216FEB58B26}"/>
              </a:ext>
            </a:extLst>
          </p:cNvPr>
          <p:cNvSpPr/>
          <p:nvPr/>
        </p:nvSpPr>
        <p:spPr>
          <a:xfrm>
            <a:off x="5086300" y="2956621"/>
            <a:ext cx="1557570" cy="1557570"/>
          </a:xfrm>
          <a:prstGeom prst="ellipse">
            <a:avLst/>
          </a:prstGeom>
          <a:gradFill flip="none" rotWithShape="1">
            <a:gsLst>
              <a:gs pos="0">
                <a:schemeClr val="tx1">
                  <a:lumMod val="85000"/>
                  <a:lumOff val="15000"/>
                </a:schemeClr>
              </a:gs>
              <a:gs pos="100000">
                <a:schemeClr val="tx1">
                  <a:lumMod val="65000"/>
                  <a:lumOff val="35000"/>
                </a:schemeClr>
              </a:gs>
            </a:gsLst>
            <a:lin ang="13500000" scaled="1"/>
            <a:tileRect/>
          </a:gra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2A91C772-973D-DD1C-AAE3-37B6BB62434B}"/>
              </a:ext>
            </a:extLst>
          </p:cNvPr>
          <p:cNvSpPr txBox="1"/>
          <p:nvPr/>
        </p:nvSpPr>
        <p:spPr>
          <a:xfrm>
            <a:off x="5104163" y="3337383"/>
            <a:ext cx="1521845" cy="796046"/>
          </a:xfrm>
          <a:prstGeom prst="rect">
            <a:avLst/>
          </a:prstGeom>
          <a:noFill/>
        </p:spPr>
        <p:txBody>
          <a:bodyPr wrap="square" lIns="0" tIns="0" rIns="0" bIns="0" rtlCol="0" anchor="ctr">
            <a:noAutofit/>
          </a:bodyPr>
          <a:lstStyle/>
          <a:p>
            <a:pPr algn="ctr"/>
            <a:r>
              <a:rPr lang="en-US" sz="1600" b="1" dirty="0">
                <a:solidFill>
                  <a:schemeClr val="bg1"/>
                </a:solidFill>
                <a:latin typeface="Aptos" panose="020B0004020202020204" pitchFamily="34" charset="0"/>
                <a:ea typeface="Segoe UI Black" panose="020B0A02040204020203" pitchFamily="34" charset="0"/>
              </a:rPr>
              <a:t>Pillars of the Inner Bar</a:t>
            </a:r>
          </a:p>
        </p:txBody>
      </p:sp>
      <p:grpSp>
        <p:nvGrpSpPr>
          <p:cNvPr id="33" name="Group 32">
            <a:extLst>
              <a:ext uri="{FF2B5EF4-FFF2-40B4-BE49-F238E27FC236}">
                <a16:creationId xmlns:a16="http://schemas.microsoft.com/office/drawing/2014/main" id="{790F5617-1249-8473-1FEF-210480514776}"/>
              </a:ext>
            </a:extLst>
          </p:cNvPr>
          <p:cNvGrpSpPr/>
          <p:nvPr/>
        </p:nvGrpSpPr>
        <p:grpSpPr>
          <a:xfrm flipH="1">
            <a:off x="8989132" y="2491157"/>
            <a:ext cx="1956579" cy="1312880"/>
            <a:chOff x="9099449" y="1092209"/>
            <a:chExt cx="1956579" cy="1312880"/>
          </a:xfrm>
        </p:grpSpPr>
        <p:sp>
          <p:nvSpPr>
            <p:cNvPr id="36" name="TextBox 35">
              <a:extLst>
                <a:ext uri="{FF2B5EF4-FFF2-40B4-BE49-F238E27FC236}">
                  <a16:creationId xmlns:a16="http://schemas.microsoft.com/office/drawing/2014/main" id="{508EC69B-6C59-4705-9C64-A10C37EB2DA6}"/>
                </a:ext>
              </a:extLst>
            </p:cNvPr>
            <p:cNvSpPr txBox="1"/>
            <p:nvPr/>
          </p:nvSpPr>
          <p:spPr>
            <a:xfrm flipH="1">
              <a:off x="9099449" y="1694008"/>
              <a:ext cx="1956579" cy="711081"/>
            </a:xfrm>
            <a:prstGeom prst="rect">
              <a:avLst/>
            </a:prstGeom>
            <a:noFill/>
          </p:spPr>
          <p:txBody>
            <a:bodyPr wrap="square" lIns="0" tIns="0" rIns="0" bIns="0" rtlCol="0" anchor="t">
              <a:noAutofit/>
            </a:bodyPr>
            <a:lstStyle/>
            <a:p>
              <a:r>
                <a:rPr lang="en-US" sz="1400" dirty="0">
                  <a:latin typeface="Aptos" panose="020B0004020202020204" pitchFamily="34" charset="0"/>
                </a:rPr>
                <a:t>inspire trust, confidence, transparent dealings</a:t>
              </a:r>
              <a:endParaRPr lang="en-IN" sz="1400" dirty="0">
                <a:solidFill>
                  <a:schemeClr val="tx1">
                    <a:lumMod val="85000"/>
                    <a:lumOff val="15000"/>
                  </a:schemeClr>
                </a:solidFill>
                <a:latin typeface="Aptos" panose="020B0004020202020204" pitchFamily="34" charset="0"/>
              </a:endParaRPr>
            </a:p>
          </p:txBody>
        </p:sp>
        <p:sp>
          <p:nvSpPr>
            <p:cNvPr id="35" name="TextBox 34">
              <a:extLst>
                <a:ext uri="{FF2B5EF4-FFF2-40B4-BE49-F238E27FC236}">
                  <a16:creationId xmlns:a16="http://schemas.microsoft.com/office/drawing/2014/main" id="{057451D0-B193-D9F6-B7E0-1CEE292351AB}"/>
                </a:ext>
              </a:extLst>
            </p:cNvPr>
            <p:cNvSpPr txBox="1"/>
            <p:nvPr/>
          </p:nvSpPr>
          <p:spPr>
            <a:xfrm>
              <a:off x="9538984" y="1092209"/>
              <a:ext cx="752730" cy="646736"/>
            </a:xfrm>
            <a:prstGeom prst="rect">
              <a:avLst/>
            </a:prstGeom>
            <a:noFill/>
          </p:spPr>
          <p:txBody>
            <a:bodyPr wrap="square" lIns="0" tIns="0" rIns="0" bIns="0" rtlCol="0" anchor="ctr">
              <a:noAutofit/>
            </a:bodyPr>
            <a:lstStyle/>
            <a:p>
              <a:pPr algn="ctr"/>
              <a:r>
                <a:rPr lang="en-US" sz="4000" b="1" dirty="0">
                  <a:solidFill>
                    <a:schemeClr val="accent6">
                      <a:lumMod val="75000"/>
                    </a:schemeClr>
                  </a:solidFill>
                </a:rPr>
                <a:t>03</a:t>
              </a:r>
              <a:endParaRPr lang="en-IN" sz="4000" b="1" dirty="0">
                <a:solidFill>
                  <a:schemeClr val="accent6">
                    <a:lumMod val="75000"/>
                  </a:schemeClr>
                </a:solidFill>
              </a:endParaRPr>
            </a:p>
          </p:txBody>
        </p:sp>
      </p:grpSp>
      <p:grpSp>
        <p:nvGrpSpPr>
          <p:cNvPr id="39" name="Group 38">
            <a:extLst>
              <a:ext uri="{FF2B5EF4-FFF2-40B4-BE49-F238E27FC236}">
                <a16:creationId xmlns:a16="http://schemas.microsoft.com/office/drawing/2014/main" id="{A77D3C75-B929-A5ED-36FE-CCD8666FE54E}"/>
              </a:ext>
            </a:extLst>
          </p:cNvPr>
          <p:cNvGrpSpPr/>
          <p:nvPr/>
        </p:nvGrpSpPr>
        <p:grpSpPr>
          <a:xfrm flipH="1">
            <a:off x="7534611" y="4953758"/>
            <a:ext cx="3295004" cy="1307212"/>
            <a:chOff x="10698342" y="4953758"/>
            <a:chExt cx="3295004" cy="1307212"/>
          </a:xfrm>
        </p:grpSpPr>
        <p:sp>
          <p:nvSpPr>
            <p:cNvPr id="42" name="TextBox 41">
              <a:extLst>
                <a:ext uri="{FF2B5EF4-FFF2-40B4-BE49-F238E27FC236}">
                  <a16:creationId xmlns:a16="http://schemas.microsoft.com/office/drawing/2014/main" id="{167D5988-A987-FDF2-CCAB-FC85DF42FF13}"/>
                </a:ext>
              </a:extLst>
            </p:cNvPr>
            <p:cNvSpPr txBox="1"/>
            <p:nvPr/>
          </p:nvSpPr>
          <p:spPr>
            <a:xfrm flipH="1">
              <a:off x="10698342" y="5549889"/>
              <a:ext cx="3295004" cy="711081"/>
            </a:xfrm>
            <a:prstGeom prst="rect">
              <a:avLst/>
            </a:prstGeom>
            <a:noFill/>
          </p:spPr>
          <p:txBody>
            <a:bodyPr wrap="square" lIns="0" tIns="0" rIns="0" bIns="0" rtlCol="0" anchor="t">
              <a:noAutofit/>
            </a:bodyPr>
            <a:lstStyle/>
            <a:p>
              <a:r>
                <a:rPr lang="en-US" sz="1400" dirty="0">
                  <a:latin typeface="Aptos" panose="020B0004020202020204" pitchFamily="34" charset="0"/>
                </a:rPr>
                <a:t>Responsibility and commitment to shape next generation of lawyers by transfer of skills and navigation of moral compass</a:t>
              </a:r>
              <a:endParaRPr lang="en-IN" sz="1400" dirty="0">
                <a:solidFill>
                  <a:schemeClr val="tx1">
                    <a:lumMod val="85000"/>
                    <a:lumOff val="15000"/>
                  </a:schemeClr>
                </a:solidFill>
                <a:latin typeface="Aptos" panose="020B0004020202020204" pitchFamily="34" charset="0"/>
              </a:endParaRPr>
            </a:p>
          </p:txBody>
        </p:sp>
        <p:sp>
          <p:nvSpPr>
            <p:cNvPr id="41" name="TextBox 40">
              <a:extLst>
                <a:ext uri="{FF2B5EF4-FFF2-40B4-BE49-F238E27FC236}">
                  <a16:creationId xmlns:a16="http://schemas.microsoft.com/office/drawing/2014/main" id="{373B1AEC-CF21-DA63-49F7-EFFC3276B1C7}"/>
                </a:ext>
              </a:extLst>
            </p:cNvPr>
            <p:cNvSpPr txBox="1"/>
            <p:nvPr/>
          </p:nvSpPr>
          <p:spPr>
            <a:xfrm>
              <a:off x="12144033" y="4953758"/>
              <a:ext cx="752730" cy="646736"/>
            </a:xfrm>
            <a:prstGeom prst="rect">
              <a:avLst/>
            </a:prstGeom>
            <a:noFill/>
          </p:spPr>
          <p:txBody>
            <a:bodyPr wrap="square" lIns="0" tIns="0" rIns="0" bIns="0" rtlCol="0" anchor="ctr">
              <a:noAutofit/>
            </a:bodyPr>
            <a:lstStyle/>
            <a:p>
              <a:pPr algn="ctr"/>
              <a:r>
                <a:rPr lang="en-US" sz="4000" b="1" dirty="0">
                  <a:gradFill>
                    <a:gsLst>
                      <a:gs pos="0">
                        <a:schemeClr val="accent5"/>
                      </a:gs>
                      <a:gs pos="100000">
                        <a:schemeClr val="accent5">
                          <a:lumMod val="75000"/>
                        </a:schemeClr>
                      </a:gs>
                    </a:gsLst>
                    <a:lin ang="13500000" scaled="1"/>
                  </a:gradFill>
                </a:rPr>
                <a:t>04</a:t>
              </a:r>
              <a:endParaRPr lang="en-IN" sz="4000" b="1" dirty="0">
                <a:gradFill>
                  <a:gsLst>
                    <a:gs pos="0">
                      <a:schemeClr val="accent5"/>
                    </a:gs>
                    <a:gs pos="100000">
                      <a:schemeClr val="accent5">
                        <a:lumMod val="75000"/>
                      </a:schemeClr>
                    </a:gs>
                  </a:gsLst>
                  <a:lin ang="13500000" scaled="1"/>
                </a:gradFill>
              </a:endParaRPr>
            </a:p>
          </p:txBody>
        </p:sp>
      </p:grpSp>
      <p:sp>
        <p:nvSpPr>
          <p:cNvPr id="64" name="Rectangle 49">
            <a:extLst>
              <a:ext uri="{FF2B5EF4-FFF2-40B4-BE49-F238E27FC236}">
                <a16:creationId xmlns:a16="http://schemas.microsoft.com/office/drawing/2014/main" id="{EC91EF46-7D34-8FD3-B026-343AE41D9958}"/>
              </a:ext>
            </a:extLst>
          </p:cNvPr>
          <p:cNvSpPr/>
          <p:nvPr/>
        </p:nvSpPr>
        <p:spPr>
          <a:xfrm flipV="1">
            <a:off x="2875362" y="5083561"/>
            <a:ext cx="1788283" cy="635466"/>
          </a:xfrm>
          <a:custGeom>
            <a:avLst/>
            <a:gdLst>
              <a:gd name="connsiteX0" fmla="*/ 0 w 943928"/>
              <a:gd name="connsiteY0" fmla="*/ 0 h 810488"/>
              <a:gd name="connsiteX1" fmla="*/ 943928 w 943928"/>
              <a:gd name="connsiteY1" fmla="*/ 0 h 810488"/>
              <a:gd name="connsiteX2" fmla="*/ 943928 w 943928"/>
              <a:gd name="connsiteY2" fmla="*/ 810488 h 810488"/>
              <a:gd name="connsiteX3" fmla="*/ 0 w 943928"/>
              <a:gd name="connsiteY3" fmla="*/ 810488 h 810488"/>
              <a:gd name="connsiteX4" fmla="*/ 0 w 943928"/>
              <a:gd name="connsiteY4" fmla="*/ 0 h 810488"/>
              <a:gd name="connsiteX0" fmla="*/ 0 w 943928"/>
              <a:gd name="connsiteY0" fmla="*/ 810488 h 901928"/>
              <a:gd name="connsiteX1" fmla="*/ 0 w 943928"/>
              <a:gd name="connsiteY1" fmla="*/ 0 h 901928"/>
              <a:gd name="connsiteX2" fmla="*/ 943928 w 943928"/>
              <a:gd name="connsiteY2" fmla="*/ 0 h 901928"/>
              <a:gd name="connsiteX3" fmla="*/ 943928 w 943928"/>
              <a:gd name="connsiteY3" fmla="*/ 810488 h 901928"/>
              <a:gd name="connsiteX4" fmla="*/ 91440 w 943928"/>
              <a:gd name="connsiteY4" fmla="*/ 901928 h 901928"/>
              <a:gd name="connsiteX0" fmla="*/ 0 w 943928"/>
              <a:gd name="connsiteY0" fmla="*/ 810488 h 810488"/>
              <a:gd name="connsiteX1" fmla="*/ 0 w 943928"/>
              <a:gd name="connsiteY1" fmla="*/ 0 h 810488"/>
              <a:gd name="connsiteX2" fmla="*/ 943928 w 943928"/>
              <a:gd name="connsiteY2" fmla="*/ 0 h 810488"/>
              <a:gd name="connsiteX3" fmla="*/ 943928 w 943928"/>
              <a:gd name="connsiteY3" fmla="*/ 810488 h 810488"/>
              <a:gd name="connsiteX0" fmla="*/ 0 w 943928"/>
              <a:gd name="connsiteY0" fmla="*/ 0 h 810488"/>
              <a:gd name="connsiteX1" fmla="*/ 943928 w 943928"/>
              <a:gd name="connsiteY1" fmla="*/ 0 h 810488"/>
              <a:gd name="connsiteX2" fmla="*/ 943928 w 943928"/>
              <a:gd name="connsiteY2" fmla="*/ 810488 h 810488"/>
              <a:gd name="connsiteX0" fmla="*/ 0 w 943928"/>
              <a:gd name="connsiteY0" fmla="*/ 961 h 811449"/>
              <a:gd name="connsiteX1" fmla="*/ 717058 w 943928"/>
              <a:gd name="connsiteY1" fmla="*/ 0 h 811449"/>
              <a:gd name="connsiteX2" fmla="*/ 943928 w 943928"/>
              <a:gd name="connsiteY2" fmla="*/ 961 h 811449"/>
              <a:gd name="connsiteX3" fmla="*/ 943928 w 943928"/>
              <a:gd name="connsiteY3" fmla="*/ 811449 h 811449"/>
              <a:gd name="connsiteX0" fmla="*/ 0 w 943928"/>
              <a:gd name="connsiteY0" fmla="*/ 961 h 811449"/>
              <a:gd name="connsiteX1" fmla="*/ 717058 w 943928"/>
              <a:gd name="connsiteY1" fmla="*/ 0 h 811449"/>
              <a:gd name="connsiteX2" fmla="*/ 943928 w 943928"/>
              <a:gd name="connsiteY2" fmla="*/ 811449 h 811449"/>
              <a:gd name="connsiteX0" fmla="*/ 0 w 1267886"/>
              <a:gd name="connsiteY0" fmla="*/ 961 h 649470"/>
              <a:gd name="connsiteX1" fmla="*/ 717058 w 1267886"/>
              <a:gd name="connsiteY1" fmla="*/ 0 h 649470"/>
              <a:gd name="connsiteX2" fmla="*/ 1267886 w 1267886"/>
              <a:gd name="connsiteY2" fmla="*/ 649470 h 649470"/>
            </a:gdLst>
            <a:ahLst/>
            <a:cxnLst>
              <a:cxn ang="0">
                <a:pos x="connsiteX0" y="connsiteY0"/>
              </a:cxn>
              <a:cxn ang="0">
                <a:pos x="connsiteX1" y="connsiteY1"/>
              </a:cxn>
              <a:cxn ang="0">
                <a:pos x="connsiteX2" y="connsiteY2"/>
              </a:cxn>
            </a:cxnLst>
            <a:rect l="l" t="t" r="r" b="b"/>
            <a:pathLst>
              <a:path w="1267886" h="649470">
                <a:moveTo>
                  <a:pt x="0" y="961"/>
                </a:moveTo>
                <a:lnTo>
                  <a:pt x="717058" y="0"/>
                </a:lnTo>
                <a:lnTo>
                  <a:pt x="1267886" y="649470"/>
                </a:lnTo>
              </a:path>
            </a:pathLst>
          </a:custGeom>
          <a:noFill/>
          <a:ln>
            <a:solidFill>
              <a:srgbClr val="7030A0"/>
            </a:solidFill>
            <a:head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5" name="Group 64">
            <a:extLst>
              <a:ext uri="{FF2B5EF4-FFF2-40B4-BE49-F238E27FC236}">
                <a16:creationId xmlns:a16="http://schemas.microsoft.com/office/drawing/2014/main" id="{0269B228-D63C-48F9-8BFC-F2C47DD24459}"/>
              </a:ext>
            </a:extLst>
          </p:cNvPr>
          <p:cNvGrpSpPr/>
          <p:nvPr/>
        </p:nvGrpSpPr>
        <p:grpSpPr>
          <a:xfrm flipH="1">
            <a:off x="2077896" y="5277126"/>
            <a:ext cx="3152420" cy="1258530"/>
            <a:chOff x="9415010" y="4807605"/>
            <a:chExt cx="3152420" cy="1258530"/>
          </a:xfrm>
        </p:grpSpPr>
        <p:sp>
          <p:nvSpPr>
            <p:cNvPr id="68" name="TextBox 67">
              <a:extLst>
                <a:ext uri="{FF2B5EF4-FFF2-40B4-BE49-F238E27FC236}">
                  <a16:creationId xmlns:a16="http://schemas.microsoft.com/office/drawing/2014/main" id="{11C288BD-5921-93CA-41F6-35CA0352966F}"/>
                </a:ext>
              </a:extLst>
            </p:cNvPr>
            <p:cNvSpPr txBox="1"/>
            <p:nvPr/>
          </p:nvSpPr>
          <p:spPr>
            <a:xfrm flipH="1">
              <a:off x="9415010" y="5355054"/>
              <a:ext cx="3024336" cy="711081"/>
            </a:xfrm>
            <a:prstGeom prst="rect">
              <a:avLst/>
            </a:prstGeom>
            <a:noFill/>
          </p:spPr>
          <p:txBody>
            <a:bodyPr wrap="square" lIns="0" tIns="0" rIns="0" bIns="0" rtlCol="0" anchor="t">
              <a:noAutofit/>
            </a:bodyPr>
            <a:lstStyle/>
            <a:p>
              <a:r>
                <a:rPr lang="en-US" sz="1400" dirty="0">
                  <a:latin typeface="Aptos" panose="020B0004020202020204" pitchFamily="34" charset="0"/>
                </a:rPr>
                <a:t>duty to advance, defend and promote rule of law and justice, Constitution and society</a:t>
              </a:r>
              <a:endParaRPr lang="en-IN" sz="1400" dirty="0">
                <a:solidFill>
                  <a:schemeClr val="tx1">
                    <a:lumMod val="85000"/>
                    <a:lumOff val="15000"/>
                  </a:schemeClr>
                </a:solidFill>
                <a:latin typeface="Aptos" panose="020B0004020202020204" pitchFamily="34" charset="0"/>
              </a:endParaRPr>
            </a:p>
          </p:txBody>
        </p:sp>
        <p:sp>
          <p:nvSpPr>
            <p:cNvPr id="67" name="TextBox 66">
              <a:extLst>
                <a:ext uri="{FF2B5EF4-FFF2-40B4-BE49-F238E27FC236}">
                  <a16:creationId xmlns:a16="http://schemas.microsoft.com/office/drawing/2014/main" id="{DE3DD524-35EC-1CF6-4368-4BFA65F98A59}"/>
                </a:ext>
              </a:extLst>
            </p:cNvPr>
            <p:cNvSpPr txBox="1"/>
            <p:nvPr/>
          </p:nvSpPr>
          <p:spPr>
            <a:xfrm>
              <a:off x="11814700" y="4807605"/>
              <a:ext cx="752730" cy="646736"/>
            </a:xfrm>
            <a:prstGeom prst="rect">
              <a:avLst/>
            </a:prstGeom>
            <a:noFill/>
          </p:spPr>
          <p:txBody>
            <a:bodyPr wrap="square" lIns="0" tIns="0" rIns="0" bIns="0" rtlCol="0" anchor="ctr">
              <a:noAutofit/>
            </a:bodyPr>
            <a:lstStyle/>
            <a:p>
              <a:pPr algn="ctr"/>
              <a:r>
                <a:rPr lang="en-US" sz="4000" b="1" dirty="0">
                  <a:solidFill>
                    <a:srgbClr val="7030A0"/>
                  </a:solidFill>
                </a:rPr>
                <a:t>05</a:t>
              </a:r>
              <a:endParaRPr lang="en-IN" sz="4000" b="1" dirty="0">
                <a:solidFill>
                  <a:srgbClr val="7030A0"/>
                </a:solidFill>
              </a:endParaRPr>
            </a:p>
          </p:txBody>
        </p:sp>
      </p:grpSp>
      <p:sp>
        <p:nvSpPr>
          <p:cNvPr id="70" name="Rectangle 49">
            <a:extLst>
              <a:ext uri="{FF2B5EF4-FFF2-40B4-BE49-F238E27FC236}">
                <a16:creationId xmlns:a16="http://schemas.microsoft.com/office/drawing/2014/main" id="{AE85D957-A897-4A0A-295B-AC9F1EA3A952}"/>
              </a:ext>
            </a:extLst>
          </p:cNvPr>
          <p:cNvSpPr/>
          <p:nvPr/>
        </p:nvSpPr>
        <p:spPr>
          <a:xfrm>
            <a:off x="1793595" y="3149635"/>
            <a:ext cx="1308167" cy="885112"/>
          </a:xfrm>
          <a:custGeom>
            <a:avLst/>
            <a:gdLst>
              <a:gd name="connsiteX0" fmla="*/ 0 w 943928"/>
              <a:gd name="connsiteY0" fmla="*/ 0 h 810488"/>
              <a:gd name="connsiteX1" fmla="*/ 943928 w 943928"/>
              <a:gd name="connsiteY1" fmla="*/ 0 h 810488"/>
              <a:gd name="connsiteX2" fmla="*/ 943928 w 943928"/>
              <a:gd name="connsiteY2" fmla="*/ 810488 h 810488"/>
              <a:gd name="connsiteX3" fmla="*/ 0 w 943928"/>
              <a:gd name="connsiteY3" fmla="*/ 810488 h 810488"/>
              <a:gd name="connsiteX4" fmla="*/ 0 w 943928"/>
              <a:gd name="connsiteY4" fmla="*/ 0 h 810488"/>
              <a:gd name="connsiteX0" fmla="*/ 0 w 943928"/>
              <a:gd name="connsiteY0" fmla="*/ 810488 h 901928"/>
              <a:gd name="connsiteX1" fmla="*/ 0 w 943928"/>
              <a:gd name="connsiteY1" fmla="*/ 0 h 901928"/>
              <a:gd name="connsiteX2" fmla="*/ 943928 w 943928"/>
              <a:gd name="connsiteY2" fmla="*/ 0 h 901928"/>
              <a:gd name="connsiteX3" fmla="*/ 943928 w 943928"/>
              <a:gd name="connsiteY3" fmla="*/ 810488 h 901928"/>
              <a:gd name="connsiteX4" fmla="*/ 91440 w 943928"/>
              <a:gd name="connsiteY4" fmla="*/ 901928 h 901928"/>
              <a:gd name="connsiteX0" fmla="*/ 0 w 943928"/>
              <a:gd name="connsiteY0" fmla="*/ 810488 h 810488"/>
              <a:gd name="connsiteX1" fmla="*/ 0 w 943928"/>
              <a:gd name="connsiteY1" fmla="*/ 0 h 810488"/>
              <a:gd name="connsiteX2" fmla="*/ 943928 w 943928"/>
              <a:gd name="connsiteY2" fmla="*/ 0 h 810488"/>
              <a:gd name="connsiteX3" fmla="*/ 943928 w 943928"/>
              <a:gd name="connsiteY3" fmla="*/ 810488 h 810488"/>
              <a:gd name="connsiteX0" fmla="*/ 0 w 943928"/>
              <a:gd name="connsiteY0" fmla="*/ 0 h 810488"/>
              <a:gd name="connsiteX1" fmla="*/ 943928 w 943928"/>
              <a:gd name="connsiteY1" fmla="*/ 0 h 810488"/>
              <a:gd name="connsiteX2" fmla="*/ 943928 w 943928"/>
              <a:gd name="connsiteY2" fmla="*/ 810488 h 810488"/>
              <a:gd name="connsiteX0" fmla="*/ 0 w 943928"/>
              <a:gd name="connsiteY0" fmla="*/ 961 h 811449"/>
              <a:gd name="connsiteX1" fmla="*/ 717058 w 943928"/>
              <a:gd name="connsiteY1" fmla="*/ 0 h 811449"/>
              <a:gd name="connsiteX2" fmla="*/ 943928 w 943928"/>
              <a:gd name="connsiteY2" fmla="*/ 961 h 811449"/>
              <a:gd name="connsiteX3" fmla="*/ 943928 w 943928"/>
              <a:gd name="connsiteY3" fmla="*/ 811449 h 811449"/>
              <a:gd name="connsiteX0" fmla="*/ 0 w 943928"/>
              <a:gd name="connsiteY0" fmla="*/ 961 h 811449"/>
              <a:gd name="connsiteX1" fmla="*/ 717058 w 943928"/>
              <a:gd name="connsiteY1" fmla="*/ 0 h 811449"/>
              <a:gd name="connsiteX2" fmla="*/ 943928 w 943928"/>
              <a:gd name="connsiteY2" fmla="*/ 811449 h 811449"/>
              <a:gd name="connsiteX0" fmla="*/ 0 w 1267886"/>
              <a:gd name="connsiteY0" fmla="*/ 961 h 649470"/>
              <a:gd name="connsiteX1" fmla="*/ 717058 w 1267886"/>
              <a:gd name="connsiteY1" fmla="*/ 0 h 649470"/>
              <a:gd name="connsiteX2" fmla="*/ 1267886 w 1267886"/>
              <a:gd name="connsiteY2" fmla="*/ 649470 h 649470"/>
            </a:gdLst>
            <a:ahLst/>
            <a:cxnLst>
              <a:cxn ang="0">
                <a:pos x="connsiteX0" y="connsiteY0"/>
              </a:cxn>
              <a:cxn ang="0">
                <a:pos x="connsiteX1" y="connsiteY1"/>
              </a:cxn>
              <a:cxn ang="0">
                <a:pos x="connsiteX2" y="connsiteY2"/>
              </a:cxn>
            </a:cxnLst>
            <a:rect l="l" t="t" r="r" b="b"/>
            <a:pathLst>
              <a:path w="1267886" h="649470">
                <a:moveTo>
                  <a:pt x="0" y="961"/>
                </a:moveTo>
                <a:lnTo>
                  <a:pt x="717058" y="0"/>
                </a:lnTo>
                <a:lnTo>
                  <a:pt x="1267886" y="649470"/>
                </a:lnTo>
              </a:path>
            </a:pathLst>
          </a:custGeom>
          <a:noFill/>
          <a:ln>
            <a:solidFill>
              <a:srgbClr val="00B050"/>
            </a:solidFill>
            <a:head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1" name="Group 70">
            <a:extLst>
              <a:ext uri="{FF2B5EF4-FFF2-40B4-BE49-F238E27FC236}">
                <a16:creationId xmlns:a16="http://schemas.microsoft.com/office/drawing/2014/main" id="{87B8E18B-D068-EAF9-18D2-5012087083BE}"/>
              </a:ext>
            </a:extLst>
          </p:cNvPr>
          <p:cNvGrpSpPr/>
          <p:nvPr/>
        </p:nvGrpSpPr>
        <p:grpSpPr>
          <a:xfrm flipH="1">
            <a:off x="640825" y="2826267"/>
            <a:ext cx="2285216" cy="1292692"/>
            <a:chOff x="11096805" y="4576148"/>
            <a:chExt cx="2285216" cy="1292692"/>
          </a:xfrm>
        </p:grpSpPr>
        <p:sp>
          <p:nvSpPr>
            <p:cNvPr id="74" name="TextBox 73">
              <a:extLst>
                <a:ext uri="{FF2B5EF4-FFF2-40B4-BE49-F238E27FC236}">
                  <a16:creationId xmlns:a16="http://schemas.microsoft.com/office/drawing/2014/main" id="{ACA85332-F6BE-804F-2B9D-120C10425078}"/>
                </a:ext>
              </a:extLst>
            </p:cNvPr>
            <p:cNvSpPr txBox="1"/>
            <p:nvPr/>
          </p:nvSpPr>
          <p:spPr>
            <a:xfrm flipH="1">
              <a:off x="11096805" y="5157759"/>
              <a:ext cx="2285216" cy="711081"/>
            </a:xfrm>
            <a:prstGeom prst="rect">
              <a:avLst/>
            </a:prstGeom>
            <a:noFill/>
          </p:spPr>
          <p:txBody>
            <a:bodyPr wrap="square" lIns="0" tIns="0" rIns="0" bIns="0" rtlCol="0" anchor="t">
              <a:noAutofit/>
            </a:bodyPr>
            <a:lstStyle/>
            <a:p>
              <a:r>
                <a:rPr lang="en-US" sz="1400" dirty="0">
                  <a:latin typeface="Aptos" panose="020B0004020202020204" pitchFamily="34" charset="0"/>
                </a:rPr>
                <a:t>respect, restraint, decorum </a:t>
              </a:r>
              <a:br>
                <a:rPr lang="en-US" sz="1400" dirty="0">
                  <a:latin typeface="Aptos" panose="020B0004020202020204" pitchFamily="34" charset="0"/>
                </a:rPr>
              </a:br>
              <a:r>
                <a:rPr lang="en-US" sz="1400" dirty="0">
                  <a:latin typeface="Aptos" panose="020B0004020202020204" pitchFamily="34" charset="0"/>
                </a:rPr>
                <a:t>and appearance</a:t>
              </a:r>
              <a:endParaRPr lang="en-IN" sz="1400" dirty="0">
                <a:solidFill>
                  <a:schemeClr val="tx1">
                    <a:lumMod val="85000"/>
                    <a:lumOff val="15000"/>
                  </a:schemeClr>
                </a:solidFill>
                <a:latin typeface="Aptos" panose="020B0004020202020204" pitchFamily="34" charset="0"/>
              </a:endParaRPr>
            </a:p>
          </p:txBody>
        </p:sp>
        <p:sp>
          <p:nvSpPr>
            <p:cNvPr id="73" name="TextBox 72">
              <a:extLst>
                <a:ext uri="{FF2B5EF4-FFF2-40B4-BE49-F238E27FC236}">
                  <a16:creationId xmlns:a16="http://schemas.microsoft.com/office/drawing/2014/main" id="{54A94332-1548-F297-840A-B4ADDDF16BDD}"/>
                </a:ext>
              </a:extLst>
            </p:cNvPr>
            <p:cNvSpPr txBox="1"/>
            <p:nvPr/>
          </p:nvSpPr>
          <p:spPr>
            <a:xfrm>
              <a:off x="12239413" y="4576148"/>
              <a:ext cx="752730" cy="646736"/>
            </a:xfrm>
            <a:prstGeom prst="rect">
              <a:avLst/>
            </a:prstGeom>
            <a:noFill/>
          </p:spPr>
          <p:txBody>
            <a:bodyPr wrap="square" lIns="0" tIns="0" rIns="0" bIns="0" rtlCol="0" anchor="ctr">
              <a:noAutofit/>
            </a:bodyPr>
            <a:lstStyle/>
            <a:p>
              <a:pPr algn="ctr"/>
              <a:r>
                <a:rPr lang="en-US" sz="4000" b="1" dirty="0">
                  <a:solidFill>
                    <a:srgbClr val="00B050"/>
                  </a:solidFill>
                </a:rPr>
                <a:t>06</a:t>
              </a:r>
              <a:endParaRPr lang="en-IN" sz="4000" b="1" dirty="0">
                <a:solidFill>
                  <a:srgbClr val="00B050"/>
                </a:solidFill>
              </a:endParaRPr>
            </a:p>
          </p:txBody>
        </p:sp>
      </p:grpSp>
      <p:sp>
        <p:nvSpPr>
          <p:cNvPr id="76" name="Rectangle 75">
            <a:extLst>
              <a:ext uri="{FF2B5EF4-FFF2-40B4-BE49-F238E27FC236}">
                <a16:creationId xmlns:a16="http://schemas.microsoft.com/office/drawing/2014/main" id="{BBD35624-6FF2-6576-CF75-9063BB102C79}"/>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07</a:t>
            </a:r>
            <a:endParaRPr lang="en-US" sz="2399" dirty="0"/>
          </a:p>
        </p:txBody>
      </p:sp>
    </p:spTree>
    <p:extLst>
      <p:ext uri="{BB962C8B-B14F-4D97-AF65-F5344CB8AC3E}">
        <p14:creationId xmlns:p14="http://schemas.microsoft.com/office/powerpoint/2010/main" val="23854505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09F5-B6BF-FC4E-F456-4A360AA1C6E3}"/>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C1EEFA78-D63A-6A57-52BB-78C402BED1A0}"/>
              </a:ext>
            </a:extLst>
          </p:cNvPr>
          <p:cNvGrpSpPr/>
          <p:nvPr/>
        </p:nvGrpSpPr>
        <p:grpSpPr>
          <a:xfrm>
            <a:off x="765820" y="2136597"/>
            <a:ext cx="2366691" cy="2455626"/>
            <a:chOff x="1783505" y="2413534"/>
            <a:chExt cx="1002890" cy="1002890"/>
          </a:xfrm>
        </p:grpSpPr>
        <p:sp>
          <p:nvSpPr>
            <p:cNvPr id="3" name="Oval 2">
              <a:extLst>
                <a:ext uri="{FF2B5EF4-FFF2-40B4-BE49-F238E27FC236}">
                  <a16:creationId xmlns:a16="http://schemas.microsoft.com/office/drawing/2014/main" id="{27273E46-8D3C-5A4E-7DDF-C7D0EAAA7F6A}"/>
                </a:ext>
              </a:extLst>
            </p:cNvPr>
            <p:cNvSpPr/>
            <p:nvPr/>
          </p:nvSpPr>
          <p:spPr>
            <a:xfrm>
              <a:off x="1783505" y="2413534"/>
              <a:ext cx="1002890" cy="1002890"/>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descr="Open book outline">
              <a:extLst>
                <a:ext uri="{FF2B5EF4-FFF2-40B4-BE49-F238E27FC236}">
                  <a16:creationId xmlns:a16="http://schemas.microsoft.com/office/drawing/2014/main" id="{BC9A7929-0EF0-5ACD-CB09-42A599C5227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3136" y="2643645"/>
              <a:ext cx="583628" cy="583628"/>
            </a:xfrm>
            <a:prstGeom prst="rect">
              <a:avLst/>
            </a:prstGeom>
          </p:spPr>
        </p:pic>
      </p:grpSp>
      <p:sp>
        <p:nvSpPr>
          <p:cNvPr id="19" name="Content Placeholder 6">
            <a:extLst>
              <a:ext uri="{FF2B5EF4-FFF2-40B4-BE49-F238E27FC236}">
                <a16:creationId xmlns:a16="http://schemas.microsoft.com/office/drawing/2014/main" id="{6863FE2B-D250-2203-6BE6-9B4F84C52716}"/>
              </a:ext>
            </a:extLst>
          </p:cNvPr>
          <p:cNvSpPr txBox="1">
            <a:spLocks noChangeAspect="1"/>
          </p:cNvSpPr>
          <p:nvPr/>
        </p:nvSpPr>
        <p:spPr>
          <a:xfrm>
            <a:off x="3358108" y="-1035496"/>
            <a:ext cx="7056784" cy="9361040"/>
          </a:xfrm>
          <a:prstGeom prst="ellipse">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x-none" sz="3200" dirty="0">
                <a:latin typeface="Aptos" panose="020B0004020202020204" pitchFamily="34" charset="0"/>
              </a:rPr>
              <a:t>“</a:t>
            </a:r>
            <a:r>
              <a:rPr lang="en-US" sz="3200" dirty="0">
                <a:latin typeface="Aptos" panose="020B0004020202020204" pitchFamily="34" charset="0"/>
              </a:rPr>
              <a:t>Without integrity, excellence and expertise lose their moral compass. Skills become tools for manipulation rather than tools for justice ”</a:t>
            </a:r>
          </a:p>
          <a:p>
            <a:pPr marL="0" indent="0">
              <a:buNone/>
            </a:pPr>
            <a:r>
              <a:rPr lang="en-US" sz="3200" dirty="0">
                <a:latin typeface="Aptos" panose="020B0004020202020204" pitchFamily="34" charset="0"/>
              </a:rPr>
              <a:t>The legal practitioners Act and the Rules of Professional Conduct are the primary statute provide the legal compass</a:t>
            </a:r>
            <a:endParaRPr lang="x-none" sz="3200" dirty="0">
              <a:latin typeface="Aptos" panose="020B0004020202020204" pitchFamily="34" charset="0"/>
            </a:endParaRPr>
          </a:p>
        </p:txBody>
      </p:sp>
      <p:sp>
        <p:nvSpPr>
          <p:cNvPr id="11" name="Rectangle 10">
            <a:extLst>
              <a:ext uri="{FF2B5EF4-FFF2-40B4-BE49-F238E27FC236}">
                <a16:creationId xmlns:a16="http://schemas.microsoft.com/office/drawing/2014/main" id="{9653CBBD-5705-1844-3E79-0D2FDD554B1B}"/>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08</a:t>
            </a:r>
            <a:endParaRPr lang="en-US" sz="2399" dirty="0"/>
          </a:p>
        </p:txBody>
      </p:sp>
    </p:spTree>
    <p:extLst>
      <p:ext uri="{BB962C8B-B14F-4D97-AF65-F5344CB8AC3E}">
        <p14:creationId xmlns:p14="http://schemas.microsoft.com/office/powerpoint/2010/main" val="3361005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555308" y="677818"/>
            <a:ext cx="10051526" cy="711081"/>
          </a:xfrm>
        </p:spPr>
        <p:txBody>
          <a:bodyPr/>
          <a:lstStyle/>
          <a:p>
            <a:pPr marL="457200" lvl="0" indent="-457200">
              <a:lnSpc>
                <a:spcPct val="150000"/>
              </a:lnSpc>
              <a:spcBef>
                <a:spcPts val="0"/>
              </a:spcBef>
            </a:pPr>
            <a:r>
              <a:rPr lang="en-US" dirty="0">
                <a:solidFill>
                  <a:prstClr val="black"/>
                </a:solidFill>
                <a:latin typeface="Aptos" panose="020B0004020202020204" pitchFamily="34" charset="0"/>
              </a:rPr>
              <a:t>Mentorship</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2854052" y="1556792"/>
            <a:ext cx="8590470" cy="4104455"/>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algn="just">
              <a:lnSpc>
                <a:spcPct val="107000"/>
              </a:lnSpc>
              <a:spcBef>
                <a:spcPts val="0"/>
              </a:spcBef>
              <a:spcAft>
                <a:spcPts val="800"/>
              </a:spcAft>
            </a:pPr>
            <a:r>
              <a:rPr lang="en-US" sz="2400" kern="100" dirty="0">
                <a:latin typeface="Aptos" panose="020B0004020202020204" pitchFamily="34" charset="0"/>
                <a:ea typeface="Calibri" panose="020F0502020204030204" pitchFamily="34" charset="0"/>
                <a:cs typeface="Times New Roman" panose="02020603050405020304" pitchFamily="18" charset="0"/>
              </a:rPr>
              <a:t>Mentoring has been defined as "a developmental partnership in which a more experienced person supports the growth of another by offering guidance, knowledge, and encouragement." It is a dynamic process and not "one-size-fits-all,“.</a:t>
            </a:r>
          </a:p>
          <a:p>
            <a:pPr marL="0" marR="0" algn="just">
              <a:lnSpc>
                <a:spcPct val="107000"/>
              </a:lnSpc>
              <a:spcBef>
                <a:spcPts val="0"/>
              </a:spcBef>
              <a:spcAft>
                <a:spcPts val="800"/>
              </a:spcAft>
            </a:pPr>
            <a:r>
              <a:rPr lang="en-US" sz="2400" b="1" kern="100" dirty="0">
                <a:latin typeface="Aptos" panose="020B0004020202020204" pitchFamily="34" charset="0"/>
                <a:ea typeface="Calibri" panose="020F0502020204030204" pitchFamily="34" charset="0"/>
                <a:cs typeface="Times New Roman" panose="02020603050405020304" pitchFamily="18" charset="0"/>
              </a:rPr>
              <a:t>Mentees:</a:t>
            </a:r>
            <a:r>
              <a:rPr lang="en-US" sz="2400" kern="100" dirty="0">
                <a:latin typeface="Aptos" panose="020B0004020202020204" pitchFamily="34" charset="0"/>
                <a:ea typeface="Calibri" panose="020F0502020204030204" pitchFamily="34" charset="0"/>
                <a:cs typeface="Times New Roman" panose="02020603050405020304" pitchFamily="18" charset="0"/>
              </a:rPr>
              <a:t> Enhanced skill acquisition, confidence, access to networks, and clarity of purpose.</a:t>
            </a:r>
          </a:p>
          <a:p>
            <a:pPr marL="0" marR="0" algn="just">
              <a:lnSpc>
                <a:spcPct val="107000"/>
              </a:lnSpc>
              <a:spcBef>
                <a:spcPts val="0"/>
              </a:spcBef>
              <a:spcAft>
                <a:spcPts val="800"/>
              </a:spcAft>
            </a:pPr>
            <a:r>
              <a:rPr lang="en-US" sz="2400" b="1" kern="100" dirty="0">
                <a:latin typeface="Aptos" panose="020B0004020202020204" pitchFamily="34" charset="0"/>
                <a:ea typeface="Calibri" panose="020F0502020204030204" pitchFamily="34" charset="0"/>
                <a:cs typeface="Times New Roman" panose="02020603050405020304" pitchFamily="18" charset="0"/>
              </a:rPr>
              <a:t>Mentors (SANs):</a:t>
            </a:r>
            <a:r>
              <a:rPr lang="en-US" sz="2400" kern="100" dirty="0">
                <a:latin typeface="Aptos" panose="020B0004020202020204" pitchFamily="34" charset="0"/>
                <a:ea typeface="Calibri" panose="020F0502020204030204" pitchFamily="34" charset="0"/>
                <a:cs typeface="Times New Roman" panose="02020603050405020304" pitchFamily="18" charset="0"/>
              </a:rPr>
              <a:t> Leadership development, satisfaction of legacy building, and exposure to new perspectives (e.g., through reverse mentoring).</a:t>
            </a:r>
          </a:p>
        </p:txBody>
      </p:sp>
      <p:sp>
        <p:nvSpPr>
          <p:cNvPr id="2" name="Chevron 3">
            <a:extLst>
              <a:ext uri="{FF2B5EF4-FFF2-40B4-BE49-F238E27FC236}">
                <a16:creationId xmlns:a16="http://schemas.microsoft.com/office/drawing/2014/main" id="{EDF2DA72-FE96-FD05-597F-1941F8E486BC}"/>
              </a:ext>
            </a:extLst>
          </p:cNvPr>
          <p:cNvSpPr/>
          <p:nvPr/>
        </p:nvSpPr>
        <p:spPr>
          <a:xfrm>
            <a:off x="560264" y="2348880"/>
            <a:ext cx="1922585" cy="445477"/>
          </a:xfrm>
          <a:prstGeom prst="chevron">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0" scaled="1"/>
            <a:tileRect/>
          </a:gradFill>
          <a:ln w="6350">
            <a:solidFill>
              <a:schemeClr val="bg1">
                <a:alpha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cap="all" dirty="0">
              <a:solidFill>
                <a:schemeClr val="bg1"/>
              </a:solidFill>
              <a:latin typeface="Calibri Light" charset="0"/>
              <a:ea typeface="Calibri Light" charset="0"/>
              <a:cs typeface="Calibri Light" charset="0"/>
            </a:endParaRPr>
          </a:p>
          <a:p>
            <a:pPr algn="ctr"/>
            <a:endParaRPr lang="en-US" sz="1600" b="1" cap="all" dirty="0">
              <a:solidFill>
                <a:schemeClr val="bg1"/>
              </a:solidFill>
              <a:latin typeface="Aptos" panose="020B0004020202020204" pitchFamily="34" charset="0"/>
              <a:ea typeface="Calibri Light" charset="0"/>
              <a:cs typeface="Calibri Light" charset="0"/>
            </a:endParaRPr>
          </a:p>
          <a:p>
            <a:pPr algn="ctr"/>
            <a:endParaRPr lang="en-US" sz="2000" dirty="0">
              <a:solidFill>
                <a:schemeClr val="tx1"/>
              </a:solidFill>
              <a:latin typeface="Calibri Light" charset="0"/>
              <a:ea typeface="Calibri Light" charset="0"/>
              <a:cs typeface="Calibri Light" charset="0"/>
            </a:endParaRPr>
          </a:p>
        </p:txBody>
      </p:sp>
      <p:sp>
        <p:nvSpPr>
          <p:cNvPr id="3" name="Chevron 4">
            <a:extLst>
              <a:ext uri="{FF2B5EF4-FFF2-40B4-BE49-F238E27FC236}">
                <a16:creationId xmlns:a16="http://schemas.microsoft.com/office/drawing/2014/main" id="{9F528863-A44D-FA7B-66C9-D4BD48EF9164}"/>
              </a:ext>
            </a:extLst>
          </p:cNvPr>
          <p:cNvSpPr/>
          <p:nvPr/>
        </p:nvSpPr>
        <p:spPr>
          <a:xfrm>
            <a:off x="560264" y="5045258"/>
            <a:ext cx="1922585" cy="445477"/>
          </a:xfrm>
          <a:prstGeom prst="chevron">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0" scaled="1"/>
            <a:tileRect/>
          </a:gradFill>
          <a:ln w="6350">
            <a:solidFill>
              <a:schemeClr val="bg1">
                <a:alpha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cap="all" dirty="0">
              <a:solidFill>
                <a:schemeClr val="bg1"/>
              </a:solidFill>
              <a:latin typeface="Calibri Light" charset="0"/>
              <a:ea typeface="Calibri Light" charset="0"/>
              <a:cs typeface="Calibri Light" charset="0"/>
            </a:endParaRPr>
          </a:p>
          <a:p>
            <a:pPr algn="ctr"/>
            <a:endParaRPr lang="en-US" sz="2000" b="1" cap="all" dirty="0">
              <a:solidFill>
                <a:schemeClr val="bg1"/>
              </a:solidFill>
              <a:latin typeface="Aptos" panose="020B0004020202020204" pitchFamily="34" charset="0"/>
              <a:ea typeface="Calibri Light" charset="0"/>
              <a:cs typeface="Calibri Light" charset="0"/>
            </a:endParaRPr>
          </a:p>
          <a:p>
            <a:pPr algn="ctr"/>
            <a:endParaRPr lang="en-US" sz="2000" dirty="0">
              <a:solidFill>
                <a:schemeClr val="tx1"/>
              </a:solidFill>
              <a:latin typeface="Calibri Light" charset="0"/>
              <a:ea typeface="Calibri Light" charset="0"/>
              <a:cs typeface="Calibri Light" charset="0"/>
            </a:endParaRPr>
          </a:p>
        </p:txBody>
      </p:sp>
      <p:sp>
        <p:nvSpPr>
          <p:cNvPr id="4" name="Chevron 5">
            <a:extLst>
              <a:ext uri="{FF2B5EF4-FFF2-40B4-BE49-F238E27FC236}">
                <a16:creationId xmlns:a16="http://schemas.microsoft.com/office/drawing/2014/main" id="{AA1E505E-8CE9-A604-C766-33EFAF717F7C}"/>
              </a:ext>
            </a:extLst>
          </p:cNvPr>
          <p:cNvSpPr/>
          <p:nvPr/>
        </p:nvSpPr>
        <p:spPr>
          <a:xfrm>
            <a:off x="555308" y="3841225"/>
            <a:ext cx="1922585" cy="445477"/>
          </a:xfrm>
          <a:prstGeom prst="chevron">
            <a:avLst/>
          </a:prstGeom>
          <a:gradFill flip="none" rotWithShape="1">
            <a:gsLst>
              <a:gs pos="0">
                <a:schemeClr val="accent5">
                  <a:shade val="30000"/>
                  <a:satMod val="115000"/>
                </a:schemeClr>
              </a:gs>
              <a:gs pos="50000">
                <a:schemeClr val="accent5">
                  <a:shade val="67500"/>
                  <a:satMod val="115000"/>
                </a:schemeClr>
              </a:gs>
              <a:gs pos="100000">
                <a:schemeClr val="accent5">
                  <a:shade val="100000"/>
                  <a:satMod val="115000"/>
                </a:schemeClr>
              </a:gs>
            </a:gsLst>
            <a:lin ang="0" scaled="1"/>
            <a:tileRect/>
          </a:gradFill>
          <a:ln w="6350">
            <a:solidFill>
              <a:schemeClr val="bg1">
                <a:alpha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b="1" cap="all" dirty="0">
              <a:solidFill>
                <a:schemeClr val="bg1"/>
              </a:solidFill>
              <a:latin typeface="Aptos" panose="020B0004020202020204" pitchFamily="34" charset="0"/>
              <a:ea typeface="Calibri Light" charset="0"/>
              <a:cs typeface="Calibri Light" charset="0"/>
            </a:endParaRPr>
          </a:p>
        </p:txBody>
      </p:sp>
      <p:sp>
        <p:nvSpPr>
          <p:cNvPr id="5" name="Rectangle 4">
            <a:extLst>
              <a:ext uri="{FF2B5EF4-FFF2-40B4-BE49-F238E27FC236}">
                <a16:creationId xmlns:a16="http://schemas.microsoft.com/office/drawing/2014/main" id="{73071ED6-23D2-443F-C03D-C4DCBC412E6B}"/>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09</a:t>
            </a:r>
            <a:endParaRPr lang="en-US" sz="2399" dirty="0"/>
          </a:p>
        </p:txBody>
      </p:sp>
    </p:spTree>
    <p:extLst>
      <p:ext uri="{BB962C8B-B14F-4D97-AF65-F5344CB8AC3E}">
        <p14:creationId xmlns:p14="http://schemas.microsoft.com/office/powerpoint/2010/main" val="304656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693812" y="404664"/>
            <a:ext cx="10051526" cy="711081"/>
          </a:xfrm>
        </p:spPr>
        <p:txBody>
          <a:bodyPr/>
          <a:lstStyle/>
          <a:p>
            <a:pPr marL="457200" lvl="0" indent="-457200">
              <a:lnSpc>
                <a:spcPct val="150000"/>
              </a:lnSpc>
              <a:spcBef>
                <a:spcPts val="0"/>
              </a:spcBef>
            </a:pPr>
            <a:r>
              <a:rPr lang="en-US" dirty="0">
                <a:solidFill>
                  <a:prstClr val="black"/>
                </a:solidFill>
                <a:latin typeface="Aptos" panose="020B0004020202020204" pitchFamily="34" charset="0"/>
              </a:rPr>
              <a:t>Types of Mentorship</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2133972" y="1196753"/>
            <a:ext cx="9276622" cy="5383036"/>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lnSpc>
                <a:spcPct val="107000"/>
              </a:lnSpc>
              <a:spcBef>
                <a:spcPts val="0"/>
              </a:spcBef>
              <a:spcAft>
                <a:spcPts val="800"/>
              </a:spcAft>
              <a:buFont typeface="Arial" pitchFamily="34" charset="0"/>
              <a:buNone/>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There are four types of Mentorship:</a:t>
            </a:r>
          </a:p>
          <a:p>
            <a:pPr marL="0" indent="0" algn="just">
              <a:lnSpc>
                <a:spcPct val="107000"/>
              </a:lnSpc>
              <a:spcBef>
                <a:spcPts val="0"/>
              </a:spcBef>
              <a:spcAft>
                <a:spcPts val="800"/>
              </a:spcAft>
              <a:buFont typeface="Arial" pitchFamily="34" charset="0"/>
              <a:buNone/>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1. </a:t>
            </a:r>
            <a:r>
              <a:rPr lang="en-US" sz="24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Formal mentoring:</a:t>
            </a: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Structured with clear goals.</a:t>
            </a:r>
          </a:p>
          <a:p>
            <a:pPr marL="0" indent="0" algn="just">
              <a:lnSpc>
                <a:spcPct val="107000"/>
              </a:lnSpc>
              <a:spcBef>
                <a:spcPts val="0"/>
              </a:spcBef>
              <a:spcAft>
                <a:spcPts val="800"/>
              </a:spcAft>
              <a:buFont typeface="Arial" pitchFamily="34" charset="0"/>
              <a:buNone/>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Font typeface="Arial" pitchFamily="34" charset="0"/>
              <a:buNone/>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2. </a:t>
            </a:r>
            <a:r>
              <a:rPr lang="en-US" sz="24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Informal mentoring:</a:t>
            </a: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Organic relationships.</a:t>
            </a:r>
          </a:p>
          <a:p>
            <a:pPr marL="0" indent="0" algn="just">
              <a:lnSpc>
                <a:spcPct val="107000"/>
              </a:lnSpc>
              <a:spcBef>
                <a:spcPts val="0"/>
              </a:spcBef>
              <a:spcAft>
                <a:spcPts val="800"/>
              </a:spcAft>
              <a:buFont typeface="Arial" pitchFamily="34" charset="0"/>
              <a:buNone/>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Font typeface="Arial" pitchFamily="34" charset="0"/>
              <a:buNone/>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3. </a:t>
            </a:r>
            <a:r>
              <a:rPr lang="en-US" sz="24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Peer mentoring:</a:t>
            </a: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Colleagues of similar experience supporting each other.</a:t>
            </a:r>
          </a:p>
          <a:p>
            <a:pPr marL="0" indent="0" algn="just">
              <a:lnSpc>
                <a:spcPct val="107000"/>
              </a:lnSpc>
              <a:spcBef>
                <a:spcPts val="0"/>
              </a:spcBef>
              <a:spcAft>
                <a:spcPts val="800"/>
              </a:spcAft>
              <a:buFont typeface="Arial" pitchFamily="34" charset="0"/>
              <a:buNone/>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Font typeface="Arial" pitchFamily="34" charset="0"/>
              <a:buNone/>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4. </a:t>
            </a:r>
            <a:r>
              <a:rPr lang="en-US" sz="24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Reverse mentoring:</a:t>
            </a: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Younger professionals guiding senior colleagues, particularly in technology.</a:t>
            </a:r>
          </a:p>
          <a:p>
            <a:pPr marL="0" indent="0" algn="just">
              <a:lnSpc>
                <a:spcPct val="107000"/>
              </a:lnSpc>
              <a:spcBef>
                <a:spcPts val="0"/>
              </a:spcBef>
              <a:spcAft>
                <a:spcPts val="800"/>
              </a:spcAft>
              <a:buFont typeface="Arial" pitchFamily="34" charset="0"/>
              <a:buNone/>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Font typeface="Arial" pitchFamily="34" charset="0"/>
              <a:buNone/>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Font typeface="Arial" pitchFamily="34" charset="0"/>
              <a:buNone/>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p:txBody>
      </p:sp>
      <p:sp>
        <p:nvSpPr>
          <p:cNvPr id="4" name="Cube 3">
            <a:extLst>
              <a:ext uri="{FF2B5EF4-FFF2-40B4-BE49-F238E27FC236}">
                <a16:creationId xmlns:a16="http://schemas.microsoft.com/office/drawing/2014/main" id="{3F369C50-F938-25E6-8C9F-8C61B4F9A478}"/>
              </a:ext>
            </a:extLst>
          </p:cNvPr>
          <p:cNvSpPr/>
          <p:nvPr/>
        </p:nvSpPr>
        <p:spPr>
          <a:xfrm rot="8100000">
            <a:off x="864806" y="2676685"/>
            <a:ext cx="883048" cy="795169"/>
          </a:xfrm>
          <a:prstGeom prst="cube">
            <a:avLst>
              <a:gd name="adj" fmla="val 146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a:extLst>
              <a:ext uri="{FF2B5EF4-FFF2-40B4-BE49-F238E27FC236}">
                <a16:creationId xmlns:a16="http://schemas.microsoft.com/office/drawing/2014/main" id="{7A910264-0DE8-B963-DE96-EE3584745E8E}"/>
              </a:ext>
            </a:extLst>
          </p:cNvPr>
          <p:cNvSpPr/>
          <p:nvPr/>
        </p:nvSpPr>
        <p:spPr>
          <a:xfrm rot="13500000">
            <a:off x="889566" y="1481898"/>
            <a:ext cx="795169" cy="883048"/>
          </a:xfrm>
          <a:prstGeom prst="cube">
            <a:avLst>
              <a:gd name="adj" fmla="val 1463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a:extLst>
              <a:ext uri="{FF2B5EF4-FFF2-40B4-BE49-F238E27FC236}">
                <a16:creationId xmlns:a16="http://schemas.microsoft.com/office/drawing/2014/main" id="{EC8B89D5-D9CC-087E-36EF-4EC41ED1630F}"/>
              </a:ext>
            </a:extLst>
          </p:cNvPr>
          <p:cNvSpPr/>
          <p:nvPr/>
        </p:nvSpPr>
        <p:spPr>
          <a:xfrm rot="18900000">
            <a:off x="845627" y="4920898"/>
            <a:ext cx="883048" cy="795169"/>
          </a:xfrm>
          <a:prstGeom prst="cube">
            <a:avLst>
              <a:gd name="adj" fmla="val 146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a:extLst>
              <a:ext uri="{FF2B5EF4-FFF2-40B4-BE49-F238E27FC236}">
                <a16:creationId xmlns:a16="http://schemas.microsoft.com/office/drawing/2014/main" id="{A5D187C9-215D-EF72-AC8B-B401A1FC93AD}"/>
              </a:ext>
            </a:extLst>
          </p:cNvPr>
          <p:cNvSpPr/>
          <p:nvPr/>
        </p:nvSpPr>
        <p:spPr>
          <a:xfrm rot="2700000">
            <a:off x="908746" y="3754852"/>
            <a:ext cx="795169" cy="883048"/>
          </a:xfrm>
          <a:prstGeom prst="cube">
            <a:avLst>
              <a:gd name="adj" fmla="val 1463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C0D1C0C-E860-DEFE-D96E-BDDB3B858EB1}"/>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10</a:t>
            </a:r>
            <a:endParaRPr lang="en-US" sz="2399" dirty="0"/>
          </a:p>
        </p:txBody>
      </p:sp>
    </p:spTree>
    <p:extLst>
      <p:ext uri="{BB962C8B-B14F-4D97-AF65-F5344CB8AC3E}">
        <p14:creationId xmlns:p14="http://schemas.microsoft.com/office/powerpoint/2010/main" val="3265310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1011667" y="586396"/>
            <a:ext cx="10165492" cy="737644"/>
          </a:xfrm>
        </p:spPr>
        <p:txBody>
          <a:bodyPr/>
          <a:lstStyle/>
          <a:p>
            <a:pPr marL="0" marR="0">
              <a:lnSpc>
                <a:spcPct val="115000"/>
              </a:lnSpc>
              <a:spcBef>
                <a:spcPts val="0"/>
              </a:spcBef>
              <a:spcAft>
                <a:spcPts val="0"/>
              </a:spcAft>
            </a:pPr>
            <a:r>
              <a:rPr lang="en-US" sz="3200" kern="0" dirty="0">
                <a:latin typeface="Aptos" panose="020B0004020202020204" pitchFamily="34" charset="0"/>
                <a:ea typeface="Times New Roman" panose="02020603050405020304" pitchFamily="18" charset="0"/>
                <a:cs typeface="Times New Roman" panose="02020603050405020304" pitchFamily="18" charset="0"/>
              </a:rPr>
              <a:t>The Presumption and Responsibility of the </a:t>
            </a:r>
            <a:br>
              <a:rPr lang="en-US" sz="3200" kern="0" dirty="0">
                <a:latin typeface="Aptos" panose="020B0004020202020204" pitchFamily="34" charset="0"/>
                <a:ea typeface="Times New Roman" panose="02020603050405020304" pitchFamily="18" charset="0"/>
                <a:cs typeface="Times New Roman" panose="02020603050405020304" pitchFamily="18" charset="0"/>
              </a:rPr>
            </a:br>
            <a:r>
              <a:rPr lang="en-US" sz="3200" kern="0" dirty="0">
                <a:latin typeface="Aptos" panose="020B0004020202020204" pitchFamily="34" charset="0"/>
                <a:ea typeface="Times New Roman" panose="02020603050405020304" pitchFamily="18" charset="0"/>
                <a:cs typeface="Times New Roman" panose="02020603050405020304" pitchFamily="18" charset="0"/>
              </a:rPr>
              <a:t>Senior Advocate as a Mentor</a:t>
            </a:r>
            <a:br>
              <a:rPr lang="en-US" sz="3200" kern="100" dirty="0">
                <a:latin typeface="Aptos" panose="020B0004020202020204" pitchFamily="34" charset="0"/>
                <a:ea typeface="Calibri" panose="020F0502020204030204" pitchFamily="34" charset="0"/>
                <a:cs typeface="Times New Roman" panose="02020603050405020304" pitchFamily="18" charset="0"/>
              </a:rPr>
            </a:br>
            <a:endParaRPr lang="en-US" sz="3200" dirty="0">
              <a:solidFill>
                <a:prstClr val="black"/>
              </a:solidFill>
              <a:latin typeface="Aptos" panose="020B0004020202020204" pitchFamily="34" charset="0"/>
            </a:endParaRP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981844" y="1340768"/>
            <a:ext cx="10195315" cy="6093296"/>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algn="just">
              <a:lnSpc>
                <a:spcPct val="115000"/>
              </a:lnSpc>
              <a:spcBef>
                <a:spcPts val="0"/>
              </a:spcBef>
              <a:spcAft>
                <a:spcPts val="1000"/>
              </a:spcAft>
            </a:pPr>
            <a:r>
              <a:rPr lang="en-US" sz="1500" kern="0" dirty="0">
                <a:latin typeface="Aptos" panose="020B0004020202020204" pitchFamily="34" charset="0"/>
                <a:ea typeface="Times New Roman" panose="02020603050405020304" pitchFamily="18" charset="0"/>
                <a:cs typeface="Times New Roman" panose="02020603050405020304" pitchFamily="18" charset="0"/>
              </a:rPr>
              <a:t>A mentor must possess character, integrity and adhere to the ethics of whatever industry or profession he is mentoring in.</a:t>
            </a:r>
            <a:r>
              <a:rPr lang="en-US" sz="1500" b="1" kern="0" dirty="0">
                <a:latin typeface="Aptos" panose="020B0004020202020204" pitchFamily="34" charset="0"/>
                <a:ea typeface="Times New Roman" panose="02020603050405020304" pitchFamily="18" charset="0"/>
                <a:cs typeface="Times New Roman" panose="02020603050405020304" pitchFamily="18" charset="0"/>
              </a:rPr>
              <a:t> </a:t>
            </a:r>
            <a:r>
              <a:rPr lang="en-US" sz="1500" kern="0" dirty="0">
                <a:latin typeface="Aptos" panose="020B0004020202020204" pitchFamily="34" charset="0"/>
                <a:ea typeface="Times New Roman" panose="02020603050405020304" pitchFamily="18" charset="0"/>
                <a:cs typeface="Times New Roman" panose="02020603050405020304" pitchFamily="18" charset="0"/>
              </a:rPr>
              <a:t>This presumption of leadership carries the duty to exert positive influence and to deliver impactful guidance.</a:t>
            </a:r>
            <a:r>
              <a:rPr lang="en-US" sz="1500" b="1" kern="0" dirty="0">
                <a:latin typeface="Aptos" panose="020B0004020202020204" pitchFamily="34" charset="0"/>
                <a:ea typeface="Times New Roman" panose="02020603050405020304" pitchFamily="18" charset="0"/>
                <a:cs typeface="Times New Roman" panose="02020603050405020304" pitchFamily="18" charset="0"/>
              </a:rPr>
              <a:t> </a:t>
            </a:r>
            <a:r>
              <a:rPr lang="en-US" sz="1500" kern="0" dirty="0">
                <a:latin typeface="Aptos" panose="020B0004020202020204" pitchFamily="34" charset="0"/>
                <a:ea typeface="Times New Roman" panose="02020603050405020304" pitchFamily="18" charset="0"/>
                <a:cs typeface="Times New Roman" panose="02020603050405020304" pitchFamily="18" charset="0"/>
              </a:rPr>
              <a:t>It is not enough to be distinguished, a mentor must transfer values, skills and standards thereby preserving legacy.</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1500" b="1" kern="0" dirty="0">
                <a:latin typeface="Aptos" panose="020B0004020202020204" pitchFamily="34" charset="0"/>
                <a:ea typeface="Times New Roman" panose="02020603050405020304" pitchFamily="18" charset="0"/>
                <a:cs typeface="Times New Roman" panose="02020603050405020304" pitchFamily="18" charset="0"/>
              </a:rPr>
              <a:t>The Meaning of Your New Role as Mentors</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1500" kern="0" dirty="0">
                <a:latin typeface="Aptos" panose="020B0004020202020204" pitchFamily="34" charset="0"/>
                <a:ea typeface="Times New Roman" panose="02020603050405020304" pitchFamily="18" charset="0"/>
                <a:cs typeface="Times New Roman" panose="02020603050405020304" pitchFamily="18" charset="0"/>
              </a:rPr>
              <a:t>Mentorship, in its truest form, is not a casual or accidental relationship. It is a deliberate commitment by a senior to guide, </a:t>
            </a:r>
            <a:r>
              <a:rPr lang="en-US" sz="1500" kern="0" dirty="0" err="1">
                <a:latin typeface="Aptos" panose="020B0004020202020204" pitchFamily="34" charset="0"/>
                <a:ea typeface="Times New Roman" panose="02020603050405020304" pitchFamily="18" charset="0"/>
                <a:cs typeface="Times New Roman" panose="02020603050405020304" pitchFamily="18" charset="0"/>
              </a:rPr>
              <a:t>mould</a:t>
            </a:r>
            <a:r>
              <a:rPr lang="en-US" sz="1500" kern="0" dirty="0">
                <a:latin typeface="Aptos" panose="020B0004020202020204" pitchFamily="34" charset="0"/>
                <a:ea typeface="Times New Roman" panose="02020603050405020304" pitchFamily="18" charset="0"/>
                <a:cs typeface="Times New Roman" panose="02020603050405020304" pitchFamily="18" charset="0"/>
              </a:rPr>
              <a:t>, and empower a junior. By your elevation, you are presumed to be men and women of impeccable character, integrity, and professional discipline. That presumption is not symbolic, it is sacred and comes with responsibility:</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15000"/>
              </a:lnSpc>
              <a:spcBef>
                <a:spcPts val="0"/>
              </a:spcBef>
              <a:buFont typeface="Arial" pitchFamily="34" charset="0"/>
              <a:buNone/>
            </a:pPr>
            <a:r>
              <a:rPr lang="en-US" sz="1500" kern="0" dirty="0">
                <a:latin typeface="Aptos" panose="020B0004020202020204" pitchFamily="34" charset="0"/>
                <a:ea typeface="Times New Roman" panose="02020603050405020304" pitchFamily="18" charset="0"/>
                <a:cs typeface="Times New Roman" panose="02020603050405020304" pitchFamily="18" charset="0"/>
              </a:rPr>
              <a:t> </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342900" indent="-342900" algn="just">
              <a:lnSpc>
                <a:spcPct val="115000"/>
              </a:lnSpc>
              <a:spcBef>
                <a:spcPts val="0"/>
              </a:spcBef>
              <a:buFont typeface="Helvetica" panose="020B0604020202020204" pitchFamily="34" charset="0"/>
              <a:buChar char="-"/>
            </a:pPr>
            <a:r>
              <a:rPr lang="en-US" sz="1500" kern="0" dirty="0">
                <a:latin typeface="Aptos" panose="020B0004020202020204" pitchFamily="34" charset="0"/>
                <a:ea typeface="Times New Roman" panose="02020603050405020304" pitchFamily="18" charset="0"/>
                <a:cs typeface="Helvetica" panose="020B0604020202020204" pitchFamily="34" charset="0"/>
              </a:rPr>
              <a:t>You are expected to inspire younger lawyers by your conduct in and out of court.</a:t>
            </a:r>
            <a:endParaRPr lang="en-US" sz="1500" kern="100" dirty="0">
              <a:latin typeface="Aptos" panose="020B0004020202020204" pitchFamily="34" charset="0"/>
              <a:ea typeface="Times New Roman" panose="02020603050405020304" pitchFamily="18" charset="0"/>
              <a:cs typeface="Helvetica" panose="020B0604020202020204" pitchFamily="34" charset="0"/>
            </a:endParaRPr>
          </a:p>
          <a:p>
            <a:pPr marL="342900" indent="-342900" algn="just">
              <a:lnSpc>
                <a:spcPct val="115000"/>
              </a:lnSpc>
              <a:spcBef>
                <a:spcPts val="0"/>
              </a:spcBef>
              <a:buFont typeface="Helvetica" panose="020B0604020202020204" pitchFamily="34" charset="0"/>
              <a:buChar char="-"/>
            </a:pPr>
            <a:r>
              <a:rPr lang="en-US" sz="1500" kern="0" dirty="0">
                <a:latin typeface="Aptos" panose="020B0004020202020204" pitchFamily="34" charset="0"/>
                <a:ea typeface="Times New Roman" panose="02020603050405020304" pitchFamily="18" charset="0"/>
                <a:cs typeface="Helvetica" panose="020B0604020202020204" pitchFamily="34" charset="0"/>
              </a:rPr>
              <a:t>You are expected to guide and </a:t>
            </a:r>
            <a:r>
              <a:rPr lang="en-US" sz="1500" kern="0" dirty="0" err="1">
                <a:latin typeface="Aptos" panose="020B0004020202020204" pitchFamily="34" charset="0"/>
                <a:ea typeface="Times New Roman" panose="02020603050405020304" pitchFamily="18" charset="0"/>
                <a:cs typeface="Helvetica" panose="020B0604020202020204" pitchFamily="34" charset="0"/>
              </a:rPr>
              <a:t>mould</a:t>
            </a:r>
            <a:r>
              <a:rPr lang="en-US" sz="1500" kern="0" dirty="0">
                <a:latin typeface="Aptos" panose="020B0004020202020204" pitchFamily="34" charset="0"/>
                <a:ea typeface="Times New Roman" panose="02020603050405020304" pitchFamily="18" charset="0"/>
                <a:cs typeface="Helvetica" panose="020B0604020202020204" pitchFamily="34" charset="0"/>
              </a:rPr>
              <a:t> those who look up to you, whether or not they are directly under your chambers.</a:t>
            </a:r>
            <a:endParaRPr lang="en-US" sz="1500" kern="100" dirty="0">
              <a:latin typeface="Aptos" panose="020B0004020202020204" pitchFamily="34" charset="0"/>
              <a:ea typeface="Times New Roman" panose="02020603050405020304" pitchFamily="18" charset="0"/>
              <a:cs typeface="Helvetica" panose="020B0604020202020204" pitchFamily="34" charset="0"/>
            </a:endParaRPr>
          </a:p>
          <a:p>
            <a:pPr marL="342900" indent="-342900" algn="just">
              <a:lnSpc>
                <a:spcPct val="115000"/>
              </a:lnSpc>
              <a:spcBef>
                <a:spcPts val="0"/>
              </a:spcBef>
              <a:buFont typeface="Helvetica" panose="020B0604020202020204" pitchFamily="34" charset="0"/>
              <a:buChar char="-"/>
            </a:pPr>
            <a:r>
              <a:rPr lang="en-US" sz="1500" kern="0" dirty="0">
                <a:latin typeface="Aptos" panose="020B0004020202020204" pitchFamily="34" charset="0"/>
                <a:ea typeface="Times New Roman" panose="02020603050405020304" pitchFamily="18" charset="0"/>
                <a:cs typeface="Helvetica" panose="020B0604020202020204" pitchFamily="34" charset="0"/>
              </a:rPr>
              <a:t>You are expected to raise the bar, not merely in legal skill, but in ethics, humility, and service.</a:t>
            </a:r>
            <a:endParaRPr lang="en-US" sz="1500" kern="100" dirty="0">
              <a:latin typeface="Aptos" panose="020B0004020202020204" pitchFamily="34" charset="0"/>
              <a:ea typeface="Times New Roman" panose="02020603050405020304" pitchFamily="18" charset="0"/>
              <a:cs typeface="Helvetica" panose="020B0604020202020204" pitchFamily="34" charset="0"/>
            </a:endParaRPr>
          </a:p>
          <a:p>
            <a:pPr marL="0" indent="0" algn="just">
              <a:lnSpc>
                <a:spcPct val="115000"/>
              </a:lnSpc>
              <a:spcBef>
                <a:spcPts val="0"/>
              </a:spcBef>
              <a:buFont typeface="Arial" pitchFamily="34" charset="0"/>
              <a:buNone/>
            </a:pP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1500" kern="0" dirty="0">
                <a:latin typeface="Aptos" panose="020B0004020202020204" pitchFamily="34" charset="0"/>
                <a:ea typeface="Times New Roman" panose="02020603050405020304" pitchFamily="18" charset="0"/>
                <a:cs typeface="Times New Roman" panose="02020603050405020304" pitchFamily="18" charset="0"/>
              </a:rPr>
              <a:t>So you see that to be a Senior Advocate is not only to excel in practice, it is to be a standard-bearer, and a custodian of the values of our profession.</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15000"/>
              </a:lnSpc>
              <a:spcBef>
                <a:spcPts val="0"/>
              </a:spcBef>
              <a:buNone/>
              <a:tabLst>
                <a:tab pos="1828800" algn="l"/>
              </a:tabLst>
            </a:pPr>
            <a:r>
              <a:rPr lang="en-US" sz="1500" b="1" kern="0" dirty="0">
                <a:latin typeface="Aptos" panose="020B0004020202020204" pitchFamily="34" charset="0"/>
                <a:ea typeface="Times New Roman" panose="02020603050405020304" pitchFamily="18" charset="0"/>
                <a:cs typeface="Times New Roman" panose="02020603050405020304" pitchFamily="18" charset="0"/>
              </a:rPr>
              <a:t>	</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1500" kern="0" dirty="0">
                <a:latin typeface="Aptos" panose="020B0004020202020204" pitchFamily="34" charset="0"/>
                <a:ea typeface="Times New Roman" panose="02020603050405020304" pitchFamily="18" charset="0"/>
                <a:cs typeface="Times New Roman" panose="02020603050405020304" pitchFamily="18" charset="0"/>
              </a:rPr>
              <a:t>You cannot hold these virtues without shaping those around you. If you are regarded as a leader, you must have a tangible, positive impact on others. The moment you rise to silk, you inherit not just prestige but also the duty to transfer those qualities to others. That is how the legacy of our profession is preserved.</a:t>
            </a:r>
            <a:endParaRPr lang="en-US" sz="1500" kern="100" dirty="0">
              <a:latin typeface="Aptos" panose="020B0004020202020204" pitchFamily="34" charset="0"/>
              <a:ea typeface="Calibri" panose="020F0502020204030204" pitchFamily="34" charset="0"/>
              <a:cs typeface="Times New Roman" panose="02020603050405020304" pitchFamily="18" charset="0"/>
            </a:endParaRPr>
          </a:p>
          <a:p>
            <a:pPr marL="0" algn="just">
              <a:lnSpc>
                <a:spcPct val="107000"/>
              </a:lnSpc>
              <a:spcBef>
                <a:spcPts val="0"/>
              </a:spcBef>
              <a:spcAft>
                <a:spcPts val="800"/>
              </a:spcAft>
            </a:pPr>
            <a:endParaRPr lang="en-US" sz="1500" kern="100" dirty="0">
              <a:latin typeface="Aptos" panose="020B000402020202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C6C03596-78EE-F1D9-A595-D1529ADE4334}"/>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11</a:t>
            </a:r>
            <a:endParaRPr lang="en-US" sz="2399" dirty="0"/>
          </a:p>
        </p:txBody>
      </p:sp>
    </p:spTree>
    <p:extLst>
      <p:ext uri="{BB962C8B-B14F-4D97-AF65-F5344CB8AC3E}">
        <p14:creationId xmlns:p14="http://schemas.microsoft.com/office/powerpoint/2010/main" val="4169402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1527858" y="274639"/>
            <a:ext cx="10051526" cy="711081"/>
          </a:xfrm>
        </p:spPr>
        <p:txBody>
          <a:bodyPr/>
          <a:lstStyle/>
          <a:p>
            <a:pPr marL="457200" lvl="0" indent="-457200">
              <a:lnSpc>
                <a:spcPct val="150000"/>
              </a:lnSpc>
              <a:spcBef>
                <a:spcPts val="0"/>
              </a:spcBef>
            </a:pPr>
            <a:r>
              <a:rPr lang="en-US" sz="2800" b="1" dirty="0">
                <a:solidFill>
                  <a:prstClr val="black"/>
                </a:solidFill>
                <a:latin typeface="Aptos" panose="020B0004020202020204" pitchFamily="34" charset="0"/>
              </a:rPr>
              <a:t>Knowledge Transfer as Legacy: Technical and Morals</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1465783" y="1196752"/>
            <a:ext cx="9868241" cy="5179584"/>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Knowledge transfer is essential to prevent "wisdom, experience, and tradition" from being lost. </a:t>
            </a:r>
          </a:p>
          <a:p>
            <a:pPr marL="0" indent="0" algn="just">
              <a:lnSpc>
                <a:spcPct val="107000"/>
              </a:lnSpc>
              <a:spcBef>
                <a:spcPts val="0"/>
              </a:spcBef>
              <a:spcAft>
                <a:spcPts val="800"/>
              </a:spcAft>
              <a:buNone/>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It encompasses:</a:t>
            </a:r>
          </a:p>
          <a:p>
            <a:pPr marL="0" algn="just">
              <a:lnSpc>
                <a:spcPct val="107000"/>
              </a:lnSpc>
              <a:spcBef>
                <a:spcPts val="0"/>
              </a:spcBef>
              <a:spcAft>
                <a:spcPts val="800"/>
              </a:spcAft>
            </a:pPr>
            <a:r>
              <a:rPr lang="en-US" sz="20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Technical Knowledge:</a:t>
            </a: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"Mastery of procedure, advocacy skills, case management, and adaptation to new tools, including technology and mastery of the law.“</a:t>
            </a:r>
          </a:p>
          <a:p>
            <a:pPr marL="0" indent="0" algn="just">
              <a:lnSpc>
                <a:spcPct val="107000"/>
              </a:lnSpc>
              <a:spcBef>
                <a:spcPts val="0"/>
              </a:spcBef>
              <a:spcAft>
                <a:spcPts val="800"/>
              </a:spcAft>
              <a:buNone/>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algn="just">
              <a:lnSpc>
                <a:spcPct val="107000"/>
              </a:lnSpc>
              <a:spcBef>
                <a:spcPts val="0"/>
              </a:spcBef>
              <a:spcAft>
                <a:spcPts val="800"/>
              </a:spcAft>
            </a:pPr>
            <a:r>
              <a:rPr lang="en-US" sz="20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Moral Knowledge:</a:t>
            </a: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"Upholding </a:t>
            </a:r>
            <a:r>
              <a:rPr lang="en-US" sz="2000" kern="100" dirty="0" err="1">
                <a:solidFill>
                  <a:prstClr val="black"/>
                </a:solidFill>
                <a:latin typeface="Aptos" panose="020B0004020202020204" pitchFamily="34" charset="0"/>
                <a:ea typeface="Calibri" panose="020F0502020204030204" pitchFamily="34" charset="0"/>
                <a:cs typeface="Times New Roman" panose="02020603050405020304" pitchFamily="18" charset="0"/>
              </a:rPr>
              <a:t>candour</a:t>
            </a: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to the court, honesty to clients, and fairness to colleagues, passing on the virtues of honesty, </a:t>
            </a:r>
            <a:r>
              <a:rPr lang="en-US" sz="2000" kern="100" dirty="0" err="1">
                <a:solidFill>
                  <a:prstClr val="black"/>
                </a:solidFill>
                <a:latin typeface="Aptos" panose="020B0004020202020204" pitchFamily="34" charset="0"/>
                <a:ea typeface="Calibri" panose="020F0502020204030204" pitchFamily="34" charset="0"/>
                <a:cs typeface="Times New Roman" panose="02020603050405020304" pitchFamily="18" charset="0"/>
              </a:rPr>
              <a:t>hardwork</a:t>
            </a: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gratitude, fairness etc.“</a:t>
            </a:r>
          </a:p>
          <a:p>
            <a:pPr marL="0" indent="0" algn="just">
              <a:lnSpc>
                <a:spcPct val="107000"/>
              </a:lnSpc>
              <a:spcBef>
                <a:spcPts val="0"/>
              </a:spcBef>
              <a:spcAft>
                <a:spcPts val="800"/>
              </a:spcAft>
              <a:buNone/>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SANs must consciously transfer both types of knowledge. Without structured transfer, the profession risks "decline, with each generation reinventing the wheel rather than building on solid foundations." The ultimate question for a SAN is: "Will I be remembered not just for my victories in court, but for the legacy I leave behind?"</a:t>
            </a:r>
          </a:p>
        </p:txBody>
      </p:sp>
      <p:grpSp>
        <p:nvGrpSpPr>
          <p:cNvPr id="5" name="Group 4">
            <a:extLst>
              <a:ext uri="{FF2B5EF4-FFF2-40B4-BE49-F238E27FC236}">
                <a16:creationId xmlns:a16="http://schemas.microsoft.com/office/drawing/2014/main" id="{6F7A4F78-CE5F-0172-9CB8-6A8FC661E79B}"/>
              </a:ext>
            </a:extLst>
          </p:cNvPr>
          <p:cNvGrpSpPr/>
          <p:nvPr/>
        </p:nvGrpSpPr>
        <p:grpSpPr>
          <a:xfrm>
            <a:off x="462303" y="3529732"/>
            <a:ext cx="882679" cy="513624"/>
            <a:chOff x="4150196" y="1700808"/>
            <a:chExt cx="4104456" cy="4104456"/>
          </a:xfrm>
        </p:grpSpPr>
        <p:sp>
          <p:nvSpPr>
            <p:cNvPr id="6" name="Chevron 32">
              <a:extLst>
                <a:ext uri="{FF2B5EF4-FFF2-40B4-BE49-F238E27FC236}">
                  <a16:creationId xmlns:a16="http://schemas.microsoft.com/office/drawing/2014/main" id="{EFB21ADE-212E-BE42-5879-8F47963191B8}"/>
                </a:ext>
              </a:extLst>
            </p:cNvPr>
            <p:cNvSpPr/>
            <p:nvPr/>
          </p:nvSpPr>
          <p:spPr>
            <a:xfrm>
              <a:off x="4150196" y="1700808"/>
              <a:ext cx="4104456" cy="4104456"/>
            </a:xfrm>
            <a:prstGeom prst="chevron">
              <a:avLst>
                <a:gd name="adj" fmla="val 36633"/>
              </a:avLst>
            </a:prstGeom>
            <a:gradFill>
              <a:gsLst>
                <a:gs pos="100000">
                  <a:schemeClr val="tx1">
                    <a:lumMod val="50000"/>
                    <a:lumOff val="50000"/>
                  </a:schemeClr>
                </a:gs>
                <a:gs pos="28000">
                  <a:schemeClr val="tx1">
                    <a:lumMod val="75000"/>
                    <a:lumOff val="25000"/>
                  </a:schemeClr>
                </a:gs>
              </a:gsLst>
              <a:lin ang="0" scaled="0"/>
            </a:gradFill>
            <a:ln w="12700"/>
            <a:effectLst>
              <a:innerShdw blurRad="2540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Parallelogram 6">
              <a:extLst>
                <a:ext uri="{FF2B5EF4-FFF2-40B4-BE49-F238E27FC236}">
                  <a16:creationId xmlns:a16="http://schemas.microsoft.com/office/drawing/2014/main" id="{06F03E46-4DD3-9E96-E5CC-BEAA3389370D}"/>
                </a:ext>
              </a:extLst>
            </p:cNvPr>
            <p:cNvSpPr/>
            <p:nvPr/>
          </p:nvSpPr>
          <p:spPr>
            <a:xfrm flipH="1">
              <a:off x="4169246" y="1700808"/>
              <a:ext cx="3276364" cy="936104"/>
            </a:xfrm>
            <a:prstGeom prst="parallelogram">
              <a:avLst>
                <a:gd name="adj" fmla="val 73027"/>
              </a:avLst>
            </a:prstGeom>
            <a:gradFill>
              <a:gsLst>
                <a:gs pos="100000">
                  <a:schemeClr val="tx1">
                    <a:alpha val="57000"/>
                  </a:schemeClr>
                </a:gs>
                <a:gs pos="28000">
                  <a:schemeClr val="tx1">
                    <a:lumMod val="75000"/>
                    <a:lumOff val="25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ED935837-004A-FF29-6F18-A0DEE359D9AC}"/>
              </a:ext>
            </a:extLst>
          </p:cNvPr>
          <p:cNvGrpSpPr/>
          <p:nvPr/>
        </p:nvGrpSpPr>
        <p:grpSpPr>
          <a:xfrm>
            <a:off x="462301" y="2348880"/>
            <a:ext cx="882679" cy="513624"/>
            <a:chOff x="1485900" y="1700808"/>
            <a:chExt cx="4104456" cy="4104456"/>
          </a:xfrm>
        </p:grpSpPr>
        <p:sp>
          <p:nvSpPr>
            <p:cNvPr id="15" name="Chevron 2">
              <a:extLst>
                <a:ext uri="{FF2B5EF4-FFF2-40B4-BE49-F238E27FC236}">
                  <a16:creationId xmlns:a16="http://schemas.microsoft.com/office/drawing/2014/main" id="{0827B438-AE85-F8D8-AE9B-3C8E3F2C9F9B}"/>
                </a:ext>
              </a:extLst>
            </p:cNvPr>
            <p:cNvSpPr/>
            <p:nvPr/>
          </p:nvSpPr>
          <p:spPr>
            <a:xfrm>
              <a:off x="1485900" y="1700808"/>
              <a:ext cx="4104456" cy="4104456"/>
            </a:xfrm>
            <a:prstGeom prst="chevron">
              <a:avLst>
                <a:gd name="adj" fmla="val 36633"/>
              </a:avLst>
            </a:prstGeom>
            <a:gradFill>
              <a:gsLst>
                <a:gs pos="0">
                  <a:srgbClr val="4E89BF"/>
                </a:gs>
                <a:gs pos="100000">
                  <a:srgbClr val="83ACD1"/>
                </a:gs>
              </a:gsLst>
              <a:lin ang="0" scaled="0"/>
            </a:gra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Parallelogram 16">
              <a:extLst>
                <a:ext uri="{FF2B5EF4-FFF2-40B4-BE49-F238E27FC236}">
                  <a16:creationId xmlns:a16="http://schemas.microsoft.com/office/drawing/2014/main" id="{33E28210-4DDB-78AB-53FA-A8931A8988F4}"/>
                </a:ext>
              </a:extLst>
            </p:cNvPr>
            <p:cNvSpPr/>
            <p:nvPr/>
          </p:nvSpPr>
          <p:spPr>
            <a:xfrm flipH="1">
              <a:off x="1485900" y="1700808"/>
              <a:ext cx="3276364" cy="936104"/>
            </a:xfrm>
            <a:prstGeom prst="parallelogram">
              <a:avLst>
                <a:gd name="adj" fmla="val 73027"/>
              </a:avLst>
            </a:prstGeom>
            <a:gradFill>
              <a:gsLst>
                <a:gs pos="100000">
                  <a:schemeClr val="tx1">
                    <a:alpha val="57000"/>
                  </a:schemeClr>
                </a:gs>
                <a:gs pos="28000">
                  <a:schemeClr val="tx1">
                    <a:lumMod val="75000"/>
                    <a:lumOff val="25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608B0FE6-54C3-BBE2-710D-DE7EF0EABA47}"/>
              </a:ext>
            </a:extLst>
          </p:cNvPr>
          <p:cNvGrpSpPr/>
          <p:nvPr/>
        </p:nvGrpSpPr>
        <p:grpSpPr>
          <a:xfrm>
            <a:off x="565289" y="5013176"/>
            <a:ext cx="779691" cy="780782"/>
            <a:chOff x="686092" y="1496090"/>
            <a:chExt cx="1138164" cy="1138164"/>
          </a:xfrm>
        </p:grpSpPr>
        <p:sp>
          <p:nvSpPr>
            <p:cNvPr id="27" name="Rectangle 26">
              <a:extLst>
                <a:ext uri="{FF2B5EF4-FFF2-40B4-BE49-F238E27FC236}">
                  <a16:creationId xmlns:a16="http://schemas.microsoft.com/office/drawing/2014/main" id="{CBA39F5B-4BDD-06EA-0F44-3E561AEE3586}"/>
                </a:ext>
              </a:extLst>
            </p:cNvPr>
            <p:cNvSpPr/>
            <p:nvPr/>
          </p:nvSpPr>
          <p:spPr>
            <a:xfrm>
              <a:off x="686092" y="1496090"/>
              <a:ext cx="1138164" cy="1138164"/>
            </a:xfrm>
            <a:prstGeom prst="rect">
              <a:avLst/>
            </a:prstGeom>
            <a:gradFill flip="none" rotWithShape="1">
              <a:gsLst>
                <a:gs pos="0">
                  <a:schemeClr val="accent4"/>
                </a:gs>
                <a:gs pos="100000">
                  <a:schemeClr val="accent6"/>
                </a:gs>
              </a:gsLst>
              <a:lin ang="16200000" scaled="1"/>
              <a:tileRect/>
            </a:gra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8" name="Shape">
              <a:extLst>
                <a:ext uri="{FF2B5EF4-FFF2-40B4-BE49-F238E27FC236}">
                  <a16:creationId xmlns:a16="http://schemas.microsoft.com/office/drawing/2014/main" id="{563A65FD-1A48-9526-6327-C06278CDA5AD}"/>
                </a:ext>
              </a:extLst>
            </p:cNvPr>
            <p:cNvSpPr/>
            <p:nvPr/>
          </p:nvSpPr>
          <p:spPr>
            <a:xfrm>
              <a:off x="918314" y="1782717"/>
              <a:ext cx="642747" cy="564910"/>
            </a:xfrm>
            <a:custGeom>
              <a:avLst/>
              <a:gdLst/>
              <a:ahLst/>
              <a:cxnLst>
                <a:cxn ang="0">
                  <a:pos x="wd2" y="hd2"/>
                </a:cxn>
                <a:cxn ang="5400000">
                  <a:pos x="wd2" y="hd2"/>
                </a:cxn>
                <a:cxn ang="10800000">
                  <a:pos x="wd2" y="hd2"/>
                </a:cxn>
                <a:cxn ang="16200000">
                  <a:pos x="wd2" y="hd2"/>
                </a:cxn>
              </a:cxnLst>
              <a:rect l="0" t="0" r="r" b="b"/>
              <a:pathLst>
                <a:path w="21600" h="21600" extrusionOk="0">
                  <a:moveTo>
                    <a:pt x="20334" y="19440"/>
                  </a:moveTo>
                  <a:cubicBezTo>
                    <a:pt x="20334" y="19837"/>
                    <a:pt x="20050" y="20160"/>
                    <a:pt x="19701" y="20160"/>
                  </a:cubicBezTo>
                  <a:lnTo>
                    <a:pt x="1899" y="20160"/>
                  </a:lnTo>
                  <a:cubicBezTo>
                    <a:pt x="1549" y="20160"/>
                    <a:pt x="1266" y="19837"/>
                    <a:pt x="1266" y="19440"/>
                  </a:cubicBezTo>
                  <a:lnTo>
                    <a:pt x="1266" y="8037"/>
                  </a:lnTo>
                  <a:lnTo>
                    <a:pt x="2275" y="11483"/>
                  </a:lnTo>
                  <a:cubicBezTo>
                    <a:pt x="2534" y="12366"/>
                    <a:pt x="3258" y="12960"/>
                    <a:pt x="4076" y="12960"/>
                  </a:cubicBezTo>
                  <a:lnTo>
                    <a:pt x="7636" y="12960"/>
                  </a:lnTo>
                  <a:lnTo>
                    <a:pt x="7636" y="13680"/>
                  </a:lnTo>
                  <a:cubicBezTo>
                    <a:pt x="7636" y="14078"/>
                    <a:pt x="7919" y="14400"/>
                    <a:pt x="8269" y="14400"/>
                  </a:cubicBezTo>
                  <a:lnTo>
                    <a:pt x="13331" y="14400"/>
                  </a:lnTo>
                  <a:cubicBezTo>
                    <a:pt x="13681" y="14400"/>
                    <a:pt x="13964" y="14078"/>
                    <a:pt x="13964" y="13680"/>
                  </a:cubicBezTo>
                  <a:lnTo>
                    <a:pt x="13964" y="12960"/>
                  </a:lnTo>
                  <a:lnTo>
                    <a:pt x="17524" y="12960"/>
                  </a:lnTo>
                  <a:cubicBezTo>
                    <a:pt x="18342" y="12960"/>
                    <a:pt x="19066" y="12366"/>
                    <a:pt x="19325" y="11483"/>
                  </a:cubicBezTo>
                  <a:lnTo>
                    <a:pt x="20334" y="8037"/>
                  </a:lnTo>
                  <a:cubicBezTo>
                    <a:pt x="20334" y="8037"/>
                    <a:pt x="20334" y="19440"/>
                    <a:pt x="20334" y="19440"/>
                  </a:cubicBezTo>
                  <a:close/>
                  <a:moveTo>
                    <a:pt x="12698" y="11520"/>
                  </a:moveTo>
                  <a:lnTo>
                    <a:pt x="12698" y="12960"/>
                  </a:lnTo>
                  <a:lnTo>
                    <a:pt x="8901" y="12960"/>
                  </a:lnTo>
                  <a:lnTo>
                    <a:pt x="8901" y="11520"/>
                  </a:lnTo>
                  <a:cubicBezTo>
                    <a:pt x="8901" y="11520"/>
                    <a:pt x="12698" y="11520"/>
                    <a:pt x="12698" y="11520"/>
                  </a:cubicBezTo>
                  <a:close/>
                  <a:moveTo>
                    <a:pt x="20089" y="4320"/>
                  </a:moveTo>
                  <a:lnTo>
                    <a:pt x="18124" y="11028"/>
                  </a:lnTo>
                  <a:cubicBezTo>
                    <a:pt x="18038" y="11322"/>
                    <a:pt x="17796" y="11520"/>
                    <a:pt x="17524" y="11520"/>
                  </a:cubicBezTo>
                  <a:lnTo>
                    <a:pt x="13964" y="11520"/>
                  </a:lnTo>
                  <a:lnTo>
                    <a:pt x="13964" y="10800"/>
                  </a:lnTo>
                  <a:cubicBezTo>
                    <a:pt x="13964" y="10402"/>
                    <a:pt x="13681" y="10080"/>
                    <a:pt x="13331" y="10080"/>
                  </a:cubicBezTo>
                  <a:lnTo>
                    <a:pt x="8269" y="10080"/>
                  </a:lnTo>
                  <a:cubicBezTo>
                    <a:pt x="7919" y="10080"/>
                    <a:pt x="7636" y="10402"/>
                    <a:pt x="7636" y="10800"/>
                  </a:cubicBezTo>
                  <a:lnTo>
                    <a:pt x="7636" y="11520"/>
                  </a:lnTo>
                  <a:lnTo>
                    <a:pt x="4076" y="11520"/>
                  </a:lnTo>
                  <a:cubicBezTo>
                    <a:pt x="3803" y="11520"/>
                    <a:pt x="3562" y="11322"/>
                    <a:pt x="3476" y="11028"/>
                  </a:cubicBezTo>
                  <a:lnTo>
                    <a:pt x="1511" y="4320"/>
                  </a:lnTo>
                  <a:cubicBezTo>
                    <a:pt x="1511" y="4320"/>
                    <a:pt x="20089" y="4320"/>
                    <a:pt x="20089" y="4320"/>
                  </a:cubicBezTo>
                  <a:close/>
                  <a:moveTo>
                    <a:pt x="7636" y="2160"/>
                  </a:moveTo>
                  <a:cubicBezTo>
                    <a:pt x="7636" y="1763"/>
                    <a:pt x="7920" y="1440"/>
                    <a:pt x="8269" y="1440"/>
                  </a:cubicBezTo>
                  <a:lnTo>
                    <a:pt x="13331" y="1440"/>
                  </a:lnTo>
                  <a:cubicBezTo>
                    <a:pt x="13680" y="1440"/>
                    <a:pt x="13964" y="1763"/>
                    <a:pt x="13964" y="2160"/>
                  </a:cubicBezTo>
                  <a:lnTo>
                    <a:pt x="13964" y="2880"/>
                  </a:lnTo>
                  <a:lnTo>
                    <a:pt x="7636" y="2880"/>
                  </a:lnTo>
                  <a:cubicBezTo>
                    <a:pt x="7636" y="2880"/>
                    <a:pt x="7636" y="2160"/>
                    <a:pt x="7636" y="2160"/>
                  </a:cubicBezTo>
                  <a:close/>
                  <a:moveTo>
                    <a:pt x="20971" y="2880"/>
                  </a:moveTo>
                  <a:cubicBezTo>
                    <a:pt x="20970" y="2880"/>
                    <a:pt x="20968" y="2880"/>
                    <a:pt x="20967" y="2880"/>
                  </a:cubicBezTo>
                  <a:lnTo>
                    <a:pt x="15230" y="2880"/>
                  </a:lnTo>
                  <a:lnTo>
                    <a:pt x="15230" y="2160"/>
                  </a:lnTo>
                  <a:cubicBezTo>
                    <a:pt x="15230" y="969"/>
                    <a:pt x="14378" y="0"/>
                    <a:pt x="13331" y="0"/>
                  </a:cubicBezTo>
                  <a:lnTo>
                    <a:pt x="8269" y="0"/>
                  </a:lnTo>
                  <a:cubicBezTo>
                    <a:pt x="7222" y="0"/>
                    <a:pt x="6370" y="969"/>
                    <a:pt x="6370" y="2160"/>
                  </a:cubicBezTo>
                  <a:lnTo>
                    <a:pt x="6370" y="2880"/>
                  </a:lnTo>
                  <a:lnTo>
                    <a:pt x="633" y="2880"/>
                  </a:lnTo>
                  <a:cubicBezTo>
                    <a:pt x="281" y="2880"/>
                    <a:pt x="0" y="3208"/>
                    <a:pt x="0" y="3600"/>
                  </a:cubicBezTo>
                  <a:lnTo>
                    <a:pt x="0" y="19440"/>
                  </a:lnTo>
                  <a:cubicBezTo>
                    <a:pt x="0" y="20631"/>
                    <a:pt x="852" y="21600"/>
                    <a:pt x="1899" y="21600"/>
                  </a:cubicBezTo>
                  <a:lnTo>
                    <a:pt x="19701" y="21600"/>
                  </a:lnTo>
                  <a:cubicBezTo>
                    <a:pt x="20748" y="21600"/>
                    <a:pt x="21600" y="20631"/>
                    <a:pt x="21600" y="19440"/>
                  </a:cubicBezTo>
                  <a:lnTo>
                    <a:pt x="21600" y="3615"/>
                  </a:lnTo>
                  <a:cubicBezTo>
                    <a:pt x="21600" y="3614"/>
                    <a:pt x="21600" y="3613"/>
                    <a:pt x="21600" y="3612"/>
                  </a:cubicBezTo>
                  <a:cubicBezTo>
                    <a:pt x="21576" y="3139"/>
                    <a:pt x="21320" y="2883"/>
                    <a:pt x="20971" y="2880"/>
                  </a:cubicBezTo>
                  <a:cubicBezTo>
                    <a:pt x="20971" y="2880"/>
                    <a:pt x="20971" y="2880"/>
                    <a:pt x="20971" y="2880"/>
                  </a:cubicBezTo>
                  <a:close/>
                </a:path>
              </a:pathLst>
            </a:custGeom>
            <a:solidFill>
              <a:schemeClr val="bg1"/>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2999"/>
            </a:p>
          </p:txBody>
        </p:sp>
      </p:grpSp>
      <p:sp>
        <p:nvSpPr>
          <p:cNvPr id="30" name="Rectangle 29">
            <a:extLst>
              <a:ext uri="{FF2B5EF4-FFF2-40B4-BE49-F238E27FC236}">
                <a16:creationId xmlns:a16="http://schemas.microsoft.com/office/drawing/2014/main" id="{C6A1C433-5274-2B15-9362-3C47BB8607E8}"/>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12</a:t>
            </a:r>
            <a:endParaRPr lang="en-US" sz="2399" dirty="0"/>
          </a:p>
        </p:txBody>
      </p:sp>
    </p:spTree>
    <p:extLst>
      <p:ext uri="{BB962C8B-B14F-4D97-AF65-F5344CB8AC3E}">
        <p14:creationId xmlns:p14="http://schemas.microsoft.com/office/powerpoint/2010/main" val="1611798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829511" y="0"/>
            <a:ext cx="10051526" cy="711081"/>
          </a:xfrm>
        </p:spPr>
        <p:txBody>
          <a:bodyPr/>
          <a:lstStyle/>
          <a:p>
            <a:pPr marL="457200" lvl="0" indent="-457200">
              <a:lnSpc>
                <a:spcPct val="150000"/>
              </a:lnSpc>
              <a:spcBef>
                <a:spcPts val="0"/>
              </a:spcBef>
            </a:pPr>
            <a:r>
              <a:rPr lang="en-US" sz="1400" dirty="0">
                <a:solidFill>
                  <a:prstClr val="black"/>
                </a:solidFill>
                <a:latin typeface="Aptos" panose="020B0004020202020204" pitchFamily="34" charset="0"/>
              </a:rPr>
              <a:t>Mentorship: Skill Transfer</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829511" y="589579"/>
            <a:ext cx="9505056" cy="5971671"/>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indent="0">
              <a:lnSpc>
                <a:spcPct val="115000"/>
              </a:lnSpc>
              <a:spcBef>
                <a:spcPts val="0"/>
              </a:spcBef>
              <a:spcAft>
                <a:spcPts val="0"/>
              </a:spcAft>
              <a:buNone/>
            </a:pPr>
            <a:r>
              <a:rPr lang="en-US" sz="1400" kern="0" dirty="0">
                <a:solidFill>
                  <a:srgbClr val="1D1D1D"/>
                </a:solidFill>
                <a:latin typeface="Aptos" panose="020B0004020202020204" pitchFamily="34" charset="0"/>
                <a:ea typeface="Times New Roman" panose="02020603050405020304" pitchFamily="18" charset="0"/>
                <a:cs typeface="Times New Roman" panose="02020603050405020304" pitchFamily="18" charset="0"/>
              </a:rPr>
              <a:t> </a:t>
            </a:r>
            <a:endParaRPr lang="en-US" sz="1400" kern="100" dirty="0">
              <a:latin typeface="Aptos" panose="020B000402020202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Font typeface="Wingdings" panose="05000000000000000000" pitchFamily="2" charset="2"/>
              <a:buChar char="§"/>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Character formation:</a:t>
            </a:r>
            <a:r>
              <a:rPr lang="en-US" sz="1400" kern="0" dirty="0">
                <a:latin typeface="Aptos" panose="020B0004020202020204" pitchFamily="34" charset="0"/>
                <a:ea typeface="Times New Roman" panose="02020603050405020304" pitchFamily="18" charset="0"/>
                <a:cs typeface="Times New Roman" panose="02020603050405020304" pitchFamily="18" charset="0"/>
              </a:rPr>
              <a:t> Instilling integrity, discipline, and respect for professional ethics in yourself first. As you cannot give what you do not have.</a:t>
            </a:r>
            <a:endParaRPr lang="en-US" sz="1400" kern="100" dirty="0">
              <a:latin typeface="Aptos" panose="020B000402020202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Font typeface="Wingdings" panose="05000000000000000000" pitchFamily="2" charset="2"/>
              <a:buChar char="§"/>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Skill refinement:</a:t>
            </a:r>
            <a:r>
              <a:rPr lang="en-US" sz="1400" kern="0" dirty="0">
                <a:latin typeface="Aptos" panose="020B0004020202020204" pitchFamily="34" charset="0"/>
                <a:ea typeface="Times New Roman" panose="02020603050405020304" pitchFamily="18" charset="0"/>
                <a:cs typeface="Times New Roman" panose="02020603050405020304" pitchFamily="18" charset="0"/>
              </a:rPr>
              <a:t> Passing on the craft of advocacy: - research, articulation, persuasion, and decorum</a:t>
            </a:r>
            <a:r>
              <a:rPr lang="en-US" sz="1400" b="1" kern="0" dirty="0">
                <a:latin typeface="Aptos" panose="020B0004020202020204" pitchFamily="34" charset="0"/>
                <a:ea typeface="Times New Roman" panose="02020603050405020304" pitchFamily="18" charset="0"/>
                <a:cs typeface="Times New Roman" panose="02020603050405020304" pitchFamily="18" charset="0"/>
              </a:rPr>
              <a:t>.</a:t>
            </a:r>
            <a:endParaRPr lang="en-US" sz="1400" kern="100" dirty="0">
              <a:latin typeface="Aptos" panose="020B0004020202020204" pitchFamily="34" charset="0"/>
              <a:ea typeface="Calibri" panose="020F0502020204030204" pitchFamily="34" charset="0"/>
              <a:cs typeface="Times New Roman" panose="02020603050405020304" pitchFamily="18" charset="0"/>
            </a:endParaRPr>
          </a:p>
          <a:p>
            <a:pPr algn="just">
              <a:lnSpc>
                <a:spcPct val="115000"/>
              </a:lnSpc>
              <a:spcBef>
                <a:spcPts val="0"/>
              </a:spcBef>
            </a:pPr>
            <a:r>
              <a:rPr lang="en-US" sz="1400" b="1" kern="0">
                <a:latin typeface="Aptos" panose="020B0004020202020204" pitchFamily="34" charset="0"/>
                <a:ea typeface="Times New Roman" panose="02020603050405020304" pitchFamily="18" charset="0"/>
                <a:cs typeface="Times New Roman" panose="02020603050405020304" pitchFamily="18" charset="0"/>
              </a:rPr>
              <a:t>Recognizing  </a:t>
            </a:r>
            <a:r>
              <a:rPr lang="en-US" sz="1400" b="1" kern="0" dirty="0">
                <a:latin typeface="Aptos" panose="020B0004020202020204" pitchFamily="34" charset="0"/>
                <a:ea typeface="Times New Roman" panose="02020603050405020304" pitchFamily="18" charset="0"/>
                <a:cs typeface="Times New Roman" panose="02020603050405020304" pitchFamily="18" charset="0"/>
              </a:rPr>
              <a:t>the Presumption of Leadership: </a:t>
            </a:r>
            <a:r>
              <a:rPr lang="en-US" sz="1400" kern="0" dirty="0">
                <a:latin typeface="Aptos" panose="020B0004020202020204" pitchFamily="34" charset="0"/>
                <a:ea typeface="Times New Roman" panose="02020603050405020304" pitchFamily="18" charset="0"/>
                <a:cs typeface="Times New Roman" panose="02020603050405020304" pitchFamily="18" charset="0"/>
              </a:rPr>
              <a:t>The silk places you in a position where younger lawyers, colleagues, and even society presume you to be a leader. Mentorship flows naturally from this presumption. Understanding mentoring means accepting that you cannot be a SAN without influencing others, for good or ill.</a:t>
            </a:r>
            <a:endParaRPr lang="en-US" sz="1400" b="1" kern="100" dirty="0">
              <a:latin typeface="Aptos" panose="020B0004020202020204" pitchFamily="34" charset="0"/>
              <a:ea typeface="Times New Roman" panose="02020603050405020304" pitchFamily="18" charset="0"/>
              <a:cs typeface="Times New Roman" panose="02020603050405020304" pitchFamily="18" charset="0"/>
            </a:endParaRPr>
          </a:p>
          <a:p>
            <a:pPr algn="just">
              <a:lnSpc>
                <a:spcPct val="115000"/>
              </a:lnSpc>
              <a:spcBef>
                <a:spcPts val="0"/>
              </a:spcBef>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Mentorship as a Duty, Not a </a:t>
            </a:r>
            <a:r>
              <a:rPr lang="en-US" sz="1400" b="1" kern="0" dirty="0" err="1">
                <a:latin typeface="Aptos" panose="020B0004020202020204" pitchFamily="34" charset="0"/>
                <a:ea typeface="Times New Roman" panose="02020603050405020304" pitchFamily="18" charset="0"/>
                <a:cs typeface="Times New Roman" panose="02020603050405020304" pitchFamily="18" charset="0"/>
              </a:rPr>
              <a:t>Favour</a:t>
            </a:r>
            <a:r>
              <a:rPr lang="en-US" sz="1400" b="1" kern="0" dirty="0">
                <a:latin typeface="Aptos" panose="020B0004020202020204" pitchFamily="34" charset="0"/>
                <a:ea typeface="Times New Roman" panose="02020603050405020304" pitchFamily="18" charset="0"/>
                <a:cs typeface="Times New Roman" panose="02020603050405020304" pitchFamily="18" charset="0"/>
              </a:rPr>
              <a:t>: </a:t>
            </a:r>
            <a:r>
              <a:rPr lang="en-US" sz="1400" kern="0" dirty="0">
                <a:latin typeface="Aptos" panose="020B0004020202020204" pitchFamily="34" charset="0"/>
                <a:ea typeface="Times New Roman" panose="02020603050405020304" pitchFamily="18" charset="0"/>
                <a:cs typeface="Times New Roman" panose="02020603050405020304" pitchFamily="18" charset="0"/>
              </a:rPr>
              <a:t>For new SANs, mentoring is not optional. It is part of the professional ethics of the Inner Bar, helping others grow is a duty that preserves the integrity of the profession itself.</a:t>
            </a:r>
            <a:endParaRPr lang="en-US" sz="1400" b="1" kern="100" dirty="0">
              <a:latin typeface="Aptos" panose="020B0004020202020204" pitchFamily="34" charset="0"/>
              <a:ea typeface="Times New Roman" panose="02020603050405020304" pitchFamily="18" charset="0"/>
              <a:cs typeface="Times New Roman" panose="02020603050405020304" pitchFamily="18" charset="0"/>
            </a:endParaRPr>
          </a:p>
          <a:p>
            <a:pPr algn="just">
              <a:lnSpc>
                <a:spcPct val="115000"/>
              </a:lnSpc>
              <a:spcBef>
                <a:spcPts val="0"/>
              </a:spcBef>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Beyond Teaching Skills:</a:t>
            </a:r>
            <a:r>
              <a:rPr lang="en-US" sz="1400" kern="0" dirty="0">
                <a:latin typeface="Aptos" panose="020B0004020202020204" pitchFamily="34" charset="0"/>
                <a:ea typeface="Times New Roman" panose="02020603050405020304" pitchFamily="18" charset="0"/>
                <a:cs typeface="Times New Roman" panose="02020603050405020304" pitchFamily="18" charset="0"/>
              </a:rPr>
              <a:t> Mentoring is not only about showing juniors how to draft pleadings, argue appeals, or manage clients. It is about transferring values: - discipline, honesty, resilience, and ethical responsibility, because these are the true standards of the Inner Bar.</a:t>
            </a:r>
            <a:endParaRPr lang="en-US" sz="1400" b="1" kern="100" dirty="0">
              <a:latin typeface="Aptos" panose="020B0004020202020204" pitchFamily="34" charset="0"/>
              <a:ea typeface="Times New Roman" panose="02020603050405020304" pitchFamily="18" charset="0"/>
              <a:cs typeface="Times New Roman" panose="02020603050405020304" pitchFamily="18" charset="0"/>
            </a:endParaRPr>
          </a:p>
          <a:p>
            <a:pPr algn="just">
              <a:lnSpc>
                <a:spcPct val="115000"/>
              </a:lnSpc>
              <a:spcBef>
                <a:spcPts val="0"/>
              </a:spcBef>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Conscious Legacy-Building/Leadership cultivation:</a:t>
            </a:r>
            <a:r>
              <a:rPr lang="en-US" sz="1400" kern="0" dirty="0">
                <a:latin typeface="Aptos" panose="020B0004020202020204" pitchFamily="34" charset="0"/>
                <a:ea typeface="Times New Roman" panose="02020603050405020304" pitchFamily="18" charset="0"/>
                <a:cs typeface="Times New Roman" panose="02020603050405020304" pitchFamily="18" charset="0"/>
              </a:rPr>
              <a:t> Understanding mentoring means seeing yourself as part of a relay. The silk you wear was preserved by others before you; you are now expected to pass it forward, sharpened, not diminished. Preparing successors who can command respect, inspire others, and uphold the dignity of the Bar.</a:t>
            </a:r>
            <a:endParaRPr lang="en-US" sz="1400" b="1" kern="100" dirty="0">
              <a:latin typeface="Aptos" panose="020B0004020202020204" pitchFamily="34" charset="0"/>
              <a:ea typeface="Times New Roman" panose="02020603050405020304" pitchFamily="18" charset="0"/>
              <a:cs typeface="Times New Roman" panose="02020603050405020304" pitchFamily="18" charset="0"/>
            </a:endParaRPr>
          </a:p>
          <a:p>
            <a:pPr algn="just">
              <a:lnSpc>
                <a:spcPct val="115000"/>
              </a:lnSpc>
              <a:spcBef>
                <a:spcPts val="0"/>
              </a:spcBef>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Mentoring in a Modern Context: </a:t>
            </a:r>
            <a:r>
              <a:rPr lang="en-US" sz="1400" kern="0" dirty="0">
                <a:latin typeface="Aptos" panose="020B0004020202020204" pitchFamily="34" charset="0"/>
                <a:ea typeface="Times New Roman" panose="02020603050405020304" pitchFamily="18" charset="0"/>
                <a:cs typeface="Times New Roman" panose="02020603050405020304" pitchFamily="18" charset="0"/>
              </a:rPr>
              <a:t>For today’s SAN, mentoring cannot ignore technology, global legal standards, and modern professional demands. Understanding this means equipping the next generation not only to survive but to thrive in a changing legal environment.</a:t>
            </a:r>
            <a:endParaRPr lang="en-US" sz="1400" b="1" kern="100" dirty="0">
              <a:latin typeface="Aptos" panose="020B0004020202020204" pitchFamily="34" charset="0"/>
              <a:ea typeface="Times New Roman" panose="02020603050405020304" pitchFamily="18" charset="0"/>
              <a:cs typeface="Times New Roman" panose="02020603050405020304" pitchFamily="18" charset="0"/>
            </a:endParaRPr>
          </a:p>
          <a:p>
            <a:pPr algn="just">
              <a:lnSpc>
                <a:spcPct val="115000"/>
              </a:lnSpc>
              <a:spcBef>
                <a:spcPts val="0"/>
              </a:spcBef>
            </a:pPr>
            <a:r>
              <a:rPr lang="en-US" sz="1400" b="1" kern="0" dirty="0">
                <a:latin typeface="Aptos" panose="020B0004020202020204" pitchFamily="34" charset="0"/>
                <a:ea typeface="Times New Roman" panose="02020603050405020304" pitchFamily="18" charset="0"/>
                <a:cs typeface="Times New Roman" panose="02020603050405020304" pitchFamily="18" charset="0"/>
              </a:rPr>
              <a:t>Personal Accountability:</a:t>
            </a:r>
            <a:r>
              <a:rPr lang="en-US" sz="1400" kern="0" dirty="0">
                <a:latin typeface="Aptos" panose="020B0004020202020204" pitchFamily="34" charset="0"/>
                <a:ea typeface="Times New Roman" panose="02020603050405020304" pitchFamily="18" charset="0"/>
                <a:cs typeface="Times New Roman" panose="02020603050405020304" pitchFamily="18" charset="0"/>
              </a:rPr>
              <a:t> To mentor, you must ask: Who am I? What kind of example am I setting? A SAN cannot call others to higher standards while neglecting their own. Understanding mentorship means </a:t>
            </a:r>
            <a:r>
              <a:rPr lang="en-US" sz="1400" kern="0" dirty="0" err="1">
                <a:latin typeface="Aptos" panose="020B0004020202020204" pitchFamily="34" charset="0"/>
                <a:ea typeface="Times New Roman" panose="02020603050405020304" pitchFamily="18" charset="0"/>
                <a:cs typeface="Times New Roman" panose="02020603050405020304" pitchFamily="18" charset="0"/>
              </a:rPr>
              <a:t>internalising</a:t>
            </a:r>
            <a:r>
              <a:rPr lang="en-US" sz="1400" kern="0" dirty="0">
                <a:latin typeface="Aptos" panose="020B0004020202020204" pitchFamily="34" charset="0"/>
                <a:ea typeface="Times New Roman" panose="02020603050405020304" pitchFamily="18" charset="0"/>
                <a:cs typeface="Times New Roman" panose="02020603050405020304" pitchFamily="18" charset="0"/>
              </a:rPr>
              <a:t> that you are the model.</a:t>
            </a:r>
            <a:endParaRPr lang="en-US" sz="1400" kern="100" dirty="0">
              <a:latin typeface="Aptos" panose="020B000402020202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endParaRPr lang="en-US" sz="1400" kern="0" dirty="0">
              <a:latin typeface="Aptos" panose="020B0004020202020204" pitchFamily="34" charset="0"/>
              <a:ea typeface="Times New Roman" panose="02020603050405020304" pitchFamily="18" charset="0"/>
              <a:cs typeface="Times New Roman" panose="02020603050405020304" pitchFamily="18" charset="0"/>
            </a:endParaRPr>
          </a:p>
          <a:p>
            <a:pPr marL="0" marR="0" indent="0">
              <a:lnSpc>
                <a:spcPct val="115000"/>
              </a:lnSpc>
              <a:spcBef>
                <a:spcPts val="0"/>
              </a:spcBef>
              <a:spcAft>
                <a:spcPts val="0"/>
              </a:spcAft>
              <a:buNone/>
            </a:pPr>
            <a:r>
              <a:rPr lang="en-US" sz="1400" kern="0" dirty="0">
                <a:latin typeface="Aptos" panose="020B0004020202020204" pitchFamily="34" charset="0"/>
                <a:ea typeface="Times New Roman" panose="02020603050405020304" pitchFamily="18" charset="0"/>
                <a:cs typeface="Times New Roman" panose="02020603050405020304" pitchFamily="18" charset="0"/>
              </a:rPr>
              <a:t>So in essence for new Senior Advocates, understanding mentoring means accepting it as the heart of your leadership role. It is the intentional transfer of both skills and legacy, so that the profession remains one of distinction long after your own time at the Bar.</a:t>
            </a:r>
            <a:endParaRPr lang="en-US" sz="14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400" kern="100" dirty="0">
              <a:latin typeface="Aptos" panose="020B0004020202020204" pitchFamily="34" charset="0"/>
              <a:ea typeface="Calibri" panose="020F0502020204030204" pitchFamily="34" charset="0"/>
              <a:cs typeface="Times New Roman" panose="02020603050405020304" pitchFamily="18" charset="0"/>
            </a:endParaRPr>
          </a:p>
        </p:txBody>
      </p:sp>
      <p:grpSp>
        <p:nvGrpSpPr>
          <p:cNvPr id="29" name="Group 28">
            <a:extLst>
              <a:ext uri="{FF2B5EF4-FFF2-40B4-BE49-F238E27FC236}">
                <a16:creationId xmlns:a16="http://schemas.microsoft.com/office/drawing/2014/main" id="{EDB34A1F-437C-C5AA-8FDC-E2D660FF7BB4}"/>
              </a:ext>
            </a:extLst>
          </p:cNvPr>
          <p:cNvGrpSpPr/>
          <p:nvPr/>
        </p:nvGrpSpPr>
        <p:grpSpPr>
          <a:xfrm>
            <a:off x="10444657" y="351911"/>
            <a:ext cx="1419230" cy="5020119"/>
            <a:chOff x="7003582" y="1217193"/>
            <a:chExt cx="4398492" cy="4725751"/>
          </a:xfrm>
        </p:grpSpPr>
        <p:grpSp>
          <p:nvGrpSpPr>
            <p:cNvPr id="2" name="Group 1">
              <a:extLst>
                <a:ext uri="{FF2B5EF4-FFF2-40B4-BE49-F238E27FC236}">
                  <a16:creationId xmlns:a16="http://schemas.microsoft.com/office/drawing/2014/main" id="{9EF3914E-D805-B1AB-54C0-86B2653E6131}"/>
                </a:ext>
              </a:extLst>
            </p:cNvPr>
            <p:cNvGrpSpPr/>
            <p:nvPr/>
          </p:nvGrpSpPr>
          <p:grpSpPr>
            <a:xfrm>
              <a:off x="7003582" y="1217193"/>
              <a:ext cx="4398492" cy="4725751"/>
              <a:chOff x="-495300" y="749300"/>
              <a:chExt cx="8561040" cy="9198001"/>
            </a:xfrm>
          </p:grpSpPr>
          <p:sp>
            <p:nvSpPr>
              <p:cNvPr id="3" name="Shape">
                <a:extLst>
                  <a:ext uri="{FF2B5EF4-FFF2-40B4-BE49-F238E27FC236}">
                    <a16:creationId xmlns:a16="http://schemas.microsoft.com/office/drawing/2014/main" id="{DC3473B8-77B9-D438-70A3-A359F9C891FE}"/>
                  </a:ext>
                </a:extLst>
              </p:cNvPr>
              <p:cNvSpPr/>
              <p:nvPr/>
            </p:nvSpPr>
            <p:spPr>
              <a:xfrm>
                <a:off x="-495300" y="7277100"/>
                <a:ext cx="8561040" cy="2670201"/>
              </a:xfrm>
              <a:custGeom>
                <a:avLst/>
                <a:gdLst/>
                <a:ahLst/>
                <a:cxnLst>
                  <a:cxn ang="0">
                    <a:pos x="wd2" y="hd2"/>
                  </a:cxn>
                  <a:cxn ang="5400000">
                    <a:pos x="wd2" y="hd2"/>
                  </a:cxn>
                  <a:cxn ang="10800000">
                    <a:pos x="wd2" y="hd2"/>
                  </a:cxn>
                  <a:cxn ang="16200000">
                    <a:pos x="wd2" y="hd2"/>
                  </a:cxn>
                </a:cxnLst>
                <a:rect l="0" t="0" r="r" b="b"/>
                <a:pathLst>
                  <a:path w="21600" h="21600" extrusionOk="0">
                    <a:moveTo>
                      <a:pt x="21600" y="18154"/>
                    </a:moveTo>
                    <a:lnTo>
                      <a:pt x="19335" y="3247"/>
                    </a:lnTo>
                    <a:lnTo>
                      <a:pt x="19278" y="2872"/>
                    </a:lnTo>
                    <a:cubicBezTo>
                      <a:pt x="18790" y="1255"/>
                      <a:pt x="15184" y="0"/>
                      <a:pt x="10808" y="0"/>
                    </a:cubicBezTo>
                    <a:cubicBezTo>
                      <a:pt x="6559" y="0"/>
                      <a:pt x="3036" y="1184"/>
                      <a:pt x="2388" y="2732"/>
                    </a:cubicBezTo>
                    <a:lnTo>
                      <a:pt x="2289" y="3384"/>
                    </a:lnTo>
                    <a:lnTo>
                      <a:pt x="52" y="18053"/>
                    </a:lnTo>
                    <a:cubicBezTo>
                      <a:pt x="24" y="18149"/>
                      <a:pt x="0" y="18259"/>
                      <a:pt x="0" y="18357"/>
                    </a:cubicBezTo>
                    <a:lnTo>
                      <a:pt x="0" y="18362"/>
                    </a:lnTo>
                    <a:cubicBezTo>
                      <a:pt x="0" y="20154"/>
                      <a:pt x="4842" y="21600"/>
                      <a:pt x="10800" y="21600"/>
                    </a:cubicBezTo>
                    <a:cubicBezTo>
                      <a:pt x="16760" y="21600"/>
                      <a:pt x="21596" y="20143"/>
                      <a:pt x="21596" y="18350"/>
                    </a:cubicBezTo>
                    <a:cubicBezTo>
                      <a:pt x="21596" y="18285"/>
                      <a:pt x="21591" y="18219"/>
                      <a:pt x="21579" y="18156"/>
                    </a:cubicBezTo>
                    <a:cubicBezTo>
                      <a:pt x="21579" y="18156"/>
                      <a:pt x="21600" y="18154"/>
                      <a:pt x="21600" y="18154"/>
                    </a:cubicBezTo>
                    <a:close/>
                  </a:path>
                </a:pathLst>
              </a:custGeom>
              <a:gradFill>
                <a:gsLst>
                  <a:gs pos="0">
                    <a:schemeClr val="accent5">
                      <a:lumMod val="50000"/>
                    </a:schemeClr>
                  </a:gs>
                  <a:gs pos="70000">
                    <a:schemeClr val="accent5"/>
                  </a:gs>
                  <a:gs pos="32000">
                    <a:schemeClr val="accent5"/>
                  </a:gs>
                  <a:gs pos="100000">
                    <a:schemeClr val="accent5">
                      <a:lumMod val="50000"/>
                    </a:schemeClr>
                  </a:gs>
                </a:gsLst>
                <a:lin ang="0" scaled="1"/>
              </a:gra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dirty="0"/>
              </a:p>
            </p:txBody>
          </p:sp>
          <p:sp>
            <p:nvSpPr>
              <p:cNvPr id="4" name="Shape">
                <a:extLst>
                  <a:ext uri="{FF2B5EF4-FFF2-40B4-BE49-F238E27FC236}">
                    <a16:creationId xmlns:a16="http://schemas.microsoft.com/office/drawing/2014/main" id="{47CD214A-E219-36FB-E28D-ACD4394BA4B7}"/>
                  </a:ext>
                </a:extLst>
              </p:cNvPr>
              <p:cNvSpPr/>
              <p:nvPr/>
            </p:nvSpPr>
            <p:spPr>
              <a:xfrm>
                <a:off x="406400" y="7277099"/>
                <a:ext cx="6756128" cy="802842"/>
              </a:xfrm>
              <a:custGeom>
                <a:avLst/>
                <a:gdLst/>
                <a:ahLst/>
                <a:cxnLst>
                  <a:cxn ang="0">
                    <a:pos x="wd2" y="hd2"/>
                  </a:cxn>
                  <a:cxn ang="5400000">
                    <a:pos x="wd2" y="hd2"/>
                  </a:cxn>
                  <a:cxn ang="10800000">
                    <a:pos x="wd2" y="hd2"/>
                  </a:cxn>
                  <a:cxn ang="16200000">
                    <a:pos x="wd2" y="hd2"/>
                  </a:cxn>
                </a:cxnLst>
                <a:rect l="0" t="0" r="r" b="b"/>
                <a:pathLst>
                  <a:path w="21600" h="21600" extrusionOk="0">
                    <a:moveTo>
                      <a:pt x="10795" y="21600"/>
                    </a:moveTo>
                    <a:cubicBezTo>
                      <a:pt x="16762" y="21600"/>
                      <a:pt x="21600" y="16764"/>
                      <a:pt x="21600" y="10800"/>
                    </a:cubicBezTo>
                    <a:lnTo>
                      <a:pt x="21600" y="10800"/>
                    </a:lnTo>
                    <a:lnTo>
                      <a:pt x="21528" y="9552"/>
                    </a:lnTo>
                    <a:cubicBezTo>
                      <a:pt x="20909" y="4175"/>
                      <a:pt x="16340" y="0"/>
                      <a:pt x="10795" y="0"/>
                    </a:cubicBezTo>
                    <a:cubicBezTo>
                      <a:pt x="5411" y="0"/>
                      <a:pt x="947" y="3937"/>
                      <a:pt x="126" y="9087"/>
                    </a:cubicBezTo>
                    <a:lnTo>
                      <a:pt x="0" y="11256"/>
                    </a:lnTo>
                    <a:cubicBezTo>
                      <a:pt x="239" y="17009"/>
                      <a:pt x="4980" y="21600"/>
                      <a:pt x="10795" y="21600"/>
                    </a:cubicBezTo>
                    <a:close/>
                  </a:path>
                </a:pathLst>
              </a:custGeom>
              <a:solidFill>
                <a:srgbClr val="000000">
                  <a:alpha val="30000"/>
                </a:srgb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5" name="Shape">
                <a:extLst>
                  <a:ext uri="{FF2B5EF4-FFF2-40B4-BE49-F238E27FC236}">
                    <a16:creationId xmlns:a16="http://schemas.microsoft.com/office/drawing/2014/main" id="{A4B25807-39A5-394E-FF3B-E97C95FB6E38}"/>
                  </a:ext>
                </a:extLst>
              </p:cNvPr>
              <p:cNvSpPr/>
              <p:nvPr/>
            </p:nvSpPr>
            <p:spPr>
              <a:xfrm>
                <a:off x="711199" y="7277099"/>
                <a:ext cx="6176368" cy="476363"/>
              </a:xfrm>
              <a:custGeom>
                <a:avLst/>
                <a:gdLst/>
                <a:ahLst/>
                <a:cxnLst>
                  <a:cxn ang="0">
                    <a:pos x="wd2" y="hd2"/>
                  </a:cxn>
                  <a:cxn ang="5400000">
                    <a:pos x="wd2" y="hd2"/>
                  </a:cxn>
                  <a:cxn ang="10800000">
                    <a:pos x="wd2" y="hd2"/>
                  </a:cxn>
                  <a:cxn ang="16200000">
                    <a:pos x="wd2" y="hd2"/>
                  </a:cxn>
                </a:cxnLst>
                <a:rect l="0" t="0" r="r" b="b"/>
                <a:pathLst>
                  <a:path w="21600" h="21600" extrusionOk="0">
                    <a:moveTo>
                      <a:pt x="10828" y="21600"/>
                    </a:moveTo>
                    <a:cubicBezTo>
                      <a:pt x="14861" y="21600"/>
                      <a:pt x="18421" y="18490"/>
                      <a:pt x="20554" y="13743"/>
                    </a:cubicBezTo>
                    <a:cubicBezTo>
                      <a:pt x="20955" y="12850"/>
                      <a:pt x="21306" y="11898"/>
                      <a:pt x="21600" y="10899"/>
                    </a:cubicBezTo>
                    <a:cubicBezTo>
                      <a:pt x="19773" y="4482"/>
                      <a:pt x="15613" y="0"/>
                      <a:pt x="10772" y="0"/>
                    </a:cubicBezTo>
                    <a:cubicBezTo>
                      <a:pt x="5980" y="0"/>
                      <a:pt x="1855" y="4391"/>
                      <a:pt x="0" y="10702"/>
                    </a:cubicBezTo>
                    <a:cubicBezTo>
                      <a:pt x="292" y="11727"/>
                      <a:pt x="642" y="12702"/>
                      <a:pt x="1046" y="13617"/>
                    </a:cubicBezTo>
                    <a:cubicBezTo>
                      <a:pt x="3173" y="18434"/>
                      <a:pt x="6760" y="21600"/>
                      <a:pt x="10828" y="21600"/>
                    </a:cubicBezTo>
                    <a:close/>
                  </a:path>
                </a:pathLst>
              </a:custGeom>
              <a:solidFill>
                <a:schemeClr val="tx1">
                  <a:alpha val="30000"/>
                </a:scheme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6" name="Shape">
                <a:extLst>
                  <a:ext uri="{FF2B5EF4-FFF2-40B4-BE49-F238E27FC236}">
                    <a16:creationId xmlns:a16="http://schemas.microsoft.com/office/drawing/2014/main" id="{DCBE0D2D-8A75-AEF1-2C35-F58AD0BC01C4}"/>
                  </a:ext>
                </a:extLst>
              </p:cNvPr>
              <p:cNvSpPr/>
              <p:nvPr/>
            </p:nvSpPr>
            <p:spPr>
              <a:xfrm>
                <a:off x="584200" y="5410199"/>
                <a:ext cx="6427366" cy="2215891"/>
              </a:xfrm>
              <a:custGeom>
                <a:avLst/>
                <a:gdLst/>
                <a:ahLst/>
                <a:cxnLst>
                  <a:cxn ang="0">
                    <a:pos x="wd2" y="hd2"/>
                  </a:cxn>
                  <a:cxn ang="5400000">
                    <a:pos x="wd2" y="hd2"/>
                  </a:cxn>
                  <a:cxn ang="10800000">
                    <a:pos x="wd2" y="hd2"/>
                  </a:cxn>
                  <a:cxn ang="16200000">
                    <a:pos x="wd2" y="hd2"/>
                  </a:cxn>
                </a:cxnLst>
                <a:rect l="0" t="0" r="r" b="b"/>
                <a:pathLst>
                  <a:path w="21600" h="21600" extrusionOk="0">
                    <a:moveTo>
                      <a:pt x="21111" y="16023"/>
                    </a:moveTo>
                    <a:lnTo>
                      <a:pt x="19078" y="3913"/>
                    </a:lnTo>
                    <a:lnTo>
                      <a:pt x="18974" y="3293"/>
                    </a:lnTo>
                    <a:cubicBezTo>
                      <a:pt x="18343" y="1427"/>
                      <a:pt x="14913" y="0"/>
                      <a:pt x="10775" y="0"/>
                    </a:cubicBezTo>
                    <a:cubicBezTo>
                      <a:pt x="6769" y="0"/>
                      <a:pt x="3426" y="1337"/>
                      <a:pt x="2645" y="3117"/>
                    </a:cubicBezTo>
                    <a:lnTo>
                      <a:pt x="2482" y="4090"/>
                    </a:lnTo>
                    <a:lnTo>
                      <a:pt x="468" y="16083"/>
                    </a:lnTo>
                    <a:lnTo>
                      <a:pt x="0" y="18869"/>
                    </a:lnTo>
                    <a:cubicBezTo>
                      <a:pt x="335" y="19233"/>
                      <a:pt x="819" y="19574"/>
                      <a:pt x="1430" y="19884"/>
                    </a:cubicBezTo>
                    <a:cubicBezTo>
                      <a:pt x="3473" y="20919"/>
                      <a:pt x="6921" y="21600"/>
                      <a:pt x="10830" y="21600"/>
                    </a:cubicBezTo>
                    <a:cubicBezTo>
                      <a:pt x="14705" y="21600"/>
                      <a:pt x="18125" y="20931"/>
                      <a:pt x="20175" y="19911"/>
                    </a:cubicBezTo>
                    <a:cubicBezTo>
                      <a:pt x="20775" y="19612"/>
                      <a:pt x="21258" y="19283"/>
                      <a:pt x="21600" y="18932"/>
                    </a:cubicBezTo>
                    <a:cubicBezTo>
                      <a:pt x="21600" y="18932"/>
                      <a:pt x="21111" y="16023"/>
                      <a:pt x="21111" y="16023"/>
                    </a:cubicBezTo>
                    <a:close/>
                  </a:path>
                </a:pathLst>
              </a:custGeom>
              <a:gradFill>
                <a:gsLst>
                  <a:gs pos="0">
                    <a:schemeClr val="accent4">
                      <a:lumMod val="75000"/>
                    </a:schemeClr>
                  </a:gs>
                  <a:gs pos="70000">
                    <a:schemeClr val="accent4"/>
                  </a:gs>
                  <a:gs pos="32000">
                    <a:schemeClr val="accent4"/>
                  </a:gs>
                  <a:gs pos="100000">
                    <a:schemeClr val="accent4">
                      <a:lumMod val="75000"/>
                    </a:schemeClr>
                  </a:gs>
                </a:gsLst>
                <a:lin ang="0" scaled="1"/>
              </a:gra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7" name="Shape">
                <a:extLst>
                  <a:ext uri="{FF2B5EF4-FFF2-40B4-BE49-F238E27FC236}">
                    <a16:creationId xmlns:a16="http://schemas.microsoft.com/office/drawing/2014/main" id="{30354AAA-CF21-FF89-DB1C-41B5D3A778B4}"/>
                  </a:ext>
                </a:extLst>
              </p:cNvPr>
              <p:cNvSpPr/>
              <p:nvPr/>
            </p:nvSpPr>
            <p:spPr>
              <a:xfrm>
                <a:off x="1320800" y="5410199"/>
                <a:ext cx="4937659" cy="802842"/>
              </a:xfrm>
              <a:custGeom>
                <a:avLst/>
                <a:gdLst/>
                <a:ahLst/>
                <a:cxnLst>
                  <a:cxn ang="0">
                    <a:pos x="wd2" y="hd2"/>
                  </a:cxn>
                  <a:cxn ang="5400000">
                    <a:pos x="wd2" y="hd2"/>
                  </a:cxn>
                  <a:cxn ang="10800000">
                    <a:pos x="wd2" y="hd2"/>
                  </a:cxn>
                  <a:cxn ang="16200000">
                    <a:pos x="wd2" y="hd2"/>
                  </a:cxn>
                </a:cxnLst>
                <a:rect l="0" t="0" r="r" b="b"/>
                <a:pathLst>
                  <a:path w="21600" h="21600" extrusionOk="0">
                    <a:moveTo>
                      <a:pt x="10795" y="21600"/>
                    </a:moveTo>
                    <a:cubicBezTo>
                      <a:pt x="16762" y="21600"/>
                      <a:pt x="21600" y="16765"/>
                      <a:pt x="21600" y="10800"/>
                    </a:cubicBezTo>
                    <a:lnTo>
                      <a:pt x="21600" y="10800"/>
                    </a:lnTo>
                    <a:lnTo>
                      <a:pt x="21528" y="9552"/>
                    </a:lnTo>
                    <a:cubicBezTo>
                      <a:pt x="20909" y="4175"/>
                      <a:pt x="16340" y="0"/>
                      <a:pt x="10795" y="0"/>
                    </a:cubicBezTo>
                    <a:cubicBezTo>
                      <a:pt x="5411" y="0"/>
                      <a:pt x="947" y="3937"/>
                      <a:pt x="126" y="9087"/>
                    </a:cubicBezTo>
                    <a:lnTo>
                      <a:pt x="0" y="11256"/>
                    </a:lnTo>
                    <a:cubicBezTo>
                      <a:pt x="239" y="17009"/>
                      <a:pt x="4980" y="21600"/>
                      <a:pt x="10795" y="21600"/>
                    </a:cubicBezTo>
                    <a:close/>
                  </a:path>
                </a:pathLst>
              </a:custGeom>
              <a:solidFill>
                <a:srgbClr val="000000">
                  <a:alpha val="30000"/>
                </a:srgb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8" name="Shape">
                <a:extLst>
                  <a:ext uri="{FF2B5EF4-FFF2-40B4-BE49-F238E27FC236}">
                    <a16:creationId xmlns:a16="http://schemas.microsoft.com/office/drawing/2014/main" id="{507BBBE1-AB8B-6303-FA28-86BFD50471EB}"/>
                  </a:ext>
                </a:extLst>
              </p:cNvPr>
              <p:cNvSpPr/>
              <p:nvPr/>
            </p:nvSpPr>
            <p:spPr>
              <a:xfrm>
                <a:off x="1536699" y="5410199"/>
                <a:ext cx="4514665" cy="476351"/>
              </a:xfrm>
              <a:custGeom>
                <a:avLst/>
                <a:gdLst/>
                <a:ahLst/>
                <a:cxnLst>
                  <a:cxn ang="0">
                    <a:pos x="wd2" y="hd2"/>
                  </a:cxn>
                  <a:cxn ang="5400000">
                    <a:pos x="wd2" y="hd2"/>
                  </a:cxn>
                  <a:cxn ang="10800000">
                    <a:pos x="wd2" y="hd2"/>
                  </a:cxn>
                  <a:cxn ang="16200000">
                    <a:pos x="wd2" y="hd2"/>
                  </a:cxn>
                </a:cxnLst>
                <a:rect l="0" t="0" r="r" b="b"/>
                <a:pathLst>
                  <a:path w="21600" h="21600" extrusionOk="0">
                    <a:moveTo>
                      <a:pt x="10839" y="21600"/>
                    </a:moveTo>
                    <a:cubicBezTo>
                      <a:pt x="14865" y="21600"/>
                      <a:pt x="18419" y="18500"/>
                      <a:pt x="20554" y="13767"/>
                    </a:cubicBezTo>
                    <a:cubicBezTo>
                      <a:pt x="20955" y="12877"/>
                      <a:pt x="21306" y="11929"/>
                      <a:pt x="21600" y="10934"/>
                    </a:cubicBezTo>
                    <a:cubicBezTo>
                      <a:pt x="19778" y="4499"/>
                      <a:pt x="15611" y="0"/>
                      <a:pt x="10762" y="0"/>
                    </a:cubicBezTo>
                    <a:cubicBezTo>
                      <a:pt x="5979" y="0"/>
                      <a:pt x="1861" y="4375"/>
                      <a:pt x="0" y="10667"/>
                    </a:cubicBezTo>
                    <a:cubicBezTo>
                      <a:pt x="291" y="11695"/>
                      <a:pt x="642" y="12674"/>
                      <a:pt x="1046" y="13593"/>
                    </a:cubicBezTo>
                    <a:cubicBezTo>
                      <a:pt x="3171" y="18425"/>
                      <a:pt x="6764" y="21600"/>
                      <a:pt x="10839" y="21600"/>
                    </a:cubicBezTo>
                    <a:close/>
                  </a:path>
                </a:pathLst>
              </a:custGeom>
              <a:solidFill>
                <a:schemeClr val="tx1">
                  <a:alpha val="30000"/>
                </a:scheme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9" name="Shape">
                <a:extLst>
                  <a:ext uri="{FF2B5EF4-FFF2-40B4-BE49-F238E27FC236}">
                    <a16:creationId xmlns:a16="http://schemas.microsoft.com/office/drawing/2014/main" id="{DBB52328-7888-39DC-037F-9FAF21BE0102}"/>
                  </a:ext>
                </a:extLst>
              </p:cNvPr>
              <p:cNvSpPr/>
              <p:nvPr/>
            </p:nvSpPr>
            <p:spPr>
              <a:xfrm>
                <a:off x="1379117" y="3543298"/>
                <a:ext cx="4625339" cy="2215891"/>
              </a:xfrm>
              <a:custGeom>
                <a:avLst/>
                <a:gdLst/>
                <a:ahLst/>
                <a:cxnLst>
                  <a:cxn ang="0">
                    <a:pos x="wd2" y="hd2"/>
                  </a:cxn>
                  <a:cxn ang="5400000">
                    <a:pos x="wd2" y="hd2"/>
                  </a:cxn>
                  <a:cxn ang="10800000">
                    <a:pos x="wd2" y="hd2"/>
                  </a:cxn>
                  <a:cxn ang="16200000">
                    <a:pos x="wd2" y="hd2"/>
                  </a:cxn>
                </a:cxnLst>
                <a:rect l="0" t="0" r="r" b="b"/>
                <a:pathLst>
                  <a:path w="21600" h="21600" extrusionOk="0">
                    <a:moveTo>
                      <a:pt x="20810" y="15717"/>
                    </a:moveTo>
                    <a:lnTo>
                      <a:pt x="18055" y="3913"/>
                    </a:lnTo>
                    <a:lnTo>
                      <a:pt x="17829" y="2941"/>
                    </a:lnTo>
                    <a:cubicBezTo>
                      <a:pt x="17023" y="1250"/>
                      <a:pt x="14166" y="0"/>
                      <a:pt x="10765" y="0"/>
                    </a:cubicBezTo>
                    <a:cubicBezTo>
                      <a:pt x="7487" y="0"/>
                      <a:pt x="4715" y="1161"/>
                      <a:pt x="3797" y="2758"/>
                    </a:cubicBezTo>
                    <a:lnTo>
                      <a:pt x="3483" y="4105"/>
                    </a:lnTo>
                    <a:lnTo>
                      <a:pt x="757" y="15785"/>
                    </a:lnTo>
                    <a:lnTo>
                      <a:pt x="0" y="19029"/>
                    </a:lnTo>
                    <a:cubicBezTo>
                      <a:pt x="325" y="19331"/>
                      <a:pt x="758" y="19616"/>
                      <a:pt x="1282" y="19879"/>
                    </a:cubicBezTo>
                    <a:cubicBezTo>
                      <a:pt x="3356" y="20917"/>
                      <a:pt x="6863" y="21600"/>
                      <a:pt x="10840" y="21600"/>
                    </a:cubicBezTo>
                    <a:cubicBezTo>
                      <a:pt x="14770" y="21600"/>
                      <a:pt x="18239" y="20934"/>
                      <a:pt x="20323" y="19916"/>
                    </a:cubicBezTo>
                    <a:cubicBezTo>
                      <a:pt x="20838" y="19664"/>
                      <a:pt x="21268" y="19391"/>
                      <a:pt x="21600" y="19101"/>
                    </a:cubicBezTo>
                    <a:cubicBezTo>
                      <a:pt x="21600" y="19101"/>
                      <a:pt x="20810" y="15717"/>
                      <a:pt x="20810" y="15717"/>
                    </a:cubicBezTo>
                    <a:close/>
                  </a:path>
                </a:pathLst>
              </a:custGeom>
              <a:gradFill>
                <a:gsLst>
                  <a:gs pos="0">
                    <a:schemeClr val="accent3">
                      <a:lumMod val="75000"/>
                    </a:schemeClr>
                  </a:gs>
                  <a:gs pos="71000">
                    <a:schemeClr val="accent3"/>
                  </a:gs>
                  <a:gs pos="30000">
                    <a:schemeClr val="accent3"/>
                  </a:gs>
                  <a:gs pos="99000">
                    <a:schemeClr val="accent3">
                      <a:lumMod val="75000"/>
                    </a:schemeClr>
                  </a:gs>
                </a:gsLst>
                <a:lin ang="0" scaled="1"/>
              </a:gra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dirty="0"/>
              </a:p>
            </p:txBody>
          </p:sp>
          <p:sp>
            <p:nvSpPr>
              <p:cNvPr id="11" name="Shape">
                <a:extLst>
                  <a:ext uri="{FF2B5EF4-FFF2-40B4-BE49-F238E27FC236}">
                    <a16:creationId xmlns:a16="http://schemas.microsoft.com/office/drawing/2014/main" id="{BB13F430-9DD6-C634-F207-46421EED5588}"/>
                  </a:ext>
                </a:extLst>
              </p:cNvPr>
              <p:cNvSpPr/>
              <p:nvPr/>
            </p:nvSpPr>
            <p:spPr>
              <a:xfrm>
                <a:off x="2222499" y="3543300"/>
                <a:ext cx="3118521" cy="802835"/>
              </a:xfrm>
              <a:custGeom>
                <a:avLst/>
                <a:gdLst/>
                <a:ahLst/>
                <a:cxnLst>
                  <a:cxn ang="0">
                    <a:pos x="wd2" y="hd2"/>
                  </a:cxn>
                  <a:cxn ang="5400000">
                    <a:pos x="wd2" y="hd2"/>
                  </a:cxn>
                  <a:cxn ang="10800000">
                    <a:pos x="wd2" y="hd2"/>
                  </a:cxn>
                  <a:cxn ang="16200000">
                    <a:pos x="wd2" y="hd2"/>
                  </a:cxn>
                </a:cxnLst>
                <a:rect l="0" t="0" r="r" b="b"/>
                <a:pathLst>
                  <a:path w="21600" h="21600" extrusionOk="0">
                    <a:moveTo>
                      <a:pt x="10797" y="21600"/>
                    </a:moveTo>
                    <a:cubicBezTo>
                      <a:pt x="16769" y="21600"/>
                      <a:pt x="21600" y="16765"/>
                      <a:pt x="21600" y="10800"/>
                    </a:cubicBezTo>
                    <a:cubicBezTo>
                      <a:pt x="21600" y="10800"/>
                      <a:pt x="21600" y="10800"/>
                      <a:pt x="21600" y="10800"/>
                    </a:cubicBezTo>
                    <a:lnTo>
                      <a:pt x="21274" y="8118"/>
                    </a:lnTo>
                    <a:cubicBezTo>
                      <a:pt x="20079" y="3451"/>
                      <a:pt x="15847" y="0"/>
                      <a:pt x="10802" y="0"/>
                    </a:cubicBezTo>
                    <a:cubicBezTo>
                      <a:pt x="5941" y="0"/>
                      <a:pt x="1832" y="3203"/>
                      <a:pt x="470" y="7612"/>
                    </a:cubicBezTo>
                    <a:lnTo>
                      <a:pt x="0" y="11329"/>
                    </a:lnTo>
                    <a:cubicBezTo>
                      <a:pt x="276" y="17048"/>
                      <a:pt x="5002" y="21600"/>
                      <a:pt x="10797" y="21600"/>
                    </a:cubicBezTo>
                    <a:close/>
                  </a:path>
                </a:pathLst>
              </a:custGeom>
              <a:solidFill>
                <a:srgbClr val="000000">
                  <a:alpha val="30000"/>
                </a:srgb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12" name="Shape">
                <a:extLst>
                  <a:ext uri="{FF2B5EF4-FFF2-40B4-BE49-F238E27FC236}">
                    <a16:creationId xmlns:a16="http://schemas.microsoft.com/office/drawing/2014/main" id="{30FC59E5-47DB-CD3A-D689-571102B473A7}"/>
                  </a:ext>
                </a:extLst>
              </p:cNvPr>
              <p:cNvSpPr/>
              <p:nvPr/>
            </p:nvSpPr>
            <p:spPr>
              <a:xfrm>
                <a:off x="2374900" y="3543299"/>
                <a:ext cx="2833552" cy="476363"/>
              </a:xfrm>
              <a:custGeom>
                <a:avLst/>
                <a:gdLst/>
                <a:ahLst/>
                <a:cxnLst>
                  <a:cxn ang="0">
                    <a:pos x="wd2" y="hd2"/>
                  </a:cxn>
                  <a:cxn ang="5400000">
                    <a:pos x="wd2" y="hd2"/>
                  </a:cxn>
                  <a:cxn ang="10800000">
                    <a:pos x="wd2" y="hd2"/>
                  </a:cxn>
                  <a:cxn ang="16200000">
                    <a:pos x="wd2" y="hd2"/>
                  </a:cxn>
                </a:cxnLst>
                <a:rect l="0" t="0" r="r" b="b"/>
                <a:pathLst>
                  <a:path w="21600" h="21600" extrusionOk="0">
                    <a:moveTo>
                      <a:pt x="981" y="13544"/>
                    </a:moveTo>
                    <a:cubicBezTo>
                      <a:pt x="3118" y="18402"/>
                      <a:pt x="6746" y="21600"/>
                      <a:pt x="10863" y="21600"/>
                    </a:cubicBezTo>
                    <a:cubicBezTo>
                      <a:pt x="14901" y="21600"/>
                      <a:pt x="18469" y="18523"/>
                      <a:pt x="20621" y="13819"/>
                    </a:cubicBezTo>
                    <a:cubicBezTo>
                      <a:pt x="20990" y="13011"/>
                      <a:pt x="21319" y="12154"/>
                      <a:pt x="21600" y="11257"/>
                    </a:cubicBezTo>
                    <a:lnTo>
                      <a:pt x="21544" y="10569"/>
                    </a:lnTo>
                    <a:cubicBezTo>
                      <a:pt x="19656" y="4330"/>
                      <a:pt x="15529" y="0"/>
                      <a:pt x="10739" y="0"/>
                    </a:cubicBezTo>
                    <a:cubicBezTo>
                      <a:pt x="6049" y="0"/>
                      <a:pt x="1993" y="4150"/>
                      <a:pt x="54" y="10180"/>
                    </a:cubicBezTo>
                    <a:lnTo>
                      <a:pt x="0" y="10843"/>
                    </a:lnTo>
                    <a:cubicBezTo>
                      <a:pt x="277" y="11789"/>
                      <a:pt x="606" y="12692"/>
                      <a:pt x="981" y="13544"/>
                    </a:cubicBezTo>
                    <a:close/>
                  </a:path>
                </a:pathLst>
              </a:custGeom>
              <a:solidFill>
                <a:schemeClr val="tx1">
                  <a:alpha val="30000"/>
                </a:scheme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13" name="Shape">
                <a:extLst>
                  <a:ext uri="{FF2B5EF4-FFF2-40B4-BE49-F238E27FC236}">
                    <a16:creationId xmlns:a16="http://schemas.microsoft.com/office/drawing/2014/main" id="{D895ED9D-75DD-AF6F-E735-D4CF51E1AB05}"/>
                  </a:ext>
                </a:extLst>
              </p:cNvPr>
              <p:cNvSpPr/>
              <p:nvPr/>
            </p:nvSpPr>
            <p:spPr>
              <a:xfrm>
                <a:off x="2374900" y="1676399"/>
                <a:ext cx="2833552" cy="2215897"/>
              </a:xfrm>
              <a:custGeom>
                <a:avLst/>
                <a:gdLst/>
                <a:ahLst/>
                <a:cxnLst>
                  <a:cxn ang="0">
                    <a:pos x="wd2" y="hd2"/>
                  </a:cxn>
                  <a:cxn ang="5400000">
                    <a:pos x="wd2" y="hd2"/>
                  </a:cxn>
                  <a:cxn ang="10800000">
                    <a:pos x="wd2" y="hd2"/>
                  </a:cxn>
                  <a:cxn ang="16200000">
                    <a:pos x="wd2" y="hd2"/>
                  </a:cxn>
                </a:cxnLst>
                <a:rect l="0" t="0" r="r" b="b"/>
                <a:pathLst>
                  <a:path w="21600" h="21600" extrusionOk="0">
                    <a:moveTo>
                      <a:pt x="20002" y="15181"/>
                    </a:moveTo>
                    <a:lnTo>
                      <a:pt x="15468" y="3279"/>
                    </a:lnTo>
                    <a:lnTo>
                      <a:pt x="15072" y="2241"/>
                    </a:lnTo>
                    <a:cubicBezTo>
                      <a:pt x="14305" y="917"/>
                      <a:pt x="12653" y="0"/>
                      <a:pt x="10739" y="0"/>
                    </a:cubicBezTo>
                    <a:cubicBezTo>
                      <a:pt x="8985" y="0"/>
                      <a:pt x="7451" y="770"/>
                      <a:pt x="6616" y="1919"/>
                    </a:cubicBezTo>
                    <a:lnTo>
                      <a:pt x="5960" y="3642"/>
                    </a:lnTo>
                    <a:lnTo>
                      <a:pt x="1535" y="15257"/>
                    </a:lnTo>
                    <a:lnTo>
                      <a:pt x="0" y="19288"/>
                    </a:lnTo>
                    <a:cubicBezTo>
                      <a:pt x="277" y="19491"/>
                      <a:pt x="606" y="19685"/>
                      <a:pt x="981" y="19868"/>
                    </a:cubicBezTo>
                    <a:cubicBezTo>
                      <a:pt x="3118" y="20913"/>
                      <a:pt x="6746" y="21600"/>
                      <a:pt x="10863" y="21600"/>
                    </a:cubicBezTo>
                    <a:cubicBezTo>
                      <a:pt x="14901" y="21600"/>
                      <a:pt x="18469" y="20939"/>
                      <a:pt x="20621" y="19927"/>
                    </a:cubicBezTo>
                    <a:cubicBezTo>
                      <a:pt x="20990" y="19754"/>
                      <a:pt x="21319" y="19569"/>
                      <a:pt x="21600" y="19377"/>
                    </a:cubicBezTo>
                    <a:cubicBezTo>
                      <a:pt x="21600" y="19377"/>
                      <a:pt x="20002" y="15181"/>
                      <a:pt x="20002" y="15181"/>
                    </a:cubicBezTo>
                    <a:close/>
                  </a:path>
                </a:pathLst>
              </a:custGeom>
              <a:gradFill>
                <a:gsLst>
                  <a:gs pos="0">
                    <a:schemeClr val="accent2">
                      <a:lumMod val="75000"/>
                    </a:schemeClr>
                  </a:gs>
                  <a:gs pos="71000">
                    <a:schemeClr val="accent2"/>
                  </a:gs>
                  <a:gs pos="36000">
                    <a:schemeClr val="accent2"/>
                  </a:gs>
                  <a:gs pos="100000">
                    <a:schemeClr val="accent2">
                      <a:lumMod val="75000"/>
                    </a:schemeClr>
                  </a:gs>
                </a:gsLst>
                <a:lin ang="0" scaled="1"/>
              </a:gra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14" name="Shape">
                <a:extLst>
                  <a:ext uri="{FF2B5EF4-FFF2-40B4-BE49-F238E27FC236}">
                    <a16:creationId xmlns:a16="http://schemas.microsoft.com/office/drawing/2014/main" id="{E1097C04-5437-BEB0-24C4-6CC7A01F2701}"/>
                  </a:ext>
                </a:extLst>
              </p:cNvPr>
              <p:cNvSpPr/>
              <p:nvPr/>
            </p:nvSpPr>
            <p:spPr>
              <a:xfrm>
                <a:off x="3162300" y="1676400"/>
                <a:ext cx="1257264" cy="802835"/>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765" y="21600"/>
                      <a:pt x="21600" y="16764"/>
                      <a:pt x="21600" y="10800"/>
                    </a:cubicBezTo>
                    <a:cubicBezTo>
                      <a:pt x="21600" y="10204"/>
                      <a:pt x="21550" y="9620"/>
                      <a:pt x="21457" y="9050"/>
                    </a:cubicBezTo>
                    <a:lnTo>
                      <a:pt x="20566" y="6186"/>
                    </a:lnTo>
                    <a:cubicBezTo>
                      <a:pt x="18835" y="2530"/>
                      <a:pt x="15114" y="0"/>
                      <a:pt x="10800" y="0"/>
                    </a:cubicBezTo>
                    <a:cubicBezTo>
                      <a:pt x="6846" y="0"/>
                      <a:pt x="3389" y="2126"/>
                      <a:pt x="1508" y="5297"/>
                    </a:cubicBezTo>
                    <a:lnTo>
                      <a:pt x="29" y="10052"/>
                    </a:lnTo>
                    <a:cubicBezTo>
                      <a:pt x="12" y="10299"/>
                      <a:pt x="0" y="10548"/>
                      <a:pt x="0" y="10800"/>
                    </a:cubicBezTo>
                    <a:cubicBezTo>
                      <a:pt x="0" y="16764"/>
                      <a:pt x="4835" y="21600"/>
                      <a:pt x="10800" y="21600"/>
                    </a:cubicBezTo>
                    <a:close/>
                  </a:path>
                </a:pathLst>
              </a:custGeom>
              <a:solidFill>
                <a:srgbClr val="000000">
                  <a:alpha val="30000"/>
                </a:srgb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15" name="Shape">
                <a:extLst>
                  <a:ext uri="{FF2B5EF4-FFF2-40B4-BE49-F238E27FC236}">
                    <a16:creationId xmlns:a16="http://schemas.microsoft.com/office/drawing/2014/main" id="{E10A8087-5ACA-CA49-E5D2-F6E5CA1AAC3C}"/>
                  </a:ext>
                </a:extLst>
              </p:cNvPr>
              <p:cNvSpPr/>
              <p:nvPr/>
            </p:nvSpPr>
            <p:spPr>
              <a:xfrm>
                <a:off x="3314700" y="1676399"/>
                <a:ext cx="960724" cy="330598"/>
              </a:xfrm>
              <a:custGeom>
                <a:avLst/>
                <a:gdLst/>
                <a:ahLst/>
                <a:cxnLst>
                  <a:cxn ang="0">
                    <a:pos x="wd2" y="hd2"/>
                  </a:cxn>
                  <a:cxn ang="5400000">
                    <a:pos x="wd2" y="hd2"/>
                  </a:cxn>
                  <a:cxn ang="10800000">
                    <a:pos x="wd2" y="hd2"/>
                  </a:cxn>
                  <a:cxn ang="16200000">
                    <a:pos x="wd2" y="hd2"/>
                  </a:cxn>
                </a:cxnLst>
                <a:rect l="0" t="0" r="r" b="b"/>
                <a:pathLst>
                  <a:path w="21600" h="21600" extrusionOk="0">
                    <a:moveTo>
                      <a:pt x="1392" y="14651"/>
                    </a:moveTo>
                    <a:cubicBezTo>
                      <a:pt x="3911" y="18963"/>
                      <a:pt x="7275" y="21600"/>
                      <a:pt x="10972" y="21600"/>
                    </a:cubicBezTo>
                    <a:cubicBezTo>
                      <a:pt x="14492" y="21600"/>
                      <a:pt x="17709" y="19207"/>
                      <a:pt x="20183" y="15257"/>
                    </a:cubicBezTo>
                    <a:cubicBezTo>
                      <a:pt x="20687" y="14451"/>
                      <a:pt x="21161" y="13581"/>
                      <a:pt x="21600" y="12652"/>
                    </a:cubicBezTo>
                    <a:lnTo>
                      <a:pt x="20851" y="8181"/>
                    </a:lnTo>
                    <a:cubicBezTo>
                      <a:pt x="18276" y="3149"/>
                      <a:pt x="14643" y="0"/>
                      <a:pt x="10608" y="0"/>
                    </a:cubicBezTo>
                    <a:cubicBezTo>
                      <a:pt x="6769" y="0"/>
                      <a:pt x="3291" y="2846"/>
                      <a:pt x="745" y="7457"/>
                    </a:cubicBezTo>
                    <a:lnTo>
                      <a:pt x="0" y="11900"/>
                    </a:lnTo>
                    <a:cubicBezTo>
                      <a:pt x="428" y="12878"/>
                      <a:pt x="894" y="13797"/>
                      <a:pt x="1392" y="14651"/>
                    </a:cubicBezTo>
                    <a:close/>
                  </a:path>
                </a:pathLst>
              </a:custGeom>
              <a:solidFill>
                <a:schemeClr val="tx1">
                  <a:alpha val="30000"/>
                </a:schemeClr>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17" name="Shape">
                <a:extLst>
                  <a:ext uri="{FF2B5EF4-FFF2-40B4-BE49-F238E27FC236}">
                    <a16:creationId xmlns:a16="http://schemas.microsoft.com/office/drawing/2014/main" id="{E27CAF25-AB69-4BAB-CD24-5492A0B8763E}"/>
                  </a:ext>
                </a:extLst>
              </p:cNvPr>
              <p:cNvSpPr/>
              <p:nvPr/>
            </p:nvSpPr>
            <p:spPr>
              <a:xfrm>
                <a:off x="3314700" y="749300"/>
                <a:ext cx="960724" cy="1128831"/>
              </a:xfrm>
              <a:custGeom>
                <a:avLst/>
                <a:gdLst/>
                <a:ahLst/>
                <a:cxnLst>
                  <a:cxn ang="0">
                    <a:pos x="wd2" y="hd2"/>
                  </a:cxn>
                  <a:cxn ang="5400000">
                    <a:pos x="wd2" y="hd2"/>
                  </a:cxn>
                  <a:cxn ang="10800000">
                    <a:pos x="wd2" y="hd2"/>
                  </a:cxn>
                  <a:cxn ang="16200000">
                    <a:pos x="wd2" y="hd2"/>
                  </a:cxn>
                </a:cxnLst>
                <a:rect l="0" t="0" r="r" b="b"/>
                <a:pathLst>
                  <a:path w="21600" h="21600" extrusionOk="0">
                    <a:moveTo>
                      <a:pt x="14441" y="6472"/>
                    </a:moveTo>
                    <a:lnTo>
                      <a:pt x="10737" y="0"/>
                    </a:lnTo>
                    <a:lnTo>
                      <a:pt x="6988" y="6549"/>
                    </a:lnTo>
                    <a:lnTo>
                      <a:pt x="0" y="18759"/>
                    </a:lnTo>
                    <a:cubicBezTo>
                      <a:pt x="428" y="19046"/>
                      <a:pt x="894" y="19315"/>
                      <a:pt x="1392" y="19565"/>
                    </a:cubicBezTo>
                    <a:cubicBezTo>
                      <a:pt x="3911" y="20828"/>
                      <a:pt x="7275" y="21600"/>
                      <a:pt x="10972" y="21600"/>
                    </a:cubicBezTo>
                    <a:cubicBezTo>
                      <a:pt x="14492" y="21600"/>
                      <a:pt x="17709" y="20899"/>
                      <a:pt x="20183" y="19742"/>
                    </a:cubicBezTo>
                    <a:cubicBezTo>
                      <a:pt x="20687" y="19506"/>
                      <a:pt x="21161" y="19252"/>
                      <a:pt x="21600" y="18980"/>
                    </a:cubicBezTo>
                    <a:cubicBezTo>
                      <a:pt x="21600" y="18980"/>
                      <a:pt x="14441" y="6472"/>
                      <a:pt x="14441" y="6472"/>
                    </a:cubicBezTo>
                    <a:close/>
                  </a:path>
                </a:pathLst>
              </a:custGeom>
              <a:gradFill flip="none" rotWithShape="1">
                <a:gsLst>
                  <a:gs pos="0">
                    <a:schemeClr val="accent1">
                      <a:lumMod val="75000"/>
                    </a:schemeClr>
                  </a:gs>
                  <a:gs pos="70000">
                    <a:schemeClr val="accent1"/>
                  </a:gs>
                  <a:gs pos="32000">
                    <a:schemeClr val="accent1"/>
                  </a:gs>
                  <a:gs pos="100000">
                    <a:schemeClr val="accent1">
                      <a:lumMod val="75000"/>
                    </a:schemeClr>
                  </a:gs>
                </a:gsLst>
                <a:lin ang="0" scaled="1"/>
                <a:tileRect/>
              </a:gra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grpSp>
        <p:sp>
          <p:nvSpPr>
            <p:cNvPr id="25" name="Shape">
              <a:extLst>
                <a:ext uri="{FF2B5EF4-FFF2-40B4-BE49-F238E27FC236}">
                  <a16:creationId xmlns:a16="http://schemas.microsoft.com/office/drawing/2014/main" id="{E9107857-9297-A739-904E-837112161FF8}"/>
                </a:ext>
              </a:extLst>
            </p:cNvPr>
            <p:cNvSpPr/>
            <p:nvPr/>
          </p:nvSpPr>
          <p:spPr>
            <a:xfrm>
              <a:off x="8874358" y="5256996"/>
              <a:ext cx="534260" cy="463388"/>
            </a:xfrm>
            <a:custGeom>
              <a:avLst/>
              <a:gdLst/>
              <a:ahLst/>
              <a:cxnLst>
                <a:cxn ang="0">
                  <a:pos x="wd2" y="hd2"/>
                </a:cxn>
                <a:cxn ang="5400000">
                  <a:pos x="wd2" y="hd2"/>
                </a:cxn>
                <a:cxn ang="10800000">
                  <a:pos x="wd2" y="hd2"/>
                </a:cxn>
                <a:cxn ang="16200000">
                  <a:pos x="wd2" y="hd2"/>
                </a:cxn>
              </a:cxnLst>
              <a:rect l="0" t="0" r="r" b="b"/>
              <a:pathLst>
                <a:path w="21410" h="21600" extrusionOk="0">
                  <a:moveTo>
                    <a:pt x="15589" y="0"/>
                  </a:moveTo>
                  <a:cubicBezTo>
                    <a:pt x="15199" y="0"/>
                    <a:pt x="14833" y="180"/>
                    <a:pt x="14557" y="501"/>
                  </a:cubicBezTo>
                  <a:lnTo>
                    <a:pt x="13534" y="1691"/>
                  </a:lnTo>
                  <a:cubicBezTo>
                    <a:pt x="13377" y="1875"/>
                    <a:pt x="13263" y="2088"/>
                    <a:pt x="13193" y="2318"/>
                  </a:cubicBezTo>
                  <a:lnTo>
                    <a:pt x="8400" y="1315"/>
                  </a:lnTo>
                  <a:cubicBezTo>
                    <a:pt x="6244" y="818"/>
                    <a:pt x="4140" y="2452"/>
                    <a:pt x="3706" y="4959"/>
                  </a:cubicBezTo>
                  <a:lnTo>
                    <a:pt x="3491" y="6233"/>
                  </a:lnTo>
                  <a:cubicBezTo>
                    <a:pt x="3247" y="7641"/>
                    <a:pt x="4030" y="9018"/>
                    <a:pt x="5241" y="9302"/>
                  </a:cubicBezTo>
                  <a:cubicBezTo>
                    <a:pt x="6452" y="9585"/>
                    <a:pt x="7635" y="8674"/>
                    <a:pt x="7880" y="7266"/>
                  </a:cubicBezTo>
                  <a:lnTo>
                    <a:pt x="8014" y="6483"/>
                  </a:lnTo>
                  <a:lnTo>
                    <a:pt x="10159" y="6702"/>
                  </a:lnTo>
                  <a:lnTo>
                    <a:pt x="15778" y="13227"/>
                  </a:lnTo>
                  <a:lnTo>
                    <a:pt x="16792" y="14407"/>
                  </a:lnTo>
                  <a:cubicBezTo>
                    <a:pt x="16998" y="14647"/>
                    <a:pt x="16998" y="15045"/>
                    <a:pt x="16792" y="15284"/>
                  </a:cubicBezTo>
                  <a:cubicBezTo>
                    <a:pt x="16586" y="15524"/>
                    <a:pt x="16253" y="15524"/>
                    <a:pt x="16047" y="15284"/>
                  </a:cubicBezTo>
                  <a:lnTo>
                    <a:pt x="13319" y="12110"/>
                  </a:lnTo>
                  <a:cubicBezTo>
                    <a:pt x="13129" y="11890"/>
                    <a:pt x="12826" y="11890"/>
                    <a:pt x="12637" y="12110"/>
                  </a:cubicBezTo>
                  <a:cubicBezTo>
                    <a:pt x="12447" y="12331"/>
                    <a:pt x="12447" y="12694"/>
                    <a:pt x="12637" y="12914"/>
                  </a:cubicBezTo>
                  <a:lnTo>
                    <a:pt x="15356" y="16077"/>
                  </a:lnTo>
                  <a:cubicBezTo>
                    <a:pt x="15456" y="16193"/>
                    <a:pt x="15509" y="16352"/>
                    <a:pt x="15509" y="16516"/>
                  </a:cubicBezTo>
                  <a:cubicBezTo>
                    <a:pt x="15509" y="16680"/>
                    <a:pt x="15456" y="16828"/>
                    <a:pt x="15356" y="16944"/>
                  </a:cubicBezTo>
                  <a:cubicBezTo>
                    <a:pt x="15150" y="17184"/>
                    <a:pt x="14817" y="17183"/>
                    <a:pt x="14611" y="16944"/>
                  </a:cubicBezTo>
                  <a:lnTo>
                    <a:pt x="11883" y="13781"/>
                  </a:lnTo>
                  <a:cubicBezTo>
                    <a:pt x="11693" y="13560"/>
                    <a:pt x="11390" y="13560"/>
                    <a:pt x="11200" y="13781"/>
                  </a:cubicBezTo>
                  <a:cubicBezTo>
                    <a:pt x="11011" y="14001"/>
                    <a:pt x="11011" y="14363"/>
                    <a:pt x="11200" y="14584"/>
                  </a:cubicBezTo>
                  <a:lnTo>
                    <a:pt x="13920" y="17748"/>
                  </a:lnTo>
                  <a:cubicBezTo>
                    <a:pt x="14126" y="17987"/>
                    <a:pt x="14126" y="18375"/>
                    <a:pt x="13920" y="18614"/>
                  </a:cubicBezTo>
                  <a:cubicBezTo>
                    <a:pt x="13820" y="18731"/>
                    <a:pt x="13693" y="18802"/>
                    <a:pt x="13552" y="18802"/>
                  </a:cubicBezTo>
                  <a:cubicBezTo>
                    <a:pt x="13411" y="18802"/>
                    <a:pt x="13275" y="18731"/>
                    <a:pt x="13175" y="18614"/>
                  </a:cubicBezTo>
                  <a:lnTo>
                    <a:pt x="10447" y="15451"/>
                  </a:lnTo>
                  <a:cubicBezTo>
                    <a:pt x="10257" y="15230"/>
                    <a:pt x="9954" y="15230"/>
                    <a:pt x="9764" y="15451"/>
                  </a:cubicBezTo>
                  <a:cubicBezTo>
                    <a:pt x="9575" y="15672"/>
                    <a:pt x="9575" y="16024"/>
                    <a:pt x="9764" y="16244"/>
                  </a:cubicBezTo>
                  <a:lnTo>
                    <a:pt x="12484" y="19418"/>
                  </a:lnTo>
                  <a:cubicBezTo>
                    <a:pt x="12690" y="19658"/>
                    <a:pt x="12690" y="20045"/>
                    <a:pt x="12484" y="20285"/>
                  </a:cubicBezTo>
                  <a:cubicBezTo>
                    <a:pt x="12278" y="20524"/>
                    <a:pt x="11945" y="20524"/>
                    <a:pt x="11739" y="20285"/>
                  </a:cubicBezTo>
                  <a:lnTo>
                    <a:pt x="2099" y="9072"/>
                  </a:lnTo>
                  <a:lnTo>
                    <a:pt x="825" y="7590"/>
                  </a:lnTo>
                  <a:cubicBezTo>
                    <a:pt x="635" y="7369"/>
                    <a:pt x="332" y="7369"/>
                    <a:pt x="143" y="7590"/>
                  </a:cubicBezTo>
                  <a:cubicBezTo>
                    <a:pt x="-47" y="7810"/>
                    <a:pt x="-47" y="8173"/>
                    <a:pt x="143" y="8394"/>
                  </a:cubicBezTo>
                  <a:lnTo>
                    <a:pt x="1417" y="9876"/>
                  </a:lnTo>
                  <a:lnTo>
                    <a:pt x="2799" y="11484"/>
                  </a:lnTo>
                  <a:lnTo>
                    <a:pt x="2037" y="12371"/>
                  </a:lnTo>
                  <a:cubicBezTo>
                    <a:pt x="1786" y="12662"/>
                    <a:pt x="1651" y="13046"/>
                    <a:pt x="1651" y="13457"/>
                  </a:cubicBezTo>
                  <a:cubicBezTo>
                    <a:pt x="1651" y="13868"/>
                    <a:pt x="1786" y="14262"/>
                    <a:pt x="2037" y="14553"/>
                  </a:cubicBezTo>
                  <a:lnTo>
                    <a:pt x="2288" y="14835"/>
                  </a:lnTo>
                  <a:cubicBezTo>
                    <a:pt x="2507" y="15089"/>
                    <a:pt x="2783" y="15249"/>
                    <a:pt x="3087" y="15284"/>
                  </a:cubicBezTo>
                  <a:cubicBezTo>
                    <a:pt x="3117" y="15637"/>
                    <a:pt x="3254" y="15969"/>
                    <a:pt x="3473" y="16223"/>
                  </a:cubicBezTo>
                  <a:lnTo>
                    <a:pt x="3715" y="16505"/>
                  </a:lnTo>
                  <a:cubicBezTo>
                    <a:pt x="3939" y="16766"/>
                    <a:pt x="4229" y="16921"/>
                    <a:pt x="4523" y="16954"/>
                  </a:cubicBezTo>
                  <a:cubicBezTo>
                    <a:pt x="4553" y="17308"/>
                    <a:pt x="4690" y="17629"/>
                    <a:pt x="4909" y="17883"/>
                  </a:cubicBezTo>
                  <a:lnTo>
                    <a:pt x="5151" y="18176"/>
                  </a:lnTo>
                  <a:cubicBezTo>
                    <a:pt x="5370" y="18430"/>
                    <a:pt x="5655" y="18590"/>
                    <a:pt x="5959" y="18625"/>
                  </a:cubicBezTo>
                  <a:cubicBezTo>
                    <a:pt x="5989" y="18978"/>
                    <a:pt x="6117" y="19299"/>
                    <a:pt x="6336" y="19554"/>
                  </a:cubicBezTo>
                  <a:lnTo>
                    <a:pt x="6587" y="19846"/>
                  </a:lnTo>
                  <a:cubicBezTo>
                    <a:pt x="6845" y="20147"/>
                    <a:pt x="7181" y="20295"/>
                    <a:pt x="7521" y="20295"/>
                  </a:cubicBezTo>
                  <a:cubicBezTo>
                    <a:pt x="7859" y="20295"/>
                    <a:pt x="8205" y="20147"/>
                    <a:pt x="8463" y="19846"/>
                  </a:cubicBezTo>
                  <a:lnTo>
                    <a:pt x="9226" y="18959"/>
                  </a:lnTo>
                  <a:lnTo>
                    <a:pt x="11057" y="21088"/>
                  </a:lnTo>
                  <a:cubicBezTo>
                    <a:pt x="11340" y="21418"/>
                    <a:pt x="11715" y="21600"/>
                    <a:pt x="12116" y="21600"/>
                  </a:cubicBezTo>
                  <a:cubicBezTo>
                    <a:pt x="12517" y="21600"/>
                    <a:pt x="12891" y="21418"/>
                    <a:pt x="13175" y="21088"/>
                  </a:cubicBezTo>
                  <a:cubicBezTo>
                    <a:pt x="13443" y="20776"/>
                    <a:pt x="13599" y="20358"/>
                    <a:pt x="13615" y="19919"/>
                  </a:cubicBezTo>
                  <a:cubicBezTo>
                    <a:pt x="13992" y="19901"/>
                    <a:pt x="14343" y="19730"/>
                    <a:pt x="14611" y="19418"/>
                  </a:cubicBezTo>
                  <a:cubicBezTo>
                    <a:pt x="14888" y="19096"/>
                    <a:pt x="15027" y="18681"/>
                    <a:pt x="15042" y="18259"/>
                  </a:cubicBezTo>
                  <a:cubicBezTo>
                    <a:pt x="15405" y="18242"/>
                    <a:pt x="15770" y="18069"/>
                    <a:pt x="16047" y="17748"/>
                  </a:cubicBezTo>
                  <a:cubicBezTo>
                    <a:pt x="16324" y="17426"/>
                    <a:pt x="16463" y="17011"/>
                    <a:pt x="16478" y="16589"/>
                  </a:cubicBezTo>
                  <a:cubicBezTo>
                    <a:pt x="16841" y="16571"/>
                    <a:pt x="17198" y="16399"/>
                    <a:pt x="17474" y="16077"/>
                  </a:cubicBezTo>
                  <a:cubicBezTo>
                    <a:pt x="18059" y="15397"/>
                    <a:pt x="18059" y="14294"/>
                    <a:pt x="17474" y="13614"/>
                  </a:cubicBezTo>
                  <a:lnTo>
                    <a:pt x="16801" y="12831"/>
                  </a:lnTo>
                  <a:lnTo>
                    <a:pt x="20984" y="7966"/>
                  </a:lnTo>
                  <a:cubicBezTo>
                    <a:pt x="21553" y="7303"/>
                    <a:pt x="21553" y="6227"/>
                    <a:pt x="20984" y="5564"/>
                  </a:cubicBezTo>
                  <a:lnTo>
                    <a:pt x="16622" y="501"/>
                  </a:lnTo>
                  <a:cubicBezTo>
                    <a:pt x="16346" y="180"/>
                    <a:pt x="15980" y="0"/>
                    <a:pt x="15589" y="0"/>
                  </a:cubicBezTo>
                  <a:close/>
                  <a:moveTo>
                    <a:pt x="15589" y="1128"/>
                  </a:moveTo>
                  <a:cubicBezTo>
                    <a:pt x="15720" y="1128"/>
                    <a:pt x="15847" y="1187"/>
                    <a:pt x="15939" y="1295"/>
                  </a:cubicBezTo>
                  <a:lnTo>
                    <a:pt x="20293" y="6368"/>
                  </a:lnTo>
                  <a:cubicBezTo>
                    <a:pt x="20385" y="6476"/>
                    <a:pt x="20436" y="6613"/>
                    <a:pt x="20436" y="6765"/>
                  </a:cubicBezTo>
                  <a:cubicBezTo>
                    <a:pt x="20436" y="6917"/>
                    <a:pt x="20385" y="7065"/>
                    <a:pt x="20293" y="7172"/>
                  </a:cubicBezTo>
                  <a:lnTo>
                    <a:pt x="18928" y="8769"/>
                  </a:lnTo>
                  <a:lnTo>
                    <a:pt x="14225" y="3289"/>
                  </a:lnTo>
                  <a:cubicBezTo>
                    <a:pt x="14133" y="3181"/>
                    <a:pt x="14082" y="3043"/>
                    <a:pt x="14082" y="2892"/>
                  </a:cubicBezTo>
                  <a:cubicBezTo>
                    <a:pt x="14082" y="2739"/>
                    <a:pt x="14133" y="2592"/>
                    <a:pt x="14225" y="2485"/>
                  </a:cubicBezTo>
                  <a:lnTo>
                    <a:pt x="15248" y="1295"/>
                  </a:lnTo>
                  <a:cubicBezTo>
                    <a:pt x="15341" y="1187"/>
                    <a:pt x="15459" y="1128"/>
                    <a:pt x="15589" y="1128"/>
                  </a:cubicBezTo>
                  <a:close/>
                  <a:moveTo>
                    <a:pt x="7018" y="2432"/>
                  </a:moveTo>
                  <a:cubicBezTo>
                    <a:pt x="7402" y="2341"/>
                    <a:pt x="7812" y="2337"/>
                    <a:pt x="8221" y="2432"/>
                  </a:cubicBezTo>
                  <a:cubicBezTo>
                    <a:pt x="8224" y="2433"/>
                    <a:pt x="8226" y="2432"/>
                    <a:pt x="8230" y="2432"/>
                  </a:cubicBezTo>
                  <a:lnTo>
                    <a:pt x="12951" y="3414"/>
                  </a:lnTo>
                  <a:lnTo>
                    <a:pt x="18237" y="9563"/>
                  </a:lnTo>
                  <a:cubicBezTo>
                    <a:pt x="18237" y="9563"/>
                    <a:pt x="16119" y="12027"/>
                    <a:pt x="16119" y="12027"/>
                  </a:cubicBezTo>
                  <a:lnTo>
                    <a:pt x="10725" y="5752"/>
                  </a:lnTo>
                  <a:cubicBezTo>
                    <a:pt x="10644" y="5658"/>
                    <a:pt x="10533" y="5607"/>
                    <a:pt x="10420" y="5596"/>
                  </a:cubicBezTo>
                  <a:lnTo>
                    <a:pt x="7664" y="5314"/>
                  </a:lnTo>
                  <a:cubicBezTo>
                    <a:pt x="7650" y="5313"/>
                    <a:pt x="7633" y="5314"/>
                    <a:pt x="7619" y="5314"/>
                  </a:cubicBezTo>
                  <a:cubicBezTo>
                    <a:pt x="7390" y="5314"/>
                    <a:pt x="7190" y="5498"/>
                    <a:pt x="7144" y="5763"/>
                  </a:cubicBezTo>
                  <a:lnTo>
                    <a:pt x="6928" y="7036"/>
                  </a:lnTo>
                  <a:cubicBezTo>
                    <a:pt x="6790" y="7833"/>
                    <a:pt x="6115" y="8356"/>
                    <a:pt x="5429" y="8195"/>
                  </a:cubicBezTo>
                  <a:cubicBezTo>
                    <a:pt x="5097" y="8118"/>
                    <a:pt x="4809" y="7897"/>
                    <a:pt x="4621" y="7569"/>
                  </a:cubicBezTo>
                  <a:cubicBezTo>
                    <a:pt x="4434" y="7241"/>
                    <a:pt x="4375" y="6838"/>
                    <a:pt x="4442" y="6452"/>
                  </a:cubicBezTo>
                  <a:lnTo>
                    <a:pt x="4657" y="5178"/>
                  </a:lnTo>
                  <a:cubicBezTo>
                    <a:pt x="4904" y="3753"/>
                    <a:pt x="5864" y="2707"/>
                    <a:pt x="7018" y="2432"/>
                  </a:cubicBezTo>
                  <a:close/>
                  <a:moveTo>
                    <a:pt x="19153" y="6347"/>
                  </a:moveTo>
                  <a:cubicBezTo>
                    <a:pt x="18884" y="6347"/>
                    <a:pt x="18668" y="6599"/>
                    <a:pt x="18668" y="6911"/>
                  </a:cubicBezTo>
                  <a:cubicBezTo>
                    <a:pt x="18668" y="7223"/>
                    <a:pt x="18884" y="7475"/>
                    <a:pt x="19153" y="7475"/>
                  </a:cubicBezTo>
                  <a:cubicBezTo>
                    <a:pt x="19421" y="7475"/>
                    <a:pt x="19637" y="7223"/>
                    <a:pt x="19637" y="6911"/>
                  </a:cubicBezTo>
                  <a:cubicBezTo>
                    <a:pt x="19637" y="6599"/>
                    <a:pt x="19421" y="6347"/>
                    <a:pt x="19153" y="6347"/>
                  </a:cubicBezTo>
                  <a:close/>
                  <a:moveTo>
                    <a:pt x="3437" y="12340"/>
                  </a:moveTo>
                  <a:lnTo>
                    <a:pt x="4191" y="13206"/>
                  </a:lnTo>
                  <a:lnTo>
                    <a:pt x="3473" y="14042"/>
                  </a:lnTo>
                  <a:cubicBezTo>
                    <a:pt x="3335" y="14201"/>
                    <a:pt x="3107" y="14201"/>
                    <a:pt x="2970" y="14042"/>
                  </a:cubicBezTo>
                  <a:cubicBezTo>
                    <a:pt x="2970" y="14042"/>
                    <a:pt x="2719" y="13749"/>
                    <a:pt x="2719" y="13749"/>
                  </a:cubicBezTo>
                  <a:cubicBezTo>
                    <a:pt x="2582" y="13590"/>
                    <a:pt x="2582" y="13335"/>
                    <a:pt x="2719" y="13175"/>
                  </a:cubicBezTo>
                  <a:lnTo>
                    <a:pt x="3437" y="12340"/>
                  </a:lnTo>
                  <a:close/>
                  <a:moveTo>
                    <a:pt x="4873" y="14010"/>
                  </a:moveTo>
                  <a:lnTo>
                    <a:pt x="5618" y="14877"/>
                  </a:lnTo>
                  <a:lnTo>
                    <a:pt x="4909" y="15712"/>
                  </a:lnTo>
                  <a:cubicBezTo>
                    <a:pt x="4771" y="15871"/>
                    <a:pt x="4543" y="15871"/>
                    <a:pt x="4406" y="15712"/>
                  </a:cubicBezTo>
                  <a:cubicBezTo>
                    <a:pt x="4406" y="15712"/>
                    <a:pt x="4155" y="15420"/>
                    <a:pt x="4155" y="15420"/>
                  </a:cubicBezTo>
                  <a:cubicBezTo>
                    <a:pt x="4018" y="15260"/>
                    <a:pt x="4018" y="14995"/>
                    <a:pt x="4155" y="14835"/>
                  </a:cubicBezTo>
                  <a:lnTo>
                    <a:pt x="4873" y="14010"/>
                  </a:lnTo>
                  <a:close/>
                  <a:moveTo>
                    <a:pt x="6309" y="15670"/>
                  </a:moveTo>
                  <a:lnTo>
                    <a:pt x="7054" y="16547"/>
                  </a:lnTo>
                  <a:lnTo>
                    <a:pt x="6336" y="17372"/>
                  </a:lnTo>
                  <a:cubicBezTo>
                    <a:pt x="6199" y="17532"/>
                    <a:pt x="5979" y="17532"/>
                    <a:pt x="5842" y="17372"/>
                  </a:cubicBezTo>
                  <a:cubicBezTo>
                    <a:pt x="5842" y="17372"/>
                    <a:pt x="5591" y="17090"/>
                    <a:pt x="5591" y="17090"/>
                  </a:cubicBezTo>
                  <a:cubicBezTo>
                    <a:pt x="5525" y="17012"/>
                    <a:pt x="5492" y="16907"/>
                    <a:pt x="5492" y="16798"/>
                  </a:cubicBezTo>
                  <a:cubicBezTo>
                    <a:pt x="5492" y="16688"/>
                    <a:pt x="5525" y="16583"/>
                    <a:pt x="5591" y="16505"/>
                  </a:cubicBezTo>
                  <a:lnTo>
                    <a:pt x="6309" y="15670"/>
                  </a:lnTo>
                  <a:close/>
                  <a:moveTo>
                    <a:pt x="7745" y="17341"/>
                  </a:moveTo>
                  <a:lnTo>
                    <a:pt x="8490" y="18207"/>
                  </a:lnTo>
                  <a:cubicBezTo>
                    <a:pt x="8490" y="18207"/>
                    <a:pt x="7772" y="19042"/>
                    <a:pt x="7772" y="19042"/>
                  </a:cubicBezTo>
                  <a:cubicBezTo>
                    <a:pt x="7634" y="19201"/>
                    <a:pt x="7416" y="19201"/>
                    <a:pt x="7278" y="19042"/>
                  </a:cubicBezTo>
                  <a:lnTo>
                    <a:pt x="7027" y="18760"/>
                  </a:lnTo>
                  <a:cubicBezTo>
                    <a:pt x="6890" y="18600"/>
                    <a:pt x="6890" y="18335"/>
                    <a:pt x="7027" y="18176"/>
                  </a:cubicBezTo>
                  <a:lnTo>
                    <a:pt x="7745" y="17341"/>
                  </a:lnTo>
                  <a:close/>
                </a:path>
              </a:pathLst>
            </a:custGeom>
            <a:solidFill>
              <a:schemeClr val="bg1"/>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26" name="Shape">
              <a:extLst>
                <a:ext uri="{FF2B5EF4-FFF2-40B4-BE49-F238E27FC236}">
                  <a16:creationId xmlns:a16="http://schemas.microsoft.com/office/drawing/2014/main" id="{7EDDC229-757D-BD86-8B02-4A3AD6CC6806}"/>
                </a:ext>
              </a:extLst>
            </p:cNvPr>
            <p:cNvSpPr/>
            <p:nvPr/>
          </p:nvSpPr>
          <p:spPr>
            <a:xfrm>
              <a:off x="8940306" y="2219144"/>
              <a:ext cx="455671" cy="480309"/>
            </a:xfrm>
            <a:custGeom>
              <a:avLst/>
              <a:gdLst/>
              <a:ahLst/>
              <a:cxnLst>
                <a:cxn ang="0">
                  <a:pos x="wd2" y="hd2"/>
                </a:cxn>
                <a:cxn ang="5400000">
                  <a:pos x="wd2" y="hd2"/>
                </a:cxn>
                <a:cxn ang="10800000">
                  <a:pos x="wd2" y="hd2"/>
                </a:cxn>
                <a:cxn ang="16200000">
                  <a:pos x="wd2" y="hd2"/>
                </a:cxn>
              </a:cxnLst>
              <a:rect l="0" t="0" r="r" b="b"/>
              <a:pathLst>
                <a:path w="21600" h="21600" extrusionOk="0">
                  <a:moveTo>
                    <a:pt x="9623" y="0"/>
                  </a:moveTo>
                  <a:cubicBezTo>
                    <a:pt x="8433" y="0"/>
                    <a:pt x="7285" y="343"/>
                    <a:pt x="6302" y="980"/>
                  </a:cubicBezTo>
                  <a:lnTo>
                    <a:pt x="1081" y="4358"/>
                  </a:lnTo>
                  <a:cubicBezTo>
                    <a:pt x="598" y="4671"/>
                    <a:pt x="309" y="5196"/>
                    <a:pt x="309" y="5750"/>
                  </a:cubicBezTo>
                  <a:cubicBezTo>
                    <a:pt x="309" y="6332"/>
                    <a:pt x="619" y="6861"/>
                    <a:pt x="1139" y="7169"/>
                  </a:cubicBezTo>
                  <a:cubicBezTo>
                    <a:pt x="1659" y="7478"/>
                    <a:pt x="2286" y="7507"/>
                    <a:pt x="2838" y="7252"/>
                  </a:cubicBezTo>
                  <a:lnTo>
                    <a:pt x="6698" y="5457"/>
                  </a:lnTo>
                  <a:lnTo>
                    <a:pt x="6698" y="5650"/>
                  </a:lnTo>
                  <a:cubicBezTo>
                    <a:pt x="6698" y="6589"/>
                    <a:pt x="7542" y="7362"/>
                    <a:pt x="8532" y="7362"/>
                  </a:cubicBezTo>
                  <a:lnTo>
                    <a:pt x="12315" y="7362"/>
                  </a:lnTo>
                  <a:cubicBezTo>
                    <a:pt x="13087" y="7362"/>
                    <a:pt x="13837" y="7475"/>
                    <a:pt x="14574" y="7691"/>
                  </a:cubicBezTo>
                  <a:lnTo>
                    <a:pt x="16996" y="8396"/>
                  </a:lnTo>
                  <a:lnTo>
                    <a:pt x="16996" y="9340"/>
                  </a:lnTo>
                  <a:cubicBezTo>
                    <a:pt x="16996" y="9641"/>
                    <a:pt x="17287" y="9880"/>
                    <a:pt x="17604" y="9880"/>
                  </a:cubicBezTo>
                  <a:lnTo>
                    <a:pt x="21050" y="9880"/>
                  </a:lnTo>
                  <a:cubicBezTo>
                    <a:pt x="21367" y="9880"/>
                    <a:pt x="21600" y="9641"/>
                    <a:pt x="21600" y="9340"/>
                  </a:cubicBezTo>
                  <a:lnTo>
                    <a:pt x="21600" y="668"/>
                  </a:lnTo>
                  <a:cubicBezTo>
                    <a:pt x="21600" y="367"/>
                    <a:pt x="21368" y="110"/>
                    <a:pt x="21050" y="110"/>
                  </a:cubicBezTo>
                  <a:lnTo>
                    <a:pt x="17604" y="110"/>
                  </a:lnTo>
                  <a:cubicBezTo>
                    <a:pt x="17287" y="110"/>
                    <a:pt x="16996" y="367"/>
                    <a:pt x="16996" y="668"/>
                  </a:cubicBezTo>
                  <a:lnTo>
                    <a:pt x="16996" y="1538"/>
                  </a:lnTo>
                  <a:lnTo>
                    <a:pt x="16620" y="1236"/>
                  </a:lnTo>
                  <a:cubicBezTo>
                    <a:pt x="15577" y="441"/>
                    <a:pt x="14290" y="0"/>
                    <a:pt x="12952" y="0"/>
                  </a:cubicBezTo>
                  <a:lnTo>
                    <a:pt x="9623" y="0"/>
                  </a:lnTo>
                  <a:close/>
                  <a:moveTo>
                    <a:pt x="9623" y="1090"/>
                  </a:moveTo>
                  <a:lnTo>
                    <a:pt x="12952" y="1090"/>
                  </a:lnTo>
                  <a:cubicBezTo>
                    <a:pt x="14029" y="1090"/>
                    <a:pt x="15067" y="1448"/>
                    <a:pt x="15906" y="2088"/>
                  </a:cubicBezTo>
                  <a:lnTo>
                    <a:pt x="16996" y="2939"/>
                  </a:lnTo>
                  <a:lnTo>
                    <a:pt x="16996" y="7252"/>
                  </a:lnTo>
                  <a:lnTo>
                    <a:pt x="14912" y="6648"/>
                  </a:lnTo>
                  <a:cubicBezTo>
                    <a:pt x="14064" y="6399"/>
                    <a:pt x="13202" y="6272"/>
                    <a:pt x="12315" y="6272"/>
                  </a:cubicBezTo>
                  <a:lnTo>
                    <a:pt x="8532" y="6272"/>
                  </a:lnTo>
                  <a:cubicBezTo>
                    <a:pt x="8176" y="6272"/>
                    <a:pt x="7856" y="5987"/>
                    <a:pt x="7856" y="5650"/>
                  </a:cubicBezTo>
                  <a:lnTo>
                    <a:pt x="7856" y="4990"/>
                  </a:lnTo>
                  <a:cubicBezTo>
                    <a:pt x="8604" y="4811"/>
                    <a:pt x="10198" y="4494"/>
                    <a:pt x="11833" y="4743"/>
                  </a:cubicBezTo>
                  <a:cubicBezTo>
                    <a:pt x="12146" y="4791"/>
                    <a:pt x="12448" y="4592"/>
                    <a:pt x="12499" y="4294"/>
                  </a:cubicBezTo>
                  <a:cubicBezTo>
                    <a:pt x="12549" y="3997"/>
                    <a:pt x="12339" y="3720"/>
                    <a:pt x="12026" y="3672"/>
                  </a:cubicBezTo>
                  <a:cubicBezTo>
                    <a:pt x="9563" y="3296"/>
                    <a:pt x="7249" y="4024"/>
                    <a:pt x="7123" y="4065"/>
                  </a:cubicBezTo>
                  <a:cubicBezTo>
                    <a:pt x="7110" y="4070"/>
                    <a:pt x="7094" y="4070"/>
                    <a:pt x="7084" y="4075"/>
                  </a:cubicBezTo>
                  <a:cubicBezTo>
                    <a:pt x="7073" y="4079"/>
                    <a:pt x="7066" y="4088"/>
                    <a:pt x="7055" y="4093"/>
                  </a:cubicBezTo>
                  <a:lnTo>
                    <a:pt x="2345" y="6272"/>
                  </a:lnTo>
                  <a:cubicBezTo>
                    <a:pt x="2150" y="6363"/>
                    <a:pt x="1931" y="6353"/>
                    <a:pt x="1747" y="6245"/>
                  </a:cubicBezTo>
                  <a:cubicBezTo>
                    <a:pt x="1563" y="6135"/>
                    <a:pt x="1457" y="5956"/>
                    <a:pt x="1457" y="5750"/>
                  </a:cubicBezTo>
                  <a:cubicBezTo>
                    <a:pt x="1457" y="5557"/>
                    <a:pt x="1560" y="5374"/>
                    <a:pt x="1728" y="5265"/>
                  </a:cubicBezTo>
                  <a:lnTo>
                    <a:pt x="6949" y="1877"/>
                  </a:lnTo>
                  <a:cubicBezTo>
                    <a:pt x="7740" y="1365"/>
                    <a:pt x="8666" y="1090"/>
                    <a:pt x="9623" y="1090"/>
                  </a:cubicBezTo>
                  <a:close/>
                  <a:moveTo>
                    <a:pt x="18145" y="1199"/>
                  </a:moveTo>
                  <a:lnTo>
                    <a:pt x="20451" y="1199"/>
                  </a:lnTo>
                  <a:lnTo>
                    <a:pt x="20451" y="8781"/>
                  </a:lnTo>
                  <a:lnTo>
                    <a:pt x="18145" y="8781"/>
                  </a:lnTo>
                  <a:cubicBezTo>
                    <a:pt x="18145" y="8781"/>
                    <a:pt x="18145" y="1199"/>
                    <a:pt x="18145" y="1199"/>
                  </a:cubicBezTo>
                  <a:close/>
                  <a:moveTo>
                    <a:pt x="10144" y="8790"/>
                  </a:moveTo>
                  <a:cubicBezTo>
                    <a:pt x="9149" y="8790"/>
                    <a:pt x="8339" y="9559"/>
                    <a:pt x="8339" y="10502"/>
                  </a:cubicBezTo>
                  <a:cubicBezTo>
                    <a:pt x="8339" y="11062"/>
                    <a:pt x="8745" y="11698"/>
                    <a:pt x="9584" y="12453"/>
                  </a:cubicBezTo>
                  <a:cubicBezTo>
                    <a:pt x="10140" y="12953"/>
                    <a:pt x="10690" y="13325"/>
                    <a:pt x="10713" y="13341"/>
                  </a:cubicBezTo>
                  <a:cubicBezTo>
                    <a:pt x="10813" y="13408"/>
                    <a:pt x="10934" y="13451"/>
                    <a:pt x="11051" y="13451"/>
                  </a:cubicBezTo>
                  <a:cubicBezTo>
                    <a:pt x="11168" y="13451"/>
                    <a:pt x="11279" y="13408"/>
                    <a:pt x="11379" y="13341"/>
                  </a:cubicBezTo>
                  <a:cubicBezTo>
                    <a:pt x="11402" y="13325"/>
                    <a:pt x="11961" y="12953"/>
                    <a:pt x="12518" y="12453"/>
                  </a:cubicBezTo>
                  <a:cubicBezTo>
                    <a:pt x="13357" y="11698"/>
                    <a:pt x="13763" y="11062"/>
                    <a:pt x="13763" y="10502"/>
                  </a:cubicBezTo>
                  <a:cubicBezTo>
                    <a:pt x="13763" y="9559"/>
                    <a:pt x="12953" y="8790"/>
                    <a:pt x="11958" y="8790"/>
                  </a:cubicBezTo>
                  <a:cubicBezTo>
                    <a:pt x="11637" y="8790"/>
                    <a:pt x="11324" y="8869"/>
                    <a:pt x="11051" y="9019"/>
                  </a:cubicBezTo>
                  <a:cubicBezTo>
                    <a:pt x="10778" y="8869"/>
                    <a:pt x="10465" y="8790"/>
                    <a:pt x="10144" y="8790"/>
                  </a:cubicBezTo>
                  <a:close/>
                  <a:moveTo>
                    <a:pt x="10144" y="9880"/>
                  </a:moveTo>
                  <a:cubicBezTo>
                    <a:pt x="10329" y="9880"/>
                    <a:pt x="10501" y="9951"/>
                    <a:pt x="10626" y="10081"/>
                  </a:cubicBezTo>
                  <a:cubicBezTo>
                    <a:pt x="10735" y="10194"/>
                    <a:pt x="10890" y="10264"/>
                    <a:pt x="11051" y="10264"/>
                  </a:cubicBezTo>
                  <a:cubicBezTo>
                    <a:pt x="11212" y="10264"/>
                    <a:pt x="11367" y="10194"/>
                    <a:pt x="11476" y="10081"/>
                  </a:cubicBezTo>
                  <a:cubicBezTo>
                    <a:pt x="11601" y="9951"/>
                    <a:pt x="11772" y="9880"/>
                    <a:pt x="11958" y="9880"/>
                  </a:cubicBezTo>
                  <a:cubicBezTo>
                    <a:pt x="12318" y="9880"/>
                    <a:pt x="12614" y="10160"/>
                    <a:pt x="12614" y="10502"/>
                  </a:cubicBezTo>
                  <a:cubicBezTo>
                    <a:pt x="12614" y="10850"/>
                    <a:pt x="11844" y="11620"/>
                    <a:pt x="11051" y="12215"/>
                  </a:cubicBezTo>
                  <a:cubicBezTo>
                    <a:pt x="10258" y="11621"/>
                    <a:pt x="9487" y="10851"/>
                    <a:pt x="9487" y="10502"/>
                  </a:cubicBezTo>
                  <a:cubicBezTo>
                    <a:pt x="9487" y="10160"/>
                    <a:pt x="9783" y="9880"/>
                    <a:pt x="10144" y="9880"/>
                  </a:cubicBezTo>
                  <a:close/>
                  <a:moveTo>
                    <a:pt x="627" y="11720"/>
                  </a:moveTo>
                  <a:cubicBezTo>
                    <a:pt x="310" y="11720"/>
                    <a:pt x="0" y="11977"/>
                    <a:pt x="0" y="12279"/>
                  </a:cubicBezTo>
                  <a:lnTo>
                    <a:pt x="0" y="20950"/>
                  </a:lnTo>
                  <a:cubicBezTo>
                    <a:pt x="0" y="21251"/>
                    <a:pt x="310" y="21490"/>
                    <a:pt x="627" y="21490"/>
                  </a:cubicBezTo>
                  <a:lnTo>
                    <a:pt x="4073" y="21490"/>
                  </a:lnTo>
                  <a:cubicBezTo>
                    <a:pt x="4391" y="21490"/>
                    <a:pt x="4604" y="21251"/>
                    <a:pt x="4604" y="20950"/>
                  </a:cubicBezTo>
                  <a:lnTo>
                    <a:pt x="4604" y="20080"/>
                  </a:lnTo>
                  <a:lnTo>
                    <a:pt x="5009" y="20364"/>
                  </a:lnTo>
                  <a:cubicBezTo>
                    <a:pt x="6052" y="21159"/>
                    <a:pt x="7387" y="21600"/>
                    <a:pt x="8725" y="21600"/>
                  </a:cubicBezTo>
                  <a:lnTo>
                    <a:pt x="12055" y="21600"/>
                  </a:lnTo>
                  <a:cubicBezTo>
                    <a:pt x="13244" y="21600"/>
                    <a:pt x="14393" y="21266"/>
                    <a:pt x="15375" y="20629"/>
                  </a:cubicBezTo>
                  <a:lnTo>
                    <a:pt x="20596" y="17251"/>
                  </a:lnTo>
                  <a:cubicBezTo>
                    <a:pt x="21079" y="16939"/>
                    <a:pt x="21368" y="16422"/>
                    <a:pt x="21368" y="15868"/>
                  </a:cubicBezTo>
                  <a:cubicBezTo>
                    <a:pt x="21368" y="15286"/>
                    <a:pt x="21058" y="14757"/>
                    <a:pt x="20538" y="14449"/>
                  </a:cubicBezTo>
                  <a:cubicBezTo>
                    <a:pt x="20018" y="14141"/>
                    <a:pt x="19352" y="14102"/>
                    <a:pt x="18801" y="14357"/>
                  </a:cubicBezTo>
                  <a:lnTo>
                    <a:pt x="14892" y="16161"/>
                  </a:lnTo>
                  <a:lnTo>
                    <a:pt x="14892" y="15969"/>
                  </a:lnTo>
                  <a:cubicBezTo>
                    <a:pt x="14892" y="15029"/>
                    <a:pt x="14135" y="14284"/>
                    <a:pt x="13145" y="14284"/>
                  </a:cubicBezTo>
                  <a:lnTo>
                    <a:pt x="9362" y="14284"/>
                  </a:lnTo>
                  <a:cubicBezTo>
                    <a:pt x="8590" y="14284"/>
                    <a:pt x="7802" y="14162"/>
                    <a:pt x="7065" y="13945"/>
                  </a:cubicBezTo>
                  <a:lnTo>
                    <a:pt x="4604" y="13222"/>
                  </a:lnTo>
                  <a:lnTo>
                    <a:pt x="4604" y="12279"/>
                  </a:lnTo>
                  <a:cubicBezTo>
                    <a:pt x="4604" y="11977"/>
                    <a:pt x="4391" y="11720"/>
                    <a:pt x="4073" y="11720"/>
                  </a:cubicBezTo>
                  <a:lnTo>
                    <a:pt x="627" y="11720"/>
                  </a:lnTo>
                  <a:close/>
                  <a:moveTo>
                    <a:pt x="1149" y="12810"/>
                  </a:moveTo>
                  <a:lnTo>
                    <a:pt x="3455" y="12810"/>
                  </a:lnTo>
                  <a:cubicBezTo>
                    <a:pt x="3455" y="12810"/>
                    <a:pt x="3455" y="20400"/>
                    <a:pt x="3455" y="20401"/>
                  </a:cubicBezTo>
                  <a:lnTo>
                    <a:pt x="1149" y="20401"/>
                  </a:lnTo>
                  <a:lnTo>
                    <a:pt x="1149" y="12810"/>
                  </a:lnTo>
                  <a:close/>
                  <a:moveTo>
                    <a:pt x="4604" y="14357"/>
                  </a:moveTo>
                  <a:lnTo>
                    <a:pt x="6727" y="14989"/>
                  </a:lnTo>
                  <a:cubicBezTo>
                    <a:pt x="7575" y="15238"/>
                    <a:pt x="8475" y="15374"/>
                    <a:pt x="9362" y="15374"/>
                  </a:cubicBezTo>
                  <a:lnTo>
                    <a:pt x="13145" y="15374"/>
                  </a:lnTo>
                  <a:cubicBezTo>
                    <a:pt x="13501" y="15374"/>
                    <a:pt x="13744" y="15631"/>
                    <a:pt x="13744" y="15969"/>
                  </a:cubicBezTo>
                  <a:lnTo>
                    <a:pt x="13744" y="16628"/>
                  </a:lnTo>
                  <a:cubicBezTo>
                    <a:pt x="13054" y="16807"/>
                    <a:pt x="11441" y="17116"/>
                    <a:pt x="9806" y="16866"/>
                  </a:cubicBezTo>
                  <a:cubicBezTo>
                    <a:pt x="9493" y="16818"/>
                    <a:pt x="9210" y="17026"/>
                    <a:pt x="9159" y="17324"/>
                  </a:cubicBezTo>
                  <a:cubicBezTo>
                    <a:pt x="9109" y="17622"/>
                    <a:pt x="9328" y="17899"/>
                    <a:pt x="9642" y="17947"/>
                  </a:cubicBezTo>
                  <a:cubicBezTo>
                    <a:pt x="10142" y="18023"/>
                    <a:pt x="10638" y="18056"/>
                    <a:pt x="11109" y="18056"/>
                  </a:cubicBezTo>
                  <a:cubicBezTo>
                    <a:pt x="12959" y="18056"/>
                    <a:pt x="14458" y="17584"/>
                    <a:pt x="14554" y="17553"/>
                  </a:cubicBezTo>
                  <a:cubicBezTo>
                    <a:pt x="14576" y="17546"/>
                    <a:pt x="14593" y="17535"/>
                    <a:pt x="14612" y="17525"/>
                  </a:cubicBezTo>
                  <a:cubicBezTo>
                    <a:pt x="14614" y="17525"/>
                    <a:pt x="14620" y="17526"/>
                    <a:pt x="14622" y="17525"/>
                  </a:cubicBezTo>
                  <a:lnTo>
                    <a:pt x="19332" y="15346"/>
                  </a:lnTo>
                  <a:cubicBezTo>
                    <a:pt x="19527" y="15256"/>
                    <a:pt x="19746" y="15265"/>
                    <a:pt x="19930" y="15374"/>
                  </a:cubicBezTo>
                  <a:cubicBezTo>
                    <a:pt x="20114" y="15483"/>
                    <a:pt x="20220" y="15662"/>
                    <a:pt x="20220" y="15868"/>
                  </a:cubicBezTo>
                  <a:cubicBezTo>
                    <a:pt x="20220" y="16061"/>
                    <a:pt x="20118" y="16245"/>
                    <a:pt x="19950" y="16353"/>
                  </a:cubicBezTo>
                  <a:lnTo>
                    <a:pt x="14718" y="19723"/>
                  </a:lnTo>
                  <a:cubicBezTo>
                    <a:pt x="13928" y="20235"/>
                    <a:pt x="13012" y="20501"/>
                    <a:pt x="12055" y="20501"/>
                  </a:cubicBezTo>
                  <a:lnTo>
                    <a:pt x="8725" y="20501"/>
                  </a:lnTo>
                  <a:cubicBezTo>
                    <a:pt x="7649" y="20501"/>
                    <a:pt x="6572" y="20161"/>
                    <a:pt x="5733" y="19521"/>
                  </a:cubicBezTo>
                  <a:lnTo>
                    <a:pt x="4604" y="18679"/>
                  </a:lnTo>
                  <a:lnTo>
                    <a:pt x="4604" y="14357"/>
                  </a:lnTo>
                  <a:close/>
                </a:path>
              </a:pathLst>
            </a:custGeom>
            <a:solidFill>
              <a:schemeClr val="bg1"/>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27" name="Shape">
              <a:extLst>
                <a:ext uri="{FF2B5EF4-FFF2-40B4-BE49-F238E27FC236}">
                  <a16:creationId xmlns:a16="http://schemas.microsoft.com/office/drawing/2014/main" id="{C6CE5E72-A257-203A-9345-C99F2620E2B0}"/>
                </a:ext>
              </a:extLst>
            </p:cNvPr>
            <p:cNvSpPr/>
            <p:nvPr/>
          </p:nvSpPr>
          <p:spPr>
            <a:xfrm>
              <a:off x="8921807" y="4176674"/>
              <a:ext cx="455671" cy="480309"/>
            </a:xfrm>
            <a:custGeom>
              <a:avLst/>
              <a:gdLst/>
              <a:ahLst/>
              <a:cxnLst>
                <a:cxn ang="0">
                  <a:pos x="wd2" y="hd2"/>
                </a:cxn>
                <a:cxn ang="5400000">
                  <a:pos x="wd2" y="hd2"/>
                </a:cxn>
                <a:cxn ang="10800000">
                  <a:pos x="wd2" y="hd2"/>
                </a:cxn>
                <a:cxn ang="16200000">
                  <a:pos x="wd2" y="hd2"/>
                </a:cxn>
              </a:cxnLst>
              <a:rect l="0" t="0" r="r" b="b"/>
              <a:pathLst>
                <a:path w="21600" h="21600" extrusionOk="0">
                  <a:moveTo>
                    <a:pt x="9623" y="0"/>
                  </a:moveTo>
                  <a:cubicBezTo>
                    <a:pt x="8433" y="0"/>
                    <a:pt x="7285" y="343"/>
                    <a:pt x="6302" y="980"/>
                  </a:cubicBezTo>
                  <a:lnTo>
                    <a:pt x="1081" y="4358"/>
                  </a:lnTo>
                  <a:cubicBezTo>
                    <a:pt x="598" y="4671"/>
                    <a:pt x="309" y="5196"/>
                    <a:pt x="309" y="5750"/>
                  </a:cubicBezTo>
                  <a:cubicBezTo>
                    <a:pt x="309" y="6332"/>
                    <a:pt x="619" y="6861"/>
                    <a:pt x="1139" y="7169"/>
                  </a:cubicBezTo>
                  <a:cubicBezTo>
                    <a:pt x="1659" y="7478"/>
                    <a:pt x="2286" y="7507"/>
                    <a:pt x="2838" y="7252"/>
                  </a:cubicBezTo>
                  <a:lnTo>
                    <a:pt x="6698" y="5457"/>
                  </a:lnTo>
                  <a:lnTo>
                    <a:pt x="6698" y="5650"/>
                  </a:lnTo>
                  <a:cubicBezTo>
                    <a:pt x="6698" y="6589"/>
                    <a:pt x="7542" y="7362"/>
                    <a:pt x="8532" y="7362"/>
                  </a:cubicBezTo>
                  <a:lnTo>
                    <a:pt x="12315" y="7362"/>
                  </a:lnTo>
                  <a:cubicBezTo>
                    <a:pt x="13087" y="7362"/>
                    <a:pt x="13837" y="7475"/>
                    <a:pt x="14574" y="7691"/>
                  </a:cubicBezTo>
                  <a:lnTo>
                    <a:pt x="16996" y="8396"/>
                  </a:lnTo>
                  <a:lnTo>
                    <a:pt x="16996" y="9340"/>
                  </a:lnTo>
                  <a:cubicBezTo>
                    <a:pt x="16996" y="9641"/>
                    <a:pt x="17287" y="9880"/>
                    <a:pt x="17604" y="9880"/>
                  </a:cubicBezTo>
                  <a:lnTo>
                    <a:pt x="21050" y="9880"/>
                  </a:lnTo>
                  <a:cubicBezTo>
                    <a:pt x="21367" y="9880"/>
                    <a:pt x="21600" y="9641"/>
                    <a:pt x="21600" y="9340"/>
                  </a:cubicBezTo>
                  <a:lnTo>
                    <a:pt x="21600" y="668"/>
                  </a:lnTo>
                  <a:cubicBezTo>
                    <a:pt x="21600" y="367"/>
                    <a:pt x="21368" y="110"/>
                    <a:pt x="21050" y="110"/>
                  </a:cubicBezTo>
                  <a:lnTo>
                    <a:pt x="17604" y="110"/>
                  </a:lnTo>
                  <a:cubicBezTo>
                    <a:pt x="17287" y="110"/>
                    <a:pt x="16996" y="367"/>
                    <a:pt x="16996" y="668"/>
                  </a:cubicBezTo>
                  <a:lnTo>
                    <a:pt x="16996" y="1538"/>
                  </a:lnTo>
                  <a:lnTo>
                    <a:pt x="16620" y="1236"/>
                  </a:lnTo>
                  <a:cubicBezTo>
                    <a:pt x="15577" y="441"/>
                    <a:pt x="14290" y="0"/>
                    <a:pt x="12952" y="0"/>
                  </a:cubicBezTo>
                  <a:lnTo>
                    <a:pt x="9623" y="0"/>
                  </a:lnTo>
                  <a:close/>
                  <a:moveTo>
                    <a:pt x="9623" y="1090"/>
                  </a:moveTo>
                  <a:lnTo>
                    <a:pt x="12952" y="1090"/>
                  </a:lnTo>
                  <a:cubicBezTo>
                    <a:pt x="14029" y="1090"/>
                    <a:pt x="15067" y="1448"/>
                    <a:pt x="15906" y="2088"/>
                  </a:cubicBezTo>
                  <a:lnTo>
                    <a:pt x="16996" y="2939"/>
                  </a:lnTo>
                  <a:lnTo>
                    <a:pt x="16996" y="7252"/>
                  </a:lnTo>
                  <a:lnTo>
                    <a:pt x="14912" y="6648"/>
                  </a:lnTo>
                  <a:cubicBezTo>
                    <a:pt x="14064" y="6399"/>
                    <a:pt x="13202" y="6272"/>
                    <a:pt x="12315" y="6272"/>
                  </a:cubicBezTo>
                  <a:lnTo>
                    <a:pt x="8532" y="6272"/>
                  </a:lnTo>
                  <a:cubicBezTo>
                    <a:pt x="8176" y="6272"/>
                    <a:pt x="7856" y="5987"/>
                    <a:pt x="7856" y="5650"/>
                  </a:cubicBezTo>
                  <a:lnTo>
                    <a:pt x="7856" y="4990"/>
                  </a:lnTo>
                  <a:cubicBezTo>
                    <a:pt x="8604" y="4811"/>
                    <a:pt x="10198" y="4494"/>
                    <a:pt x="11833" y="4743"/>
                  </a:cubicBezTo>
                  <a:cubicBezTo>
                    <a:pt x="12146" y="4791"/>
                    <a:pt x="12448" y="4592"/>
                    <a:pt x="12499" y="4294"/>
                  </a:cubicBezTo>
                  <a:cubicBezTo>
                    <a:pt x="12549" y="3997"/>
                    <a:pt x="12339" y="3720"/>
                    <a:pt x="12026" y="3672"/>
                  </a:cubicBezTo>
                  <a:cubicBezTo>
                    <a:pt x="9563" y="3296"/>
                    <a:pt x="7249" y="4024"/>
                    <a:pt x="7123" y="4065"/>
                  </a:cubicBezTo>
                  <a:cubicBezTo>
                    <a:pt x="7110" y="4070"/>
                    <a:pt x="7094" y="4070"/>
                    <a:pt x="7084" y="4075"/>
                  </a:cubicBezTo>
                  <a:cubicBezTo>
                    <a:pt x="7073" y="4079"/>
                    <a:pt x="7066" y="4088"/>
                    <a:pt x="7055" y="4093"/>
                  </a:cubicBezTo>
                  <a:lnTo>
                    <a:pt x="2345" y="6272"/>
                  </a:lnTo>
                  <a:cubicBezTo>
                    <a:pt x="2150" y="6363"/>
                    <a:pt x="1931" y="6353"/>
                    <a:pt x="1747" y="6245"/>
                  </a:cubicBezTo>
                  <a:cubicBezTo>
                    <a:pt x="1563" y="6135"/>
                    <a:pt x="1457" y="5956"/>
                    <a:pt x="1457" y="5750"/>
                  </a:cubicBezTo>
                  <a:cubicBezTo>
                    <a:pt x="1457" y="5557"/>
                    <a:pt x="1560" y="5374"/>
                    <a:pt x="1728" y="5265"/>
                  </a:cubicBezTo>
                  <a:lnTo>
                    <a:pt x="6949" y="1877"/>
                  </a:lnTo>
                  <a:cubicBezTo>
                    <a:pt x="7740" y="1365"/>
                    <a:pt x="8666" y="1090"/>
                    <a:pt x="9623" y="1090"/>
                  </a:cubicBezTo>
                  <a:close/>
                  <a:moveTo>
                    <a:pt x="18145" y="1199"/>
                  </a:moveTo>
                  <a:lnTo>
                    <a:pt x="20451" y="1199"/>
                  </a:lnTo>
                  <a:lnTo>
                    <a:pt x="20451" y="8781"/>
                  </a:lnTo>
                  <a:lnTo>
                    <a:pt x="18145" y="8781"/>
                  </a:lnTo>
                  <a:cubicBezTo>
                    <a:pt x="18145" y="8781"/>
                    <a:pt x="18145" y="1199"/>
                    <a:pt x="18145" y="1199"/>
                  </a:cubicBezTo>
                  <a:close/>
                  <a:moveTo>
                    <a:pt x="10144" y="8790"/>
                  </a:moveTo>
                  <a:cubicBezTo>
                    <a:pt x="9149" y="8790"/>
                    <a:pt x="8339" y="9559"/>
                    <a:pt x="8339" y="10502"/>
                  </a:cubicBezTo>
                  <a:cubicBezTo>
                    <a:pt x="8339" y="11062"/>
                    <a:pt x="8745" y="11698"/>
                    <a:pt x="9584" y="12453"/>
                  </a:cubicBezTo>
                  <a:cubicBezTo>
                    <a:pt x="10140" y="12953"/>
                    <a:pt x="10690" y="13325"/>
                    <a:pt x="10713" y="13341"/>
                  </a:cubicBezTo>
                  <a:cubicBezTo>
                    <a:pt x="10813" y="13408"/>
                    <a:pt x="10934" y="13451"/>
                    <a:pt x="11051" y="13451"/>
                  </a:cubicBezTo>
                  <a:cubicBezTo>
                    <a:pt x="11168" y="13451"/>
                    <a:pt x="11279" y="13408"/>
                    <a:pt x="11379" y="13341"/>
                  </a:cubicBezTo>
                  <a:cubicBezTo>
                    <a:pt x="11402" y="13325"/>
                    <a:pt x="11961" y="12953"/>
                    <a:pt x="12518" y="12453"/>
                  </a:cubicBezTo>
                  <a:cubicBezTo>
                    <a:pt x="13357" y="11698"/>
                    <a:pt x="13763" y="11062"/>
                    <a:pt x="13763" y="10502"/>
                  </a:cubicBezTo>
                  <a:cubicBezTo>
                    <a:pt x="13763" y="9559"/>
                    <a:pt x="12953" y="8790"/>
                    <a:pt x="11958" y="8790"/>
                  </a:cubicBezTo>
                  <a:cubicBezTo>
                    <a:pt x="11637" y="8790"/>
                    <a:pt x="11324" y="8869"/>
                    <a:pt x="11051" y="9019"/>
                  </a:cubicBezTo>
                  <a:cubicBezTo>
                    <a:pt x="10778" y="8869"/>
                    <a:pt x="10465" y="8790"/>
                    <a:pt x="10144" y="8790"/>
                  </a:cubicBezTo>
                  <a:close/>
                  <a:moveTo>
                    <a:pt x="10144" y="9880"/>
                  </a:moveTo>
                  <a:cubicBezTo>
                    <a:pt x="10329" y="9880"/>
                    <a:pt x="10501" y="9951"/>
                    <a:pt x="10626" y="10081"/>
                  </a:cubicBezTo>
                  <a:cubicBezTo>
                    <a:pt x="10735" y="10194"/>
                    <a:pt x="10890" y="10264"/>
                    <a:pt x="11051" y="10264"/>
                  </a:cubicBezTo>
                  <a:cubicBezTo>
                    <a:pt x="11212" y="10264"/>
                    <a:pt x="11367" y="10194"/>
                    <a:pt x="11476" y="10081"/>
                  </a:cubicBezTo>
                  <a:cubicBezTo>
                    <a:pt x="11601" y="9951"/>
                    <a:pt x="11772" y="9880"/>
                    <a:pt x="11958" y="9880"/>
                  </a:cubicBezTo>
                  <a:cubicBezTo>
                    <a:pt x="12318" y="9880"/>
                    <a:pt x="12614" y="10160"/>
                    <a:pt x="12614" y="10502"/>
                  </a:cubicBezTo>
                  <a:cubicBezTo>
                    <a:pt x="12614" y="10850"/>
                    <a:pt x="11844" y="11620"/>
                    <a:pt x="11051" y="12215"/>
                  </a:cubicBezTo>
                  <a:cubicBezTo>
                    <a:pt x="10258" y="11621"/>
                    <a:pt x="9487" y="10851"/>
                    <a:pt x="9487" y="10502"/>
                  </a:cubicBezTo>
                  <a:cubicBezTo>
                    <a:pt x="9487" y="10160"/>
                    <a:pt x="9783" y="9880"/>
                    <a:pt x="10144" y="9880"/>
                  </a:cubicBezTo>
                  <a:close/>
                  <a:moveTo>
                    <a:pt x="627" y="11720"/>
                  </a:moveTo>
                  <a:cubicBezTo>
                    <a:pt x="310" y="11720"/>
                    <a:pt x="0" y="11977"/>
                    <a:pt x="0" y="12279"/>
                  </a:cubicBezTo>
                  <a:lnTo>
                    <a:pt x="0" y="20950"/>
                  </a:lnTo>
                  <a:cubicBezTo>
                    <a:pt x="0" y="21251"/>
                    <a:pt x="310" y="21490"/>
                    <a:pt x="627" y="21490"/>
                  </a:cubicBezTo>
                  <a:lnTo>
                    <a:pt x="4073" y="21490"/>
                  </a:lnTo>
                  <a:cubicBezTo>
                    <a:pt x="4391" y="21490"/>
                    <a:pt x="4604" y="21251"/>
                    <a:pt x="4604" y="20950"/>
                  </a:cubicBezTo>
                  <a:lnTo>
                    <a:pt x="4604" y="20080"/>
                  </a:lnTo>
                  <a:lnTo>
                    <a:pt x="5009" y="20364"/>
                  </a:lnTo>
                  <a:cubicBezTo>
                    <a:pt x="6052" y="21159"/>
                    <a:pt x="7387" y="21600"/>
                    <a:pt x="8725" y="21600"/>
                  </a:cubicBezTo>
                  <a:lnTo>
                    <a:pt x="12055" y="21600"/>
                  </a:lnTo>
                  <a:cubicBezTo>
                    <a:pt x="13244" y="21600"/>
                    <a:pt x="14393" y="21266"/>
                    <a:pt x="15375" y="20629"/>
                  </a:cubicBezTo>
                  <a:lnTo>
                    <a:pt x="20596" y="17251"/>
                  </a:lnTo>
                  <a:cubicBezTo>
                    <a:pt x="21079" y="16939"/>
                    <a:pt x="21368" y="16422"/>
                    <a:pt x="21368" y="15868"/>
                  </a:cubicBezTo>
                  <a:cubicBezTo>
                    <a:pt x="21368" y="15286"/>
                    <a:pt x="21058" y="14757"/>
                    <a:pt x="20538" y="14449"/>
                  </a:cubicBezTo>
                  <a:cubicBezTo>
                    <a:pt x="20018" y="14141"/>
                    <a:pt x="19352" y="14102"/>
                    <a:pt x="18801" y="14357"/>
                  </a:cubicBezTo>
                  <a:lnTo>
                    <a:pt x="14892" y="16161"/>
                  </a:lnTo>
                  <a:lnTo>
                    <a:pt x="14892" y="15969"/>
                  </a:lnTo>
                  <a:cubicBezTo>
                    <a:pt x="14892" y="15029"/>
                    <a:pt x="14135" y="14284"/>
                    <a:pt x="13145" y="14284"/>
                  </a:cubicBezTo>
                  <a:lnTo>
                    <a:pt x="9362" y="14284"/>
                  </a:lnTo>
                  <a:cubicBezTo>
                    <a:pt x="8590" y="14284"/>
                    <a:pt x="7802" y="14162"/>
                    <a:pt x="7065" y="13945"/>
                  </a:cubicBezTo>
                  <a:lnTo>
                    <a:pt x="4604" y="13222"/>
                  </a:lnTo>
                  <a:lnTo>
                    <a:pt x="4604" y="12279"/>
                  </a:lnTo>
                  <a:cubicBezTo>
                    <a:pt x="4604" y="11977"/>
                    <a:pt x="4391" y="11720"/>
                    <a:pt x="4073" y="11720"/>
                  </a:cubicBezTo>
                  <a:lnTo>
                    <a:pt x="627" y="11720"/>
                  </a:lnTo>
                  <a:close/>
                  <a:moveTo>
                    <a:pt x="1149" y="12810"/>
                  </a:moveTo>
                  <a:lnTo>
                    <a:pt x="3455" y="12810"/>
                  </a:lnTo>
                  <a:cubicBezTo>
                    <a:pt x="3455" y="12810"/>
                    <a:pt x="3455" y="20400"/>
                    <a:pt x="3455" y="20401"/>
                  </a:cubicBezTo>
                  <a:lnTo>
                    <a:pt x="1149" y="20401"/>
                  </a:lnTo>
                  <a:lnTo>
                    <a:pt x="1149" y="12810"/>
                  </a:lnTo>
                  <a:close/>
                  <a:moveTo>
                    <a:pt x="4604" y="14357"/>
                  </a:moveTo>
                  <a:lnTo>
                    <a:pt x="6727" y="14989"/>
                  </a:lnTo>
                  <a:cubicBezTo>
                    <a:pt x="7575" y="15238"/>
                    <a:pt x="8475" y="15374"/>
                    <a:pt x="9362" y="15374"/>
                  </a:cubicBezTo>
                  <a:lnTo>
                    <a:pt x="13145" y="15374"/>
                  </a:lnTo>
                  <a:cubicBezTo>
                    <a:pt x="13501" y="15374"/>
                    <a:pt x="13744" y="15631"/>
                    <a:pt x="13744" y="15969"/>
                  </a:cubicBezTo>
                  <a:lnTo>
                    <a:pt x="13744" y="16628"/>
                  </a:lnTo>
                  <a:cubicBezTo>
                    <a:pt x="13054" y="16807"/>
                    <a:pt x="11441" y="17116"/>
                    <a:pt x="9806" y="16866"/>
                  </a:cubicBezTo>
                  <a:cubicBezTo>
                    <a:pt x="9493" y="16818"/>
                    <a:pt x="9210" y="17026"/>
                    <a:pt x="9159" y="17324"/>
                  </a:cubicBezTo>
                  <a:cubicBezTo>
                    <a:pt x="9109" y="17622"/>
                    <a:pt x="9328" y="17899"/>
                    <a:pt x="9642" y="17947"/>
                  </a:cubicBezTo>
                  <a:cubicBezTo>
                    <a:pt x="10142" y="18023"/>
                    <a:pt x="10638" y="18056"/>
                    <a:pt x="11109" y="18056"/>
                  </a:cubicBezTo>
                  <a:cubicBezTo>
                    <a:pt x="12959" y="18056"/>
                    <a:pt x="14458" y="17584"/>
                    <a:pt x="14554" y="17553"/>
                  </a:cubicBezTo>
                  <a:cubicBezTo>
                    <a:pt x="14576" y="17546"/>
                    <a:pt x="14593" y="17535"/>
                    <a:pt x="14612" y="17525"/>
                  </a:cubicBezTo>
                  <a:cubicBezTo>
                    <a:pt x="14614" y="17525"/>
                    <a:pt x="14620" y="17526"/>
                    <a:pt x="14622" y="17525"/>
                  </a:cubicBezTo>
                  <a:lnTo>
                    <a:pt x="19332" y="15346"/>
                  </a:lnTo>
                  <a:cubicBezTo>
                    <a:pt x="19527" y="15256"/>
                    <a:pt x="19746" y="15265"/>
                    <a:pt x="19930" y="15374"/>
                  </a:cubicBezTo>
                  <a:cubicBezTo>
                    <a:pt x="20114" y="15483"/>
                    <a:pt x="20220" y="15662"/>
                    <a:pt x="20220" y="15868"/>
                  </a:cubicBezTo>
                  <a:cubicBezTo>
                    <a:pt x="20220" y="16061"/>
                    <a:pt x="20118" y="16245"/>
                    <a:pt x="19950" y="16353"/>
                  </a:cubicBezTo>
                  <a:lnTo>
                    <a:pt x="14718" y="19723"/>
                  </a:lnTo>
                  <a:cubicBezTo>
                    <a:pt x="13928" y="20235"/>
                    <a:pt x="13012" y="20501"/>
                    <a:pt x="12055" y="20501"/>
                  </a:cubicBezTo>
                  <a:lnTo>
                    <a:pt x="8725" y="20501"/>
                  </a:lnTo>
                  <a:cubicBezTo>
                    <a:pt x="7649" y="20501"/>
                    <a:pt x="6572" y="20161"/>
                    <a:pt x="5733" y="19521"/>
                  </a:cubicBezTo>
                  <a:lnTo>
                    <a:pt x="4604" y="18679"/>
                  </a:lnTo>
                  <a:lnTo>
                    <a:pt x="4604" y="14357"/>
                  </a:lnTo>
                  <a:close/>
                </a:path>
              </a:pathLst>
            </a:custGeom>
            <a:solidFill>
              <a:schemeClr val="bg1"/>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sp>
          <p:nvSpPr>
            <p:cNvPr id="28" name="Shape">
              <a:extLst>
                <a:ext uri="{FF2B5EF4-FFF2-40B4-BE49-F238E27FC236}">
                  <a16:creationId xmlns:a16="http://schemas.microsoft.com/office/drawing/2014/main" id="{8F19FF01-1F39-EA0E-7D35-B4E7D53D5783}"/>
                </a:ext>
              </a:extLst>
            </p:cNvPr>
            <p:cNvSpPr/>
            <p:nvPr/>
          </p:nvSpPr>
          <p:spPr>
            <a:xfrm>
              <a:off x="8882495" y="3206074"/>
              <a:ext cx="534260" cy="463388"/>
            </a:xfrm>
            <a:custGeom>
              <a:avLst/>
              <a:gdLst/>
              <a:ahLst/>
              <a:cxnLst>
                <a:cxn ang="0">
                  <a:pos x="wd2" y="hd2"/>
                </a:cxn>
                <a:cxn ang="5400000">
                  <a:pos x="wd2" y="hd2"/>
                </a:cxn>
                <a:cxn ang="10800000">
                  <a:pos x="wd2" y="hd2"/>
                </a:cxn>
                <a:cxn ang="16200000">
                  <a:pos x="wd2" y="hd2"/>
                </a:cxn>
              </a:cxnLst>
              <a:rect l="0" t="0" r="r" b="b"/>
              <a:pathLst>
                <a:path w="21410" h="21600" extrusionOk="0">
                  <a:moveTo>
                    <a:pt x="15589" y="0"/>
                  </a:moveTo>
                  <a:cubicBezTo>
                    <a:pt x="15199" y="0"/>
                    <a:pt x="14833" y="180"/>
                    <a:pt x="14557" y="501"/>
                  </a:cubicBezTo>
                  <a:lnTo>
                    <a:pt x="13534" y="1691"/>
                  </a:lnTo>
                  <a:cubicBezTo>
                    <a:pt x="13377" y="1875"/>
                    <a:pt x="13263" y="2088"/>
                    <a:pt x="13193" y="2318"/>
                  </a:cubicBezTo>
                  <a:lnTo>
                    <a:pt x="8400" y="1315"/>
                  </a:lnTo>
                  <a:cubicBezTo>
                    <a:pt x="6244" y="818"/>
                    <a:pt x="4140" y="2452"/>
                    <a:pt x="3706" y="4959"/>
                  </a:cubicBezTo>
                  <a:lnTo>
                    <a:pt x="3491" y="6233"/>
                  </a:lnTo>
                  <a:cubicBezTo>
                    <a:pt x="3247" y="7641"/>
                    <a:pt x="4030" y="9018"/>
                    <a:pt x="5241" y="9302"/>
                  </a:cubicBezTo>
                  <a:cubicBezTo>
                    <a:pt x="6452" y="9585"/>
                    <a:pt x="7635" y="8674"/>
                    <a:pt x="7880" y="7266"/>
                  </a:cubicBezTo>
                  <a:lnTo>
                    <a:pt x="8014" y="6483"/>
                  </a:lnTo>
                  <a:lnTo>
                    <a:pt x="10159" y="6702"/>
                  </a:lnTo>
                  <a:lnTo>
                    <a:pt x="15778" y="13227"/>
                  </a:lnTo>
                  <a:lnTo>
                    <a:pt x="16792" y="14407"/>
                  </a:lnTo>
                  <a:cubicBezTo>
                    <a:pt x="16998" y="14647"/>
                    <a:pt x="16998" y="15045"/>
                    <a:pt x="16792" y="15284"/>
                  </a:cubicBezTo>
                  <a:cubicBezTo>
                    <a:pt x="16586" y="15524"/>
                    <a:pt x="16253" y="15524"/>
                    <a:pt x="16047" y="15284"/>
                  </a:cubicBezTo>
                  <a:lnTo>
                    <a:pt x="13319" y="12110"/>
                  </a:lnTo>
                  <a:cubicBezTo>
                    <a:pt x="13129" y="11890"/>
                    <a:pt x="12826" y="11890"/>
                    <a:pt x="12637" y="12110"/>
                  </a:cubicBezTo>
                  <a:cubicBezTo>
                    <a:pt x="12447" y="12331"/>
                    <a:pt x="12447" y="12694"/>
                    <a:pt x="12637" y="12914"/>
                  </a:cubicBezTo>
                  <a:lnTo>
                    <a:pt x="15356" y="16077"/>
                  </a:lnTo>
                  <a:cubicBezTo>
                    <a:pt x="15456" y="16193"/>
                    <a:pt x="15509" y="16352"/>
                    <a:pt x="15509" y="16516"/>
                  </a:cubicBezTo>
                  <a:cubicBezTo>
                    <a:pt x="15509" y="16680"/>
                    <a:pt x="15456" y="16828"/>
                    <a:pt x="15356" y="16944"/>
                  </a:cubicBezTo>
                  <a:cubicBezTo>
                    <a:pt x="15150" y="17184"/>
                    <a:pt x="14817" y="17183"/>
                    <a:pt x="14611" y="16944"/>
                  </a:cubicBezTo>
                  <a:lnTo>
                    <a:pt x="11883" y="13781"/>
                  </a:lnTo>
                  <a:cubicBezTo>
                    <a:pt x="11693" y="13560"/>
                    <a:pt x="11390" y="13560"/>
                    <a:pt x="11200" y="13781"/>
                  </a:cubicBezTo>
                  <a:cubicBezTo>
                    <a:pt x="11011" y="14001"/>
                    <a:pt x="11011" y="14363"/>
                    <a:pt x="11200" y="14584"/>
                  </a:cubicBezTo>
                  <a:lnTo>
                    <a:pt x="13920" y="17748"/>
                  </a:lnTo>
                  <a:cubicBezTo>
                    <a:pt x="14126" y="17987"/>
                    <a:pt x="14126" y="18375"/>
                    <a:pt x="13920" y="18614"/>
                  </a:cubicBezTo>
                  <a:cubicBezTo>
                    <a:pt x="13820" y="18731"/>
                    <a:pt x="13693" y="18802"/>
                    <a:pt x="13552" y="18802"/>
                  </a:cubicBezTo>
                  <a:cubicBezTo>
                    <a:pt x="13411" y="18802"/>
                    <a:pt x="13275" y="18731"/>
                    <a:pt x="13175" y="18614"/>
                  </a:cubicBezTo>
                  <a:lnTo>
                    <a:pt x="10447" y="15451"/>
                  </a:lnTo>
                  <a:cubicBezTo>
                    <a:pt x="10257" y="15230"/>
                    <a:pt x="9954" y="15230"/>
                    <a:pt x="9764" y="15451"/>
                  </a:cubicBezTo>
                  <a:cubicBezTo>
                    <a:pt x="9575" y="15672"/>
                    <a:pt x="9575" y="16024"/>
                    <a:pt x="9764" y="16244"/>
                  </a:cubicBezTo>
                  <a:lnTo>
                    <a:pt x="12484" y="19418"/>
                  </a:lnTo>
                  <a:cubicBezTo>
                    <a:pt x="12690" y="19658"/>
                    <a:pt x="12690" y="20045"/>
                    <a:pt x="12484" y="20285"/>
                  </a:cubicBezTo>
                  <a:cubicBezTo>
                    <a:pt x="12278" y="20524"/>
                    <a:pt x="11945" y="20524"/>
                    <a:pt x="11739" y="20285"/>
                  </a:cubicBezTo>
                  <a:lnTo>
                    <a:pt x="2099" y="9072"/>
                  </a:lnTo>
                  <a:lnTo>
                    <a:pt x="825" y="7590"/>
                  </a:lnTo>
                  <a:cubicBezTo>
                    <a:pt x="635" y="7369"/>
                    <a:pt x="332" y="7369"/>
                    <a:pt x="143" y="7590"/>
                  </a:cubicBezTo>
                  <a:cubicBezTo>
                    <a:pt x="-47" y="7810"/>
                    <a:pt x="-47" y="8173"/>
                    <a:pt x="143" y="8394"/>
                  </a:cubicBezTo>
                  <a:lnTo>
                    <a:pt x="1417" y="9876"/>
                  </a:lnTo>
                  <a:lnTo>
                    <a:pt x="2799" y="11484"/>
                  </a:lnTo>
                  <a:lnTo>
                    <a:pt x="2037" y="12371"/>
                  </a:lnTo>
                  <a:cubicBezTo>
                    <a:pt x="1786" y="12662"/>
                    <a:pt x="1651" y="13046"/>
                    <a:pt x="1651" y="13457"/>
                  </a:cubicBezTo>
                  <a:cubicBezTo>
                    <a:pt x="1651" y="13868"/>
                    <a:pt x="1786" y="14262"/>
                    <a:pt x="2037" y="14553"/>
                  </a:cubicBezTo>
                  <a:lnTo>
                    <a:pt x="2288" y="14835"/>
                  </a:lnTo>
                  <a:cubicBezTo>
                    <a:pt x="2507" y="15089"/>
                    <a:pt x="2783" y="15249"/>
                    <a:pt x="3087" y="15284"/>
                  </a:cubicBezTo>
                  <a:cubicBezTo>
                    <a:pt x="3117" y="15637"/>
                    <a:pt x="3254" y="15969"/>
                    <a:pt x="3473" y="16223"/>
                  </a:cubicBezTo>
                  <a:lnTo>
                    <a:pt x="3715" y="16505"/>
                  </a:lnTo>
                  <a:cubicBezTo>
                    <a:pt x="3939" y="16766"/>
                    <a:pt x="4229" y="16921"/>
                    <a:pt x="4523" y="16954"/>
                  </a:cubicBezTo>
                  <a:cubicBezTo>
                    <a:pt x="4553" y="17308"/>
                    <a:pt x="4690" y="17629"/>
                    <a:pt x="4909" y="17883"/>
                  </a:cubicBezTo>
                  <a:lnTo>
                    <a:pt x="5151" y="18176"/>
                  </a:lnTo>
                  <a:cubicBezTo>
                    <a:pt x="5370" y="18430"/>
                    <a:pt x="5655" y="18590"/>
                    <a:pt x="5959" y="18625"/>
                  </a:cubicBezTo>
                  <a:cubicBezTo>
                    <a:pt x="5989" y="18978"/>
                    <a:pt x="6117" y="19299"/>
                    <a:pt x="6336" y="19554"/>
                  </a:cubicBezTo>
                  <a:lnTo>
                    <a:pt x="6587" y="19846"/>
                  </a:lnTo>
                  <a:cubicBezTo>
                    <a:pt x="6845" y="20147"/>
                    <a:pt x="7181" y="20295"/>
                    <a:pt x="7521" y="20295"/>
                  </a:cubicBezTo>
                  <a:cubicBezTo>
                    <a:pt x="7859" y="20295"/>
                    <a:pt x="8205" y="20147"/>
                    <a:pt x="8463" y="19846"/>
                  </a:cubicBezTo>
                  <a:lnTo>
                    <a:pt x="9226" y="18959"/>
                  </a:lnTo>
                  <a:lnTo>
                    <a:pt x="11057" y="21088"/>
                  </a:lnTo>
                  <a:cubicBezTo>
                    <a:pt x="11340" y="21418"/>
                    <a:pt x="11715" y="21600"/>
                    <a:pt x="12116" y="21600"/>
                  </a:cubicBezTo>
                  <a:cubicBezTo>
                    <a:pt x="12517" y="21600"/>
                    <a:pt x="12891" y="21418"/>
                    <a:pt x="13175" y="21088"/>
                  </a:cubicBezTo>
                  <a:cubicBezTo>
                    <a:pt x="13443" y="20776"/>
                    <a:pt x="13599" y="20358"/>
                    <a:pt x="13615" y="19919"/>
                  </a:cubicBezTo>
                  <a:cubicBezTo>
                    <a:pt x="13992" y="19901"/>
                    <a:pt x="14343" y="19730"/>
                    <a:pt x="14611" y="19418"/>
                  </a:cubicBezTo>
                  <a:cubicBezTo>
                    <a:pt x="14888" y="19096"/>
                    <a:pt x="15027" y="18681"/>
                    <a:pt x="15042" y="18259"/>
                  </a:cubicBezTo>
                  <a:cubicBezTo>
                    <a:pt x="15405" y="18242"/>
                    <a:pt x="15770" y="18069"/>
                    <a:pt x="16047" y="17748"/>
                  </a:cubicBezTo>
                  <a:cubicBezTo>
                    <a:pt x="16324" y="17426"/>
                    <a:pt x="16463" y="17011"/>
                    <a:pt x="16478" y="16589"/>
                  </a:cubicBezTo>
                  <a:cubicBezTo>
                    <a:pt x="16841" y="16571"/>
                    <a:pt x="17198" y="16399"/>
                    <a:pt x="17474" y="16077"/>
                  </a:cubicBezTo>
                  <a:cubicBezTo>
                    <a:pt x="18059" y="15397"/>
                    <a:pt x="18059" y="14294"/>
                    <a:pt x="17474" y="13614"/>
                  </a:cubicBezTo>
                  <a:lnTo>
                    <a:pt x="16801" y="12831"/>
                  </a:lnTo>
                  <a:lnTo>
                    <a:pt x="20984" y="7966"/>
                  </a:lnTo>
                  <a:cubicBezTo>
                    <a:pt x="21553" y="7303"/>
                    <a:pt x="21553" y="6227"/>
                    <a:pt x="20984" y="5564"/>
                  </a:cubicBezTo>
                  <a:lnTo>
                    <a:pt x="16622" y="501"/>
                  </a:lnTo>
                  <a:cubicBezTo>
                    <a:pt x="16346" y="180"/>
                    <a:pt x="15980" y="0"/>
                    <a:pt x="15589" y="0"/>
                  </a:cubicBezTo>
                  <a:close/>
                  <a:moveTo>
                    <a:pt x="15589" y="1128"/>
                  </a:moveTo>
                  <a:cubicBezTo>
                    <a:pt x="15720" y="1128"/>
                    <a:pt x="15847" y="1187"/>
                    <a:pt x="15939" y="1295"/>
                  </a:cubicBezTo>
                  <a:lnTo>
                    <a:pt x="20293" y="6368"/>
                  </a:lnTo>
                  <a:cubicBezTo>
                    <a:pt x="20385" y="6476"/>
                    <a:pt x="20436" y="6613"/>
                    <a:pt x="20436" y="6765"/>
                  </a:cubicBezTo>
                  <a:cubicBezTo>
                    <a:pt x="20436" y="6917"/>
                    <a:pt x="20385" y="7065"/>
                    <a:pt x="20293" y="7172"/>
                  </a:cubicBezTo>
                  <a:lnTo>
                    <a:pt x="18928" y="8769"/>
                  </a:lnTo>
                  <a:lnTo>
                    <a:pt x="14225" y="3289"/>
                  </a:lnTo>
                  <a:cubicBezTo>
                    <a:pt x="14133" y="3181"/>
                    <a:pt x="14082" y="3043"/>
                    <a:pt x="14082" y="2892"/>
                  </a:cubicBezTo>
                  <a:cubicBezTo>
                    <a:pt x="14082" y="2739"/>
                    <a:pt x="14133" y="2592"/>
                    <a:pt x="14225" y="2485"/>
                  </a:cubicBezTo>
                  <a:lnTo>
                    <a:pt x="15248" y="1295"/>
                  </a:lnTo>
                  <a:cubicBezTo>
                    <a:pt x="15341" y="1187"/>
                    <a:pt x="15459" y="1128"/>
                    <a:pt x="15589" y="1128"/>
                  </a:cubicBezTo>
                  <a:close/>
                  <a:moveTo>
                    <a:pt x="7018" y="2432"/>
                  </a:moveTo>
                  <a:cubicBezTo>
                    <a:pt x="7402" y="2341"/>
                    <a:pt x="7812" y="2337"/>
                    <a:pt x="8221" y="2432"/>
                  </a:cubicBezTo>
                  <a:cubicBezTo>
                    <a:pt x="8224" y="2433"/>
                    <a:pt x="8226" y="2432"/>
                    <a:pt x="8230" y="2432"/>
                  </a:cubicBezTo>
                  <a:lnTo>
                    <a:pt x="12951" y="3414"/>
                  </a:lnTo>
                  <a:lnTo>
                    <a:pt x="18237" y="9563"/>
                  </a:lnTo>
                  <a:cubicBezTo>
                    <a:pt x="18237" y="9563"/>
                    <a:pt x="16119" y="12027"/>
                    <a:pt x="16119" y="12027"/>
                  </a:cubicBezTo>
                  <a:lnTo>
                    <a:pt x="10725" y="5752"/>
                  </a:lnTo>
                  <a:cubicBezTo>
                    <a:pt x="10644" y="5658"/>
                    <a:pt x="10533" y="5607"/>
                    <a:pt x="10420" y="5596"/>
                  </a:cubicBezTo>
                  <a:lnTo>
                    <a:pt x="7664" y="5314"/>
                  </a:lnTo>
                  <a:cubicBezTo>
                    <a:pt x="7650" y="5313"/>
                    <a:pt x="7633" y="5314"/>
                    <a:pt x="7619" y="5314"/>
                  </a:cubicBezTo>
                  <a:cubicBezTo>
                    <a:pt x="7390" y="5314"/>
                    <a:pt x="7190" y="5498"/>
                    <a:pt x="7144" y="5763"/>
                  </a:cubicBezTo>
                  <a:lnTo>
                    <a:pt x="6928" y="7036"/>
                  </a:lnTo>
                  <a:cubicBezTo>
                    <a:pt x="6790" y="7833"/>
                    <a:pt x="6115" y="8356"/>
                    <a:pt x="5429" y="8195"/>
                  </a:cubicBezTo>
                  <a:cubicBezTo>
                    <a:pt x="5097" y="8118"/>
                    <a:pt x="4809" y="7897"/>
                    <a:pt x="4621" y="7569"/>
                  </a:cubicBezTo>
                  <a:cubicBezTo>
                    <a:pt x="4434" y="7241"/>
                    <a:pt x="4375" y="6838"/>
                    <a:pt x="4442" y="6452"/>
                  </a:cubicBezTo>
                  <a:lnTo>
                    <a:pt x="4657" y="5178"/>
                  </a:lnTo>
                  <a:cubicBezTo>
                    <a:pt x="4904" y="3753"/>
                    <a:pt x="5864" y="2707"/>
                    <a:pt x="7018" y="2432"/>
                  </a:cubicBezTo>
                  <a:close/>
                  <a:moveTo>
                    <a:pt x="19153" y="6347"/>
                  </a:moveTo>
                  <a:cubicBezTo>
                    <a:pt x="18884" y="6347"/>
                    <a:pt x="18668" y="6599"/>
                    <a:pt x="18668" y="6911"/>
                  </a:cubicBezTo>
                  <a:cubicBezTo>
                    <a:pt x="18668" y="7223"/>
                    <a:pt x="18884" y="7475"/>
                    <a:pt x="19153" y="7475"/>
                  </a:cubicBezTo>
                  <a:cubicBezTo>
                    <a:pt x="19421" y="7475"/>
                    <a:pt x="19637" y="7223"/>
                    <a:pt x="19637" y="6911"/>
                  </a:cubicBezTo>
                  <a:cubicBezTo>
                    <a:pt x="19637" y="6599"/>
                    <a:pt x="19421" y="6347"/>
                    <a:pt x="19153" y="6347"/>
                  </a:cubicBezTo>
                  <a:close/>
                  <a:moveTo>
                    <a:pt x="3437" y="12340"/>
                  </a:moveTo>
                  <a:lnTo>
                    <a:pt x="4191" y="13206"/>
                  </a:lnTo>
                  <a:lnTo>
                    <a:pt x="3473" y="14042"/>
                  </a:lnTo>
                  <a:cubicBezTo>
                    <a:pt x="3335" y="14201"/>
                    <a:pt x="3107" y="14201"/>
                    <a:pt x="2970" y="14042"/>
                  </a:cubicBezTo>
                  <a:cubicBezTo>
                    <a:pt x="2970" y="14042"/>
                    <a:pt x="2719" y="13749"/>
                    <a:pt x="2719" y="13749"/>
                  </a:cubicBezTo>
                  <a:cubicBezTo>
                    <a:pt x="2582" y="13590"/>
                    <a:pt x="2582" y="13335"/>
                    <a:pt x="2719" y="13175"/>
                  </a:cubicBezTo>
                  <a:lnTo>
                    <a:pt x="3437" y="12340"/>
                  </a:lnTo>
                  <a:close/>
                  <a:moveTo>
                    <a:pt x="4873" y="14010"/>
                  </a:moveTo>
                  <a:lnTo>
                    <a:pt x="5618" y="14877"/>
                  </a:lnTo>
                  <a:lnTo>
                    <a:pt x="4909" y="15712"/>
                  </a:lnTo>
                  <a:cubicBezTo>
                    <a:pt x="4771" y="15871"/>
                    <a:pt x="4543" y="15871"/>
                    <a:pt x="4406" y="15712"/>
                  </a:cubicBezTo>
                  <a:cubicBezTo>
                    <a:pt x="4406" y="15712"/>
                    <a:pt x="4155" y="15420"/>
                    <a:pt x="4155" y="15420"/>
                  </a:cubicBezTo>
                  <a:cubicBezTo>
                    <a:pt x="4018" y="15260"/>
                    <a:pt x="4018" y="14995"/>
                    <a:pt x="4155" y="14835"/>
                  </a:cubicBezTo>
                  <a:lnTo>
                    <a:pt x="4873" y="14010"/>
                  </a:lnTo>
                  <a:close/>
                  <a:moveTo>
                    <a:pt x="6309" y="15670"/>
                  </a:moveTo>
                  <a:lnTo>
                    <a:pt x="7054" y="16547"/>
                  </a:lnTo>
                  <a:lnTo>
                    <a:pt x="6336" y="17372"/>
                  </a:lnTo>
                  <a:cubicBezTo>
                    <a:pt x="6199" y="17532"/>
                    <a:pt x="5979" y="17532"/>
                    <a:pt x="5842" y="17372"/>
                  </a:cubicBezTo>
                  <a:cubicBezTo>
                    <a:pt x="5842" y="17372"/>
                    <a:pt x="5591" y="17090"/>
                    <a:pt x="5591" y="17090"/>
                  </a:cubicBezTo>
                  <a:cubicBezTo>
                    <a:pt x="5525" y="17012"/>
                    <a:pt x="5492" y="16907"/>
                    <a:pt x="5492" y="16798"/>
                  </a:cubicBezTo>
                  <a:cubicBezTo>
                    <a:pt x="5492" y="16688"/>
                    <a:pt x="5525" y="16583"/>
                    <a:pt x="5591" y="16505"/>
                  </a:cubicBezTo>
                  <a:lnTo>
                    <a:pt x="6309" y="15670"/>
                  </a:lnTo>
                  <a:close/>
                  <a:moveTo>
                    <a:pt x="7745" y="17341"/>
                  </a:moveTo>
                  <a:lnTo>
                    <a:pt x="8490" y="18207"/>
                  </a:lnTo>
                  <a:cubicBezTo>
                    <a:pt x="8490" y="18207"/>
                    <a:pt x="7772" y="19042"/>
                    <a:pt x="7772" y="19042"/>
                  </a:cubicBezTo>
                  <a:cubicBezTo>
                    <a:pt x="7634" y="19201"/>
                    <a:pt x="7416" y="19201"/>
                    <a:pt x="7278" y="19042"/>
                  </a:cubicBezTo>
                  <a:lnTo>
                    <a:pt x="7027" y="18760"/>
                  </a:lnTo>
                  <a:cubicBezTo>
                    <a:pt x="6890" y="18600"/>
                    <a:pt x="6890" y="18335"/>
                    <a:pt x="7027" y="18176"/>
                  </a:cubicBezTo>
                  <a:lnTo>
                    <a:pt x="7745" y="17341"/>
                  </a:lnTo>
                  <a:close/>
                </a:path>
              </a:pathLst>
            </a:custGeom>
            <a:solidFill>
              <a:schemeClr val="bg1"/>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1400"/>
            </a:p>
          </p:txBody>
        </p:sp>
      </p:grpSp>
      <p:sp>
        <p:nvSpPr>
          <p:cNvPr id="30" name="Rectangle 29">
            <a:extLst>
              <a:ext uri="{FF2B5EF4-FFF2-40B4-BE49-F238E27FC236}">
                <a16:creationId xmlns:a16="http://schemas.microsoft.com/office/drawing/2014/main" id="{9186FCC2-A44D-A7A2-14D4-0A8BD4481333}"/>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ptos" panose="020B0004020202020204" pitchFamily="34" charset="0"/>
              </a:rPr>
              <a:t>13</a:t>
            </a:r>
            <a:endParaRPr lang="en-US" sz="1400" dirty="0"/>
          </a:p>
        </p:txBody>
      </p:sp>
    </p:spTree>
    <p:extLst>
      <p:ext uri="{BB962C8B-B14F-4D97-AF65-F5344CB8AC3E}">
        <p14:creationId xmlns:p14="http://schemas.microsoft.com/office/powerpoint/2010/main" val="24131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5682" y="620688"/>
            <a:ext cx="10051526" cy="711081"/>
          </a:xfrm>
        </p:spPr>
        <p:txBody>
          <a:bodyPr/>
          <a:lstStyle/>
          <a:p>
            <a:r>
              <a:rPr lang="en-US" dirty="0">
                <a:solidFill>
                  <a:schemeClr val="tx1"/>
                </a:solidFill>
                <a:latin typeface="Aptos" panose="020B0004020202020204" pitchFamily="34" charset="0"/>
              </a:rPr>
              <a:t>Practical Steps of Preserving Standards</a:t>
            </a:r>
          </a:p>
        </p:txBody>
      </p:sp>
      <p:sp>
        <p:nvSpPr>
          <p:cNvPr id="3" name="Text Placeholder 2"/>
          <p:cNvSpPr>
            <a:spLocks noGrp="1"/>
          </p:cNvSpPr>
          <p:nvPr>
            <p:ph type="body" sz="quarter" idx="13"/>
          </p:nvPr>
        </p:nvSpPr>
        <p:spPr>
          <a:xfrm>
            <a:off x="963396" y="1196752"/>
            <a:ext cx="10531616" cy="4464495"/>
          </a:xfrm>
        </p:spPr>
        <p:txBody>
          <a:bodyPr/>
          <a:lstStyle/>
          <a:p>
            <a:pPr lvl="0" algn="just">
              <a:lnSpc>
                <a:spcPct val="107000"/>
              </a:lnSpc>
              <a:spcBef>
                <a:spcPts val="0"/>
              </a:spcBef>
              <a:spcAft>
                <a:spcPts val="800"/>
              </a:spcAft>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lvl="0" algn="just">
              <a:lnSpc>
                <a:spcPct val="107000"/>
              </a:lnSpc>
              <a:spcBef>
                <a:spcPts val="0"/>
              </a:spcBef>
              <a:spcAft>
                <a:spcPts val="800"/>
              </a:spcAft>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lvl="0" algn="just">
              <a:lnSpc>
                <a:spcPct val="107000"/>
              </a:lnSpc>
              <a:spcBef>
                <a:spcPts val="0"/>
              </a:spcBef>
              <a:spcAft>
                <a:spcPts val="800"/>
              </a:spcAft>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The Inner Bar, of which the </a:t>
            </a:r>
            <a:r>
              <a:rPr lang="en-US" sz="2400" kern="100" dirty="0">
                <a:solidFill>
                  <a:schemeClr val="tx1"/>
                </a:solidFill>
                <a:latin typeface="Aptos" panose="020B0004020202020204" pitchFamily="34" charset="0"/>
                <a:ea typeface="Calibri" panose="020F0502020204030204" pitchFamily="34" charset="0"/>
                <a:cs typeface="Times New Roman" panose="02020603050405020304" pitchFamily="18" charset="0"/>
              </a:rPr>
              <a:t>new Senior Advocates </a:t>
            </a: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are now members, is a sanctuary of distinction but can only remain so, if each generation preserves, maintain its standards for the next generation of lawyers. </a:t>
            </a:r>
          </a:p>
          <a:p>
            <a:pPr lvl="0" algn="just">
              <a:lnSpc>
                <a:spcPct val="107000"/>
              </a:lnSpc>
              <a:spcBef>
                <a:spcPts val="0"/>
              </a:spcBef>
              <a:spcAft>
                <a:spcPts val="800"/>
              </a:spcAft>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Today, you are invited to take on the responsibility of preserving the ethos and standards of the legal profession through Mentorship and transfer of Learning. </a:t>
            </a:r>
          </a:p>
          <a:p>
            <a:pPr lvl="0" algn="just">
              <a:lnSpc>
                <a:spcPct val="107000"/>
              </a:lnSpc>
              <a:spcBef>
                <a:spcPts val="0"/>
              </a:spcBef>
              <a:spcAft>
                <a:spcPts val="800"/>
              </a:spcAft>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lvl="0" algn="just">
              <a:lnSpc>
                <a:spcPct val="107000"/>
              </a:lnSpc>
              <a:spcBef>
                <a:spcPts val="0"/>
              </a:spcBef>
              <a:spcAft>
                <a:spcPts val="800"/>
              </a:spcAft>
            </a:pPr>
            <a:r>
              <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Hence I share a few practical steps: </a:t>
            </a:r>
          </a:p>
          <a:p>
            <a:pPr lvl="0" algn="just">
              <a:lnSpc>
                <a:spcPct val="107000"/>
              </a:lnSpc>
              <a:spcBef>
                <a:spcPts val="0"/>
              </a:spcBef>
              <a:spcAft>
                <a:spcPts val="800"/>
              </a:spcAft>
            </a:pPr>
            <a:endParaRPr lang="en-US" sz="24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algn="just"/>
            <a:endParaRPr lang="en-US" sz="2400" dirty="0">
              <a:latin typeface="Aptos" panose="020B0004020202020204" pitchFamily="34" charset="0"/>
            </a:endParaRPr>
          </a:p>
        </p:txBody>
      </p:sp>
      <p:sp>
        <p:nvSpPr>
          <p:cNvPr id="25" name="Rectangle 24">
            <a:extLst>
              <a:ext uri="{FF2B5EF4-FFF2-40B4-BE49-F238E27FC236}">
                <a16:creationId xmlns:a16="http://schemas.microsoft.com/office/drawing/2014/main" id="{91EACF3B-490C-99E3-79D9-C215136D1CEC}"/>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99" b="1" dirty="0">
                <a:solidFill>
                  <a:schemeClr val="bg1"/>
                </a:solidFill>
                <a:latin typeface="Aptos" panose="020B0004020202020204" pitchFamily="34" charset="0"/>
              </a:rPr>
              <a:t>14</a:t>
            </a:r>
            <a:endParaRPr lang="en-US" sz="2399" dirty="0"/>
          </a:p>
        </p:txBody>
      </p:sp>
    </p:spTree>
    <p:extLst>
      <p:ext uri="{BB962C8B-B14F-4D97-AF65-F5344CB8AC3E}">
        <p14:creationId xmlns:p14="http://schemas.microsoft.com/office/powerpoint/2010/main" val="1006528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39EA-0024-68B6-A277-BB5636AC4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CCBE2-5132-89A9-215F-362064FD576E}"/>
              </a:ext>
            </a:extLst>
          </p:cNvPr>
          <p:cNvSpPr>
            <a:spLocks noGrp="1"/>
          </p:cNvSpPr>
          <p:nvPr>
            <p:ph type="title"/>
          </p:nvPr>
        </p:nvSpPr>
        <p:spPr>
          <a:xfrm>
            <a:off x="5061616" y="204597"/>
            <a:ext cx="6984776" cy="711081"/>
          </a:xfrm>
        </p:spPr>
        <p:txBody>
          <a:bodyPr/>
          <a:lstStyle/>
          <a:p>
            <a:r>
              <a:rPr lang="en-US" sz="3200" dirty="0">
                <a:solidFill>
                  <a:schemeClr val="tx1"/>
                </a:solidFill>
                <a:latin typeface="Aptos" panose="020B0004020202020204" pitchFamily="34" charset="0"/>
              </a:rPr>
              <a:t>Practical Steps of Preserving Standards</a:t>
            </a:r>
          </a:p>
        </p:txBody>
      </p:sp>
      <p:sp>
        <p:nvSpPr>
          <p:cNvPr id="6" name="Freeform: Shape 5">
            <a:extLst>
              <a:ext uri="{FF2B5EF4-FFF2-40B4-BE49-F238E27FC236}">
                <a16:creationId xmlns:a16="http://schemas.microsoft.com/office/drawing/2014/main" id="{6C522939-0AAA-D250-6BEC-BDCCFA46D876}"/>
              </a:ext>
            </a:extLst>
          </p:cNvPr>
          <p:cNvSpPr/>
          <p:nvPr/>
        </p:nvSpPr>
        <p:spPr>
          <a:xfrm>
            <a:off x="3637680" y="2852950"/>
            <a:ext cx="1265848" cy="1230313"/>
          </a:xfrm>
          <a:custGeom>
            <a:avLst/>
            <a:gdLst>
              <a:gd name="connsiteX0" fmla="*/ 0 w 848993"/>
              <a:gd name="connsiteY0" fmla="*/ 424497 h 848993"/>
              <a:gd name="connsiteX1" fmla="*/ 424497 w 848993"/>
              <a:gd name="connsiteY1" fmla="*/ 0 h 848993"/>
              <a:gd name="connsiteX2" fmla="*/ 848994 w 848993"/>
              <a:gd name="connsiteY2" fmla="*/ 424497 h 848993"/>
              <a:gd name="connsiteX3" fmla="*/ 424497 w 848993"/>
              <a:gd name="connsiteY3" fmla="*/ 848994 h 848993"/>
              <a:gd name="connsiteX4" fmla="*/ 0 w 848993"/>
              <a:gd name="connsiteY4" fmla="*/ 424497 h 848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993" h="848993">
                <a:moveTo>
                  <a:pt x="0" y="424497"/>
                </a:moveTo>
                <a:cubicBezTo>
                  <a:pt x="0" y="190054"/>
                  <a:pt x="190054" y="0"/>
                  <a:pt x="424497" y="0"/>
                </a:cubicBezTo>
                <a:cubicBezTo>
                  <a:pt x="658940" y="0"/>
                  <a:pt x="848994" y="190054"/>
                  <a:pt x="848994" y="424497"/>
                </a:cubicBezTo>
                <a:cubicBezTo>
                  <a:pt x="848994" y="658940"/>
                  <a:pt x="658940" y="848994"/>
                  <a:pt x="424497" y="848994"/>
                </a:cubicBezTo>
                <a:cubicBezTo>
                  <a:pt x="190054" y="848994"/>
                  <a:pt x="0" y="658940"/>
                  <a:pt x="0" y="424497"/>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762" tIns="135762" rIns="135762" bIns="135762" numCol="1" spcCol="1270" anchor="ctr" anchorCtr="0">
            <a:noAutofit/>
          </a:bodyPr>
          <a:lstStyle/>
          <a:p>
            <a:pPr marL="0" lvl="0" indent="0" algn="ctr" defTabSz="400050">
              <a:lnSpc>
                <a:spcPct val="90000"/>
              </a:lnSpc>
              <a:spcBef>
                <a:spcPct val="0"/>
              </a:spcBef>
              <a:spcAft>
                <a:spcPct val="35000"/>
              </a:spcAft>
              <a:buNone/>
            </a:pPr>
            <a:r>
              <a:rPr lang="en-US" sz="1200" b="1" kern="1200" dirty="0">
                <a:latin typeface="Aptos" panose="020B0004020202020204" pitchFamily="34" charset="0"/>
                <a:ea typeface="Calibri" panose="020F0502020204030204" pitchFamily="34" charset="0"/>
                <a:cs typeface="Times New Roman" panose="02020603050405020304" pitchFamily="18" charset="0"/>
              </a:rPr>
              <a:t>Active and Deliberate effort</a:t>
            </a:r>
            <a:endParaRPr lang="en-US" sz="1200" b="1" kern="1200" dirty="0">
              <a:latin typeface="Aptos" panose="020B0004020202020204" pitchFamily="34" charset="0"/>
            </a:endParaRPr>
          </a:p>
        </p:txBody>
      </p:sp>
      <p:sp>
        <p:nvSpPr>
          <p:cNvPr id="7" name="Freeform: Shape 6">
            <a:extLst>
              <a:ext uri="{FF2B5EF4-FFF2-40B4-BE49-F238E27FC236}">
                <a16:creationId xmlns:a16="http://schemas.microsoft.com/office/drawing/2014/main" id="{CC26DD35-522F-B054-996F-8846A051A7D7}"/>
              </a:ext>
            </a:extLst>
          </p:cNvPr>
          <p:cNvSpPr/>
          <p:nvPr/>
        </p:nvSpPr>
        <p:spPr>
          <a:xfrm rot="16200000">
            <a:off x="4012653" y="2208522"/>
            <a:ext cx="515901" cy="344655"/>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0" y="46231"/>
                </a:moveTo>
                <a:lnTo>
                  <a:pt x="240426" y="46231"/>
                </a:lnTo>
                <a:lnTo>
                  <a:pt x="240426" y="0"/>
                </a:lnTo>
                <a:lnTo>
                  <a:pt x="356004" y="115579"/>
                </a:lnTo>
                <a:lnTo>
                  <a:pt x="240426" y="231157"/>
                </a:lnTo>
                <a:lnTo>
                  <a:pt x="240426" y="184926"/>
                </a:lnTo>
                <a:lnTo>
                  <a:pt x="0" y="184926"/>
                </a:lnTo>
                <a:lnTo>
                  <a:pt x="0" y="46231"/>
                </a:lnTo>
                <a:close/>
              </a:path>
            </a:pathLst>
          </a:custGeom>
          <a:solidFill>
            <a:schemeClr val="bg2">
              <a:lumMod val="50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46231" rIns="69348" bIns="46231"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8" name="Freeform: Shape 7">
            <a:extLst>
              <a:ext uri="{FF2B5EF4-FFF2-40B4-BE49-F238E27FC236}">
                <a16:creationId xmlns:a16="http://schemas.microsoft.com/office/drawing/2014/main" id="{E5602FB3-E6E8-AEFC-83D6-5E703D91D2D4}"/>
              </a:ext>
            </a:extLst>
          </p:cNvPr>
          <p:cNvSpPr/>
          <p:nvPr/>
        </p:nvSpPr>
        <p:spPr>
          <a:xfrm>
            <a:off x="3240698" y="317875"/>
            <a:ext cx="1715155" cy="1788214"/>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chemeClr val="bg2">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100" kern="1200" dirty="0">
                <a:latin typeface="Aptos" panose="020B0004020202020204" pitchFamily="34" charset="0"/>
                <a:ea typeface="Calibri" panose="020F0502020204030204" pitchFamily="34" charset="0"/>
                <a:cs typeface="Times New Roman" panose="02020603050405020304" pitchFamily="18" charset="0"/>
              </a:rPr>
              <a:t>SANs are both "custodian and bridge: - custodian of an enduring legacy, and bridge to the next generation."</a:t>
            </a:r>
          </a:p>
        </p:txBody>
      </p:sp>
      <p:sp>
        <p:nvSpPr>
          <p:cNvPr id="9" name="Freeform: Shape 8">
            <a:extLst>
              <a:ext uri="{FF2B5EF4-FFF2-40B4-BE49-F238E27FC236}">
                <a16:creationId xmlns:a16="http://schemas.microsoft.com/office/drawing/2014/main" id="{905396D8-F156-363F-E61A-3DC733F702CD}"/>
              </a:ext>
            </a:extLst>
          </p:cNvPr>
          <p:cNvSpPr/>
          <p:nvPr/>
        </p:nvSpPr>
        <p:spPr>
          <a:xfrm rot="18900000">
            <a:off x="4796216" y="2531809"/>
            <a:ext cx="530802" cy="334980"/>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0" y="46231"/>
                </a:moveTo>
                <a:lnTo>
                  <a:pt x="240426" y="46231"/>
                </a:lnTo>
                <a:lnTo>
                  <a:pt x="240426" y="0"/>
                </a:lnTo>
                <a:lnTo>
                  <a:pt x="356004" y="115579"/>
                </a:lnTo>
                <a:lnTo>
                  <a:pt x="240426" y="231157"/>
                </a:lnTo>
                <a:lnTo>
                  <a:pt x="240426" y="184926"/>
                </a:lnTo>
                <a:lnTo>
                  <a:pt x="0" y="184926"/>
                </a:lnTo>
                <a:lnTo>
                  <a:pt x="0" y="46231"/>
                </a:lnTo>
                <a:close/>
              </a:path>
            </a:pathLst>
          </a:custGeom>
          <a:solidFill>
            <a:schemeClr val="accent6">
              <a:lumMod val="7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46231" rIns="69347" bIns="46230"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10" name="Freeform: Shape 9">
            <a:extLst>
              <a:ext uri="{FF2B5EF4-FFF2-40B4-BE49-F238E27FC236}">
                <a16:creationId xmlns:a16="http://schemas.microsoft.com/office/drawing/2014/main" id="{1FEC499D-615F-4352-CA6C-5509EF359892}"/>
              </a:ext>
            </a:extLst>
          </p:cNvPr>
          <p:cNvSpPr/>
          <p:nvPr/>
        </p:nvSpPr>
        <p:spPr>
          <a:xfrm>
            <a:off x="4880689" y="987257"/>
            <a:ext cx="1932461" cy="1752965"/>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000" b="1" kern="1200" dirty="0">
                <a:latin typeface="Aptos" panose="020B0004020202020204" pitchFamily="34" charset="0"/>
                <a:ea typeface="Calibri" panose="020F0502020204030204" pitchFamily="34" charset="0"/>
                <a:cs typeface="Times New Roman" panose="02020603050405020304" pitchFamily="18" charset="0"/>
              </a:rPr>
              <a:t>Deliberate Mentoring Frameworks:</a:t>
            </a:r>
            <a:r>
              <a:rPr lang="en-US" sz="1000" kern="1200" dirty="0">
                <a:latin typeface="Aptos" panose="020B0004020202020204" pitchFamily="34" charset="0"/>
                <a:ea typeface="Calibri" panose="020F0502020204030204" pitchFamily="34" charset="0"/>
                <a:cs typeface="Times New Roman" panose="02020603050405020304" pitchFamily="18" charset="0"/>
              </a:rPr>
              <a:t> Moving beyond informal relationships to "structured, institutionalized mentorship programs under the Nigerian Bar Association (NBA), BOSAN, and the Body of Benchers."</a:t>
            </a:r>
          </a:p>
        </p:txBody>
      </p:sp>
      <p:sp>
        <p:nvSpPr>
          <p:cNvPr id="11" name="Freeform: Shape 10">
            <a:extLst>
              <a:ext uri="{FF2B5EF4-FFF2-40B4-BE49-F238E27FC236}">
                <a16:creationId xmlns:a16="http://schemas.microsoft.com/office/drawing/2014/main" id="{D1C349F9-5704-CF99-267C-72B75DE0D501}"/>
              </a:ext>
            </a:extLst>
          </p:cNvPr>
          <p:cNvSpPr/>
          <p:nvPr/>
        </p:nvSpPr>
        <p:spPr>
          <a:xfrm>
            <a:off x="5123863" y="3300617"/>
            <a:ext cx="530802" cy="334980"/>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0" y="46231"/>
                </a:moveTo>
                <a:lnTo>
                  <a:pt x="240426" y="46231"/>
                </a:lnTo>
                <a:lnTo>
                  <a:pt x="240426" y="0"/>
                </a:lnTo>
                <a:lnTo>
                  <a:pt x="356004" y="115579"/>
                </a:lnTo>
                <a:lnTo>
                  <a:pt x="240426" y="231157"/>
                </a:lnTo>
                <a:lnTo>
                  <a:pt x="240426" y="184926"/>
                </a:lnTo>
                <a:lnTo>
                  <a:pt x="0" y="184926"/>
                </a:lnTo>
                <a:lnTo>
                  <a:pt x="0" y="46231"/>
                </a:lnTo>
                <a:close/>
              </a:path>
            </a:pathLst>
          </a:custGeom>
          <a:solidFill>
            <a:srgbClr val="00B050"/>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46231" rIns="69347" bIns="46231"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12" name="Freeform: Shape 11">
            <a:extLst>
              <a:ext uri="{FF2B5EF4-FFF2-40B4-BE49-F238E27FC236}">
                <a16:creationId xmlns:a16="http://schemas.microsoft.com/office/drawing/2014/main" id="{EC3E1827-393E-2D6E-CE75-DE99B1A25C10}"/>
              </a:ext>
            </a:extLst>
          </p:cNvPr>
          <p:cNvSpPr/>
          <p:nvPr/>
        </p:nvSpPr>
        <p:spPr>
          <a:xfrm>
            <a:off x="5660559" y="2570045"/>
            <a:ext cx="1932461" cy="1752965"/>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rgbClr val="00B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algn="ctr" defTabSz="222250">
              <a:lnSpc>
                <a:spcPct val="90000"/>
              </a:lnSpc>
              <a:spcBef>
                <a:spcPct val="0"/>
              </a:spcBef>
              <a:spcAft>
                <a:spcPct val="35000"/>
              </a:spcAft>
            </a:pPr>
            <a:r>
              <a:rPr lang="en-US" sz="1100" b="1" kern="1200" dirty="0">
                <a:latin typeface="Aptos" panose="020B0004020202020204" pitchFamily="34" charset="0"/>
                <a:ea typeface="Calibri" panose="020F0502020204030204" pitchFamily="34" charset="0"/>
                <a:cs typeface="Times New Roman" panose="02020603050405020304" pitchFamily="18" charset="0"/>
              </a:rPr>
              <a:t>Role-modelling: </a:t>
            </a:r>
            <a:r>
              <a:rPr lang="en-US" sz="1100" dirty="0">
                <a:latin typeface="Aptos" panose="020B0004020202020204" pitchFamily="34" charset="0"/>
                <a:ea typeface="Calibri" panose="020F0502020204030204" pitchFamily="34" charset="0"/>
                <a:cs typeface="Times New Roman" panose="02020603050405020304" pitchFamily="18" charset="0"/>
              </a:rPr>
              <a:t>SANs "must live by example, demonstrating excellence in advocacy and unimpeachable character."</a:t>
            </a:r>
            <a:r>
              <a:rPr lang="en-US" sz="1100" kern="1200" dirty="0">
                <a:latin typeface="Aptos" panose="020B0004020202020204" pitchFamily="34" charset="0"/>
                <a:ea typeface="Calibri" panose="020F0502020204030204" pitchFamily="34" charset="0"/>
                <a:cs typeface="Times New Roman" panose="02020603050405020304" pitchFamily="18" charset="0"/>
              </a:rPr>
              <a:t> </a:t>
            </a:r>
          </a:p>
        </p:txBody>
      </p:sp>
      <p:sp>
        <p:nvSpPr>
          <p:cNvPr id="13" name="Freeform: Shape 12">
            <a:extLst>
              <a:ext uri="{FF2B5EF4-FFF2-40B4-BE49-F238E27FC236}">
                <a16:creationId xmlns:a16="http://schemas.microsoft.com/office/drawing/2014/main" id="{93A270B7-18AF-5A34-0B0A-5C0371A9BBE1}"/>
              </a:ext>
            </a:extLst>
          </p:cNvPr>
          <p:cNvSpPr/>
          <p:nvPr/>
        </p:nvSpPr>
        <p:spPr>
          <a:xfrm rot="2700000">
            <a:off x="4803666" y="4064585"/>
            <a:ext cx="515901" cy="344655"/>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0" y="46231"/>
                </a:moveTo>
                <a:lnTo>
                  <a:pt x="240426" y="46231"/>
                </a:lnTo>
                <a:lnTo>
                  <a:pt x="240426" y="0"/>
                </a:lnTo>
                <a:lnTo>
                  <a:pt x="356004" y="115579"/>
                </a:lnTo>
                <a:lnTo>
                  <a:pt x="240426" y="231157"/>
                </a:lnTo>
                <a:lnTo>
                  <a:pt x="240426" y="184926"/>
                </a:lnTo>
                <a:lnTo>
                  <a:pt x="0" y="184926"/>
                </a:lnTo>
                <a:lnTo>
                  <a:pt x="0" y="46231"/>
                </a:lnTo>
                <a:close/>
              </a:path>
            </a:pathLst>
          </a:custGeom>
          <a:solidFill>
            <a:schemeClr val="tx1"/>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46230" rIns="69346" bIns="46231"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14" name="Freeform: Shape 13">
            <a:extLst>
              <a:ext uri="{FF2B5EF4-FFF2-40B4-BE49-F238E27FC236}">
                <a16:creationId xmlns:a16="http://schemas.microsoft.com/office/drawing/2014/main" id="{871EE43B-7236-D1E1-B541-CDFED60C8ED1}"/>
              </a:ext>
            </a:extLst>
          </p:cNvPr>
          <p:cNvSpPr/>
          <p:nvPr/>
        </p:nvSpPr>
        <p:spPr>
          <a:xfrm>
            <a:off x="4998942" y="4173325"/>
            <a:ext cx="1763904" cy="1752963"/>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chemeClr val="tx1"/>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100" b="1" kern="1200" dirty="0">
                <a:latin typeface="Aptos" panose="020B0004020202020204" pitchFamily="34" charset="0"/>
                <a:ea typeface="Calibri" panose="020F0502020204030204" pitchFamily="34" charset="0"/>
                <a:cs typeface="Times New Roman" panose="02020603050405020304" pitchFamily="18" charset="0"/>
              </a:rPr>
              <a:t>Think Legacy, Not Just Reputation:</a:t>
            </a:r>
            <a:r>
              <a:rPr lang="en-US" sz="1100" kern="1200" dirty="0">
                <a:latin typeface="Aptos" panose="020B0004020202020204" pitchFamily="34" charset="0"/>
                <a:ea typeface="Calibri" panose="020F0502020204030204" pitchFamily="34" charset="0"/>
                <a:cs typeface="Times New Roman" panose="02020603050405020304" pitchFamily="18" charset="0"/>
              </a:rPr>
              <a:t> "Your name may earn respect today, but it is the lawyers you mentor who will carry your true legacy tomorrow."</a:t>
            </a:r>
          </a:p>
        </p:txBody>
      </p:sp>
      <p:sp>
        <p:nvSpPr>
          <p:cNvPr id="15" name="Freeform: Shape 14">
            <a:extLst>
              <a:ext uri="{FF2B5EF4-FFF2-40B4-BE49-F238E27FC236}">
                <a16:creationId xmlns:a16="http://schemas.microsoft.com/office/drawing/2014/main" id="{B97AAACA-7B57-72CE-1633-24854A4B97A2}"/>
              </a:ext>
            </a:extLst>
          </p:cNvPr>
          <p:cNvSpPr/>
          <p:nvPr/>
        </p:nvSpPr>
        <p:spPr>
          <a:xfrm rot="5400000">
            <a:off x="4012653" y="4383036"/>
            <a:ext cx="515901" cy="344655"/>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0" y="46231"/>
                </a:moveTo>
                <a:lnTo>
                  <a:pt x="240426" y="46231"/>
                </a:lnTo>
                <a:lnTo>
                  <a:pt x="240426" y="0"/>
                </a:lnTo>
                <a:lnTo>
                  <a:pt x="356004" y="115579"/>
                </a:lnTo>
                <a:lnTo>
                  <a:pt x="240426" y="231157"/>
                </a:lnTo>
                <a:lnTo>
                  <a:pt x="240426" y="184926"/>
                </a:lnTo>
                <a:lnTo>
                  <a:pt x="0" y="184926"/>
                </a:lnTo>
                <a:lnTo>
                  <a:pt x="0" y="46231"/>
                </a:lnTo>
                <a:close/>
              </a:path>
            </a:pathLst>
          </a:custGeom>
          <a:solidFill>
            <a:srgbClr val="FFFF00"/>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46230" rIns="69346" bIns="46232"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16" name="Freeform: Shape 15">
            <a:extLst>
              <a:ext uri="{FF2B5EF4-FFF2-40B4-BE49-F238E27FC236}">
                <a16:creationId xmlns:a16="http://schemas.microsoft.com/office/drawing/2014/main" id="{09AA9F6B-C42C-7931-C5FF-1BE1405A763B}"/>
              </a:ext>
            </a:extLst>
          </p:cNvPr>
          <p:cNvSpPr/>
          <p:nvPr/>
        </p:nvSpPr>
        <p:spPr>
          <a:xfrm>
            <a:off x="3359959" y="4806055"/>
            <a:ext cx="1763904" cy="1752963"/>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rgbClr val="FFFF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100" b="1" kern="1200" dirty="0">
                <a:solidFill>
                  <a:schemeClr val="tx1"/>
                </a:solidFill>
                <a:latin typeface="Aptos" panose="020B0004020202020204" pitchFamily="34" charset="0"/>
                <a:ea typeface="Calibri" panose="020F0502020204030204" pitchFamily="34" charset="0"/>
                <a:cs typeface="Times New Roman" panose="02020603050405020304" pitchFamily="18" charset="0"/>
              </a:rPr>
              <a:t>Leverage Technology:</a:t>
            </a:r>
            <a:r>
              <a:rPr lang="en-US" sz="1100" kern="1200" dirty="0">
                <a:solidFill>
                  <a:schemeClr val="tx1"/>
                </a:solidFill>
                <a:latin typeface="Aptos" panose="020B0004020202020204" pitchFamily="34" charset="0"/>
                <a:ea typeface="Calibri" panose="020F0502020204030204" pitchFamily="34" charset="0"/>
                <a:cs typeface="Times New Roman" panose="02020603050405020304" pitchFamily="18" charset="0"/>
              </a:rPr>
              <a:t> Transfer "not only the traditions of advocacy but also the adaptability to thrive in a digital era."</a:t>
            </a:r>
          </a:p>
        </p:txBody>
      </p:sp>
      <p:sp>
        <p:nvSpPr>
          <p:cNvPr id="17" name="Freeform: Shape 16">
            <a:extLst>
              <a:ext uri="{FF2B5EF4-FFF2-40B4-BE49-F238E27FC236}">
                <a16:creationId xmlns:a16="http://schemas.microsoft.com/office/drawing/2014/main" id="{D75D14CB-4672-6618-CC05-F261BFBF62AF}"/>
              </a:ext>
            </a:extLst>
          </p:cNvPr>
          <p:cNvSpPr/>
          <p:nvPr/>
        </p:nvSpPr>
        <p:spPr>
          <a:xfrm rot="18900000">
            <a:off x="3214192" y="4069421"/>
            <a:ext cx="530802" cy="334981"/>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356004" y="184926"/>
                </a:moveTo>
                <a:lnTo>
                  <a:pt x="115578" y="184926"/>
                </a:lnTo>
                <a:lnTo>
                  <a:pt x="115578" y="231157"/>
                </a:lnTo>
                <a:lnTo>
                  <a:pt x="0" y="115578"/>
                </a:lnTo>
                <a:lnTo>
                  <a:pt x="115578" y="0"/>
                </a:lnTo>
                <a:lnTo>
                  <a:pt x="115578" y="46231"/>
                </a:lnTo>
                <a:lnTo>
                  <a:pt x="356004" y="46231"/>
                </a:lnTo>
                <a:lnTo>
                  <a:pt x="356004" y="184926"/>
                </a:lnTo>
                <a:close/>
              </a:path>
            </a:pathLst>
          </a:custGeom>
          <a:solidFill>
            <a:srgbClr val="7030A0"/>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9346" tIns="46231" rIns="0" bIns="46231"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18" name="Freeform: Shape 17">
            <a:extLst>
              <a:ext uri="{FF2B5EF4-FFF2-40B4-BE49-F238E27FC236}">
                <a16:creationId xmlns:a16="http://schemas.microsoft.com/office/drawing/2014/main" id="{0169818F-24DF-9E11-8386-531417719FB5}"/>
              </a:ext>
            </a:extLst>
          </p:cNvPr>
          <p:cNvSpPr/>
          <p:nvPr/>
        </p:nvSpPr>
        <p:spPr>
          <a:xfrm>
            <a:off x="1917947" y="4358387"/>
            <a:ext cx="1537935" cy="1526335"/>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rgbClr val="7030A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100" b="1" kern="1200" dirty="0">
                <a:latin typeface="Aptos" panose="020B0004020202020204" pitchFamily="34" charset="0"/>
                <a:ea typeface="Calibri" panose="020F0502020204030204" pitchFamily="34" charset="0"/>
                <a:cs typeface="Times New Roman" panose="02020603050405020304" pitchFamily="18" charset="0"/>
              </a:rPr>
              <a:t>Embrace Structured Mentorship:</a:t>
            </a:r>
            <a:r>
              <a:rPr lang="en-US" sz="1100" kern="1200" dirty="0">
                <a:latin typeface="Aptos" panose="020B0004020202020204" pitchFamily="34" charset="0"/>
                <a:ea typeface="Calibri" panose="020F0502020204030204" pitchFamily="34" charset="0"/>
                <a:cs typeface="Times New Roman" panose="02020603050405020304" pitchFamily="18" charset="0"/>
              </a:rPr>
              <a:t> "Avoid leaving mentorship to chance."</a:t>
            </a:r>
          </a:p>
        </p:txBody>
      </p:sp>
      <p:sp>
        <p:nvSpPr>
          <p:cNvPr id="19" name="Freeform: Shape 18">
            <a:extLst>
              <a:ext uri="{FF2B5EF4-FFF2-40B4-BE49-F238E27FC236}">
                <a16:creationId xmlns:a16="http://schemas.microsoft.com/office/drawing/2014/main" id="{248928E6-9DFD-2FBF-6D16-8FB720188B13}"/>
              </a:ext>
            </a:extLst>
          </p:cNvPr>
          <p:cNvSpPr/>
          <p:nvPr/>
        </p:nvSpPr>
        <p:spPr>
          <a:xfrm>
            <a:off x="2886543" y="3300615"/>
            <a:ext cx="530803" cy="334981"/>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356004" y="184926"/>
                </a:moveTo>
                <a:lnTo>
                  <a:pt x="115578" y="184926"/>
                </a:lnTo>
                <a:lnTo>
                  <a:pt x="115578" y="231157"/>
                </a:lnTo>
                <a:lnTo>
                  <a:pt x="0" y="115578"/>
                </a:lnTo>
                <a:lnTo>
                  <a:pt x="115578" y="0"/>
                </a:lnTo>
                <a:lnTo>
                  <a:pt x="115578" y="46231"/>
                </a:lnTo>
                <a:lnTo>
                  <a:pt x="356004" y="46231"/>
                </a:lnTo>
                <a:lnTo>
                  <a:pt x="356004" y="184926"/>
                </a:lnTo>
                <a:close/>
              </a:path>
            </a:pathLst>
          </a:custGeom>
          <a:solidFill>
            <a:schemeClr val="accent5">
              <a:lumMod val="7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9347" tIns="46232" rIns="1" bIns="46231"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20" name="Freeform: Shape 19">
            <a:extLst>
              <a:ext uri="{FF2B5EF4-FFF2-40B4-BE49-F238E27FC236}">
                <a16:creationId xmlns:a16="http://schemas.microsoft.com/office/drawing/2014/main" id="{F5688AF2-7F89-D84F-C663-85E5A649143B}"/>
              </a:ext>
            </a:extLst>
          </p:cNvPr>
          <p:cNvSpPr/>
          <p:nvPr/>
        </p:nvSpPr>
        <p:spPr>
          <a:xfrm>
            <a:off x="1089925" y="2776820"/>
            <a:ext cx="1803958" cy="1667007"/>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a:solidFill>
            <a:schemeClr val="accent5">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050" b="1" kern="1200" dirty="0">
                <a:latin typeface="Aptos" panose="020B0004020202020204" pitchFamily="34" charset="0"/>
                <a:ea typeface="Calibri" panose="020F0502020204030204" pitchFamily="34" charset="0"/>
                <a:cs typeface="Times New Roman" panose="02020603050405020304" pitchFamily="18" charset="0"/>
              </a:rPr>
              <a:t>Legacy Building:</a:t>
            </a:r>
            <a:r>
              <a:rPr lang="en-US" sz="1050" kern="1200" dirty="0">
                <a:latin typeface="Aptos" panose="020B0004020202020204" pitchFamily="34" charset="0"/>
                <a:ea typeface="Calibri" panose="020F0502020204030204" pitchFamily="34" charset="0"/>
                <a:cs typeface="Times New Roman" panose="02020603050405020304" pitchFamily="18" charset="0"/>
              </a:rPr>
              <a:t> Each SAN must consider "what will endure when my voice is silent?" The answer lies in "the lawyers they have raised, and the standards they have preserved."</a:t>
            </a:r>
          </a:p>
        </p:txBody>
      </p:sp>
      <p:sp>
        <p:nvSpPr>
          <p:cNvPr id="21" name="Freeform: Shape 20">
            <a:extLst>
              <a:ext uri="{FF2B5EF4-FFF2-40B4-BE49-F238E27FC236}">
                <a16:creationId xmlns:a16="http://schemas.microsoft.com/office/drawing/2014/main" id="{8CC9F982-9D65-AC3B-2B75-D084E8470E62}"/>
              </a:ext>
            </a:extLst>
          </p:cNvPr>
          <p:cNvSpPr/>
          <p:nvPr/>
        </p:nvSpPr>
        <p:spPr>
          <a:xfrm rot="2700000">
            <a:off x="3221642" y="2526972"/>
            <a:ext cx="515901" cy="344655"/>
          </a:xfrm>
          <a:custGeom>
            <a:avLst/>
            <a:gdLst>
              <a:gd name="connsiteX0" fmla="*/ 0 w 356004"/>
              <a:gd name="connsiteY0" fmla="*/ 46231 h 231157"/>
              <a:gd name="connsiteX1" fmla="*/ 240426 w 356004"/>
              <a:gd name="connsiteY1" fmla="*/ 46231 h 231157"/>
              <a:gd name="connsiteX2" fmla="*/ 240426 w 356004"/>
              <a:gd name="connsiteY2" fmla="*/ 0 h 231157"/>
              <a:gd name="connsiteX3" fmla="*/ 356004 w 356004"/>
              <a:gd name="connsiteY3" fmla="*/ 115579 h 231157"/>
              <a:gd name="connsiteX4" fmla="*/ 240426 w 356004"/>
              <a:gd name="connsiteY4" fmla="*/ 231157 h 231157"/>
              <a:gd name="connsiteX5" fmla="*/ 240426 w 356004"/>
              <a:gd name="connsiteY5" fmla="*/ 184926 h 231157"/>
              <a:gd name="connsiteX6" fmla="*/ 0 w 356004"/>
              <a:gd name="connsiteY6" fmla="*/ 184926 h 231157"/>
              <a:gd name="connsiteX7" fmla="*/ 0 w 356004"/>
              <a:gd name="connsiteY7" fmla="*/ 46231 h 23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004" h="231157">
                <a:moveTo>
                  <a:pt x="356004" y="184926"/>
                </a:moveTo>
                <a:lnTo>
                  <a:pt x="115578" y="184926"/>
                </a:lnTo>
                <a:lnTo>
                  <a:pt x="115578" y="231157"/>
                </a:lnTo>
                <a:lnTo>
                  <a:pt x="0" y="115578"/>
                </a:lnTo>
                <a:lnTo>
                  <a:pt x="115578" y="0"/>
                </a:lnTo>
                <a:lnTo>
                  <a:pt x="115578" y="46231"/>
                </a:lnTo>
                <a:lnTo>
                  <a:pt x="356004" y="46231"/>
                </a:lnTo>
                <a:lnTo>
                  <a:pt x="356004" y="184926"/>
                </a:lnTo>
                <a:close/>
              </a:path>
            </a:pathLst>
          </a:custGeom>
          <a:solidFill>
            <a:schemeClr val="accent2">
              <a:lumMod val="75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69347" tIns="46231" rIns="-1" bIns="46230" numCol="1" spcCol="1270" anchor="ctr" anchorCtr="0">
            <a:noAutofit/>
          </a:bodyPr>
          <a:lstStyle/>
          <a:p>
            <a:pPr marL="0" lvl="0" indent="0" algn="ctr" defTabSz="222250">
              <a:lnSpc>
                <a:spcPct val="90000"/>
              </a:lnSpc>
              <a:spcBef>
                <a:spcPct val="0"/>
              </a:spcBef>
              <a:spcAft>
                <a:spcPct val="35000"/>
              </a:spcAft>
              <a:buNone/>
            </a:pPr>
            <a:endParaRPr lang="en-US" sz="900" kern="1200">
              <a:latin typeface="Aptos" panose="020B0004020202020204" pitchFamily="34" charset="0"/>
            </a:endParaRPr>
          </a:p>
        </p:txBody>
      </p:sp>
      <p:sp>
        <p:nvSpPr>
          <p:cNvPr id="22" name="Freeform: Shape 21">
            <a:extLst>
              <a:ext uri="{FF2B5EF4-FFF2-40B4-BE49-F238E27FC236}">
                <a16:creationId xmlns:a16="http://schemas.microsoft.com/office/drawing/2014/main" id="{508ABAB1-5521-ACB9-2C44-4CFF6AF3A528}"/>
              </a:ext>
            </a:extLst>
          </p:cNvPr>
          <p:cNvSpPr/>
          <p:nvPr/>
        </p:nvSpPr>
        <p:spPr>
          <a:xfrm>
            <a:off x="1729908" y="1187472"/>
            <a:ext cx="1715155" cy="1667007"/>
          </a:xfrm>
          <a:custGeom>
            <a:avLst/>
            <a:gdLst>
              <a:gd name="connsiteX0" fmla="*/ 0 w 1061242"/>
              <a:gd name="connsiteY0" fmla="*/ 530621 h 1061242"/>
              <a:gd name="connsiteX1" fmla="*/ 530621 w 1061242"/>
              <a:gd name="connsiteY1" fmla="*/ 0 h 1061242"/>
              <a:gd name="connsiteX2" fmla="*/ 1061242 w 1061242"/>
              <a:gd name="connsiteY2" fmla="*/ 530621 h 1061242"/>
              <a:gd name="connsiteX3" fmla="*/ 530621 w 1061242"/>
              <a:gd name="connsiteY3" fmla="*/ 1061242 h 1061242"/>
              <a:gd name="connsiteX4" fmla="*/ 0 w 1061242"/>
              <a:gd name="connsiteY4" fmla="*/ 530621 h 1061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242" h="1061242">
                <a:moveTo>
                  <a:pt x="0" y="530621"/>
                </a:moveTo>
                <a:cubicBezTo>
                  <a:pt x="0" y="237567"/>
                  <a:pt x="237567" y="0"/>
                  <a:pt x="530621" y="0"/>
                </a:cubicBezTo>
                <a:cubicBezTo>
                  <a:pt x="823675" y="0"/>
                  <a:pt x="1061242" y="237567"/>
                  <a:pt x="1061242" y="530621"/>
                </a:cubicBezTo>
                <a:cubicBezTo>
                  <a:pt x="1061242" y="823675"/>
                  <a:pt x="823675" y="1061242"/>
                  <a:pt x="530621" y="1061242"/>
                </a:cubicBezTo>
                <a:cubicBezTo>
                  <a:pt x="237567" y="1061242"/>
                  <a:pt x="0" y="823675"/>
                  <a:pt x="0" y="530621"/>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1765" tIns="161765" rIns="161765" bIns="161765" numCol="1" spcCol="1270" anchor="ctr" anchorCtr="0">
            <a:noAutofit/>
          </a:bodyPr>
          <a:lstStyle/>
          <a:p>
            <a:pPr marL="0" lvl="0" indent="0" algn="ctr" defTabSz="222250">
              <a:lnSpc>
                <a:spcPct val="90000"/>
              </a:lnSpc>
              <a:spcBef>
                <a:spcPct val="0"/>
              </a:spcBef>
              <a:spcAft>
                <a:spcPct val="35000"/>
              </a:spcAft>
              <a:buNone/>
            </a:pPr>
            <a:r>
              <a:rPr lang="en-US" sz="1100" b="1" kern="1200" dirty="0">
                <a:latin typeface="Aptos" panose="020B0004020202020204" pitchFamily="34" charset="0"/>
                <a:ea typeface="Calibri" panose="020F0502020204030204" pitchFamily="34" charset="0"/>
                <a:cs typeface="Times New Roman" panose="02020603050405020304" pitchFamily="18" charset="0"/>
              </a:rPr>
              <a:t>Knowledge Sharing Platforms:</a:t>
            </a:r>
            <a:r>
              <a:rPr lang="en-US" sz="1100" kern="1200" dirty="0">
                <a:latin typeface="Aptos" panose="020B0004020202020204" pitchFamily="34" charset="0"/>
                <a:ea typeface="Calibri" panose="020F0502020204030204" pitchFamily="34" charset="0"/>
                <a:cs typeface="Times New Roman" panose="02020603050405020304" pitchFamily="18" charset="0"/>
              </a:rPr>
              <a:t> Utilizing "seminars, clinics, and virtual mentorship."</a:t>
            </a:r>
          </a:p>
        </p:txBody>
      </p:sp>
      <p:sp>
        <p:nvSpPr>
          <p:cNvPr id="27" name="Rectangle 26">
            <a:extLst>
              <a:ext uri="{FF2B5EF4-FFF2-40B4-BE49-F238E27FC236}">
                <a16:creationId xmlns:a16="http://schemas.microsoft.com/office/drawing/2014/main" id="{F86AC38A-CFFF-F86C-A32E-8967A718A7BA}"/>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99" b="1" dirty="0">
                <a:solidFill>
                  <a:schemeClr val="bg1"/>
                </a:solidFill>
                <a:latin typeface="Aptos" panose="020B0004020202020204" pitchFamily="34" charset="0"/>
              </a:rPr>
              <a:t>15</a:t>
            </a:r>
            <a:endParaRPr lang="en-US" sz="2399" dirty="0"/>
          </a:p>
        </p:txBody>
      </p:sp>
    </p:spTree>
    <p:extLst>
      <p:ext uri="{BB962C8B-B14F-4D97-AF65-F5344CB8AC3E}">
        <p14:creationId xmlns:p14="http://schemas.microsoft.com/office/powerpoint/2010/main" val="283325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909836" y="194331"/>
            <a:ext cx="10051526" cy="711081"/>
          </a:xfrm>
        </p:spPr>
        <p:txBody>
          <a:bodyPr/>
          <a:lstStyle/>
          <a:p>
            <a:pPr marL="457200" lvl="0" indent="-457200">
              <a:lnSpc>
                <a:spcPct val="150000"/>
              </a:lnSpc>
              <a:spcBef>
                <a:spcPts val="0"/>
              </a:spcBef>
            </a:pPr>
            <a:r>
              <a:rPr lang="en-US" sz="4000" b="1" dirty="0">
                <a:solidFill>
                  <a:prstClr val="black"/>
                </a:solidFill>
                <a:latin typeface="Aptos" panose="020B0004020202020204" pitchFamily="34" charset="0"/>
              </a:rPr>
              <a:t>Challenges to Overcome as Mentors</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863073" y="1484784"/>
            <a:ext cx="10462678" cy="5535707"/>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a:t>
            </a:r>
            <a:r>
              <a:rPr lang="en-US" sz="28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 Time Constraints</a:t>
            </a:r>
            <a:endParaRPr lang="en-US" sz="2000" b="1"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p:txBody>
      </p:sp>
      <p:sp>
        <p:nvSpPr>
          <p:cNvPr id="8" name="TextBox 7"/>
          <p:cNvSpPr txBox="1"/>
          <p:nvPr/>
        </p:nvSpPr>
        <p:spPr>
          <a:xfrm>
            <a:off x="1706281" y="5611499"/>
            <a:ext cx="3024336" cy="461665"/>
          </a:xfrm>
          <a:prstGeom prst="rect">
            <a:avLst/>
          </a:prstGeom>
          <a:noFill/>
        </p:spPr>
        <p:txBody>
          <a:bodyPr wrap="square" rtlCol="0">
            <a:spAutoFit/>
          </a:bodyPr>
          <a:lstStyle/>
          <a:p>
            <a:r>
              <a:rPr lang="en-US" dirty="0">
                <a:latin typeface="Aptos" panose="020B0004020202020204" pitchFamily="34" charset="0"/>
              </a:rPr>
              <a:t>Generational gaps</a:t>
            </a:r>
          </a:p>
        </p:txBody>
      </p:sp>
      <p:sp>
        <p:nvSpPr>
          <p:cNvPr id="12" name="TextBox 11"/>
          <p:cNvSpPr txBox="1"/>
          <p:nvPr/>
        </p:nvSpPr>
        <p:spPr>
          <a:xfrm>
            <a:off x="6854852" y="5611499"/>
            <a:ext cx="3132348" cy="461665"/>
          </a:xfrm>
          <a:prstGeom prst="rect">
            <a:avLst/>
          </a:prstGeom>
          <a:noFill/>
        </p:spPr>
        <p:txBody>
          <a:bodyPr wrap="square" rtlCol="0">
            <a:spAutoFit/>
          </a:bodyPr>
          <a:lstStyle/>
          <a:p>
            <a:r>
              <a:rPr lang="en-US" dirty="0">
                <a:latin typeface="Aptos" panose="020B0004020202020204" pitchFamily="34" charset="0"/>
              </a:rPr>
              <a:t>Technological gaps</a:t>
            </a:r>
          </a:p>
        </p:txBody>
      </p:sp>
      <p:sp>
        <p:nvSpPr>
          <p:cNvPr id="3" name="Freeform 533">
            <a:extLst>
              <a:ext uri="{FF2B5EF4-FFF2-40B4-BE49-F238E27FC236}">
                <a16:creationId xmlns:a16="http://schemas.microsoft.com/office/drawing/2014/main" id="{C5BBDB00-29E7-6BE7-D183-0541EAE26188}"/>
              </a:ext>
            </a:extLst>
          </p:cNvPr>
          <p:cNvSpPr>
            <a:spLocks/>
          </p:cNvSpPr>
          <p:nvPr/>
        </p:nvSpPr>
        <p:spPr bwMode="auto">
          <a:xfrm>
            <a:off x="5342684" y="2168153"/>
            <a:ext cx="2702404" cy="461665"/>
          </a:xfrm>
          <a:custGeom>
            <a:avLst/>
            <a:gdLst>
              <a:gd name="T0" fmla="*/ 852 w 1400"/>
              <a:gd name="T1" fmla="*/ 175 h 589"/>
              <a:gd name="T2" fmla="*/ 10 w 1400"/>
              <a:gd name="T3" fmla="*/ 175 h 589"/>
              <a:gd name="T4" fmla="*/ 0 w 1400"/>
              <a:gd name="T5" fmla="*/ 408 h 589"/>
              <a:gd name="T6" fmla="*/ 852 w 1400"/>
              <a:gd name="T7" fmla="*/ 408 h 589"/>
              <a:gd name="T8" fmla="*/ 852 w 1400"/>
              <a:gd name="T9" fmla="*/ 533 h 589"/>
              <a:gd name="T10" fmla="*/ 921 w 1400"/>
              <a:gd name="T11" fmla="*/ 574 h 589"/>
              <a:gd name="T12" fmla="*/ 1365 w 1400"/>
              <a:gd name="T13" fmla="*/ 335 h 589"/>
              <a:gd name="T14" fmla="*/ 1363 w 1400"/>
              <a:gd name="T15" fmla="*/ 253 h 589"/>
              <a:gd name="T16" fmla="*/ 922 w 1400"/>
              <a:gd name="T17" fmla="*/ 15 h 589"/>
              <a:gd name="T18" fmla="*/ 852 w 1400"/>
              <a:gd name="T19" fmla="*/ 57 h 589"/>
              <a:gd name="T20" fmla="*/ 852 w 1400"/>
              <a:gd name="T21" fmla="*/ 175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0" h="589">
                <a:moveTo>
                  <a:pt x="852" y="175"/>
                </a:moveTo>
                <a:cubicBezTo>
                  <a:pt x="10" y="175"/>
                  <a:pt x="10" y="175"/>
                  <a:pt x="10" y="175"/>
                </a:cubicBezTo>
                <a:cubicBezTo>
                  <a:pt x="0" y="408"/>
                  <a:pt x="0" y="408"/>
                  <a:pt x="0" y="408"/>
                </a:cubicBezTo>
                <a:cubicBezTo>
                  <a:pt x="852" y="408"/>
                  <a:pt x="852" y="408"/>
                  <a:pt x="852" y="408"/>
                </a:cubicBezTo>
                <a:cubicBezTo>
                  <a:pt x="852" y="533"/>
                  <a:pt x="852" y="533"/>
                  <a:pt x="852" y="533"/>
                </a:cubicBezTo>
                <a:cubicBezTo>
                  <a:pt x="852" y="575"/>
                  <a:pt x="894" y="589"/>
                  <a:pt x="921" y="574"/>
                </a:cubicBezTo>
                <a:cubicBezTo>
                  <a:pt x="1365" y="335"/>
                  <a:pt x="1365" y="335"/>
                  <a:pt x="1365" y="335"/>
                </a:cubicBezTo>
                <a:cubicBezTo>
                  <a:pt x="1400" y="316"/>
                  <a:pt x="1395" y="270"/>
                  <a:pt x="1363" y="253"/>
                </a:cubicBezTo>
                <a:cubicBezTo>
                  <a:pt x="922" y="15"/>
                  <a:pt x="922" y="15"/>
                  <a:pt x="922" y="15"/>
                </a:cubicBezTo>
                <a:cubicBezTo>
                  <a:pt x="894" y="0"/>
                  <a:pt x="852" y="14"/>
                  <a:pt x="852" y="57"/>
                </a:cubicBezTo>
                <a:lnTo>
                  <a:pt x="852" y="175"/>
                </a:lnTo>
                <a:close/>
              </a:path>
            </a:pathLst>
          </a:cu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100000" t="100000"/>
            </a:path>
            <a:tileRect r="-100000" b="-100000"/>
          </a:gra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3" name="Freeform 521">
            <a:extLst>
              <a:ext uri="{FF2B5EF4-FFF2-40B4-BE49-F238E27FC236}">
                <a16:creationId xmlns:a16="http://schemas.microsoft.com/office/drawing/2014/main" id="{A5B43F29-C26B-6581-DAFE-05CA0688086F}"/>
              </a:ext>
            </a:extLst>
          </p:cNvPr>
          <p:cNvSpPr>
            <a:spLocks/>
          </p:cNvSpPr>
          <p:nvPr/>
        </p:nvSpPr>
        <p:spPr bwMode="auto">
          <a:xfrm rot="16200000">
            <a:off x="1447875" y="3039835"/>
            <a:ext cx="2733670" cy="1699986"/>
          </a:xfrm>
          <a:custGeom>
            <a:avLst/>
            <a:gdLst>
              <a:gd name="T0" fmla="*/ 2141 w 2145"/>
              <a:gd name="T1" fmla="*/ 332 h 1149"/>
              <a:gd name="T2" fmla="*/ 1069 w 2145"/>
              <a:gd name="T3" fmla="*/ 332 h 1149"/>
              <a:gd name="T4" fmla="*/ 1069 w 2145"/>
              <a:gd name="T5" fmla="*/ 112 h 1149"/>
              <a:gd name="T6" fmla="*/ 931 w 2145"/>
              <a:gd name="T7" fmla="*/ 30 h 1149"/>
              <a:gd name="T8" fmla="*/ 72 w 2145"/>
              <a:gd name="T9" fmla="*/ 493 h 1149"/>
              <a:gd name="T10" fmla="*/ 69 w 2145"/>
              <a:gd name="T11" fmla="*/ 654 h 1149"/>
              <a:gd name="T12" fmla="*/ 933 w 2145"/>
              <a:gd name="T13" fmla="*/ 1120 h 1149"/>
              <a:gd name="T14" fmla="*/ 1069 w 2145"/>
              <a:gd name="T15" fmla="*/ 1040 h 1149"/>
              <a:gd name="T16" fmla="*/ 1069 w 2145"/>
              <a:gd name="T17" fmla="*/ 813 h 1149"/>
              <a:gd name="T18" fmla="*/ 2145 w 2145"/>
              <a:gd name="T19" fmla="*/ 813 h 1149"/>
              <a:gd name="T20" fmla="*/ 2141 w 2145"/>
              <a:gd name="T21" fmla="*/ 332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5" h="1149">
                <a:moveTo>
                  <a:pt x="2141" y="332"/>
                </a:moveTo>
                <a:cubicBezTo>
                  <a:pt x="1069" y="332"/>
                  <a:pt x="1069" y="332"/>
                  <a:pt x="1069" y="332"/>
                </a:cubicBezTo>
                <a:cubicBezTo>
                  <a:pt x="1069" y="112"/>
                  <a:pt x="1069" y="112"/>
                  <a:pt x="1069" y="112"/>
                </a:cubicBezTo>
                <a:cubicBezTo>
                  <a:pt x="1069" y="28"/>
                  <a:pt x="987" y="0"/>
                  <a:pt x="931" y="30"/>
                </a:cubicBezTo>
                <a:cubicBezTo>
                  <a:pt x="72" y="493"/>
                  <a:pt x="72" y="493"/>
                  <a:pt x="72" y="493"/>
                </a:cubicBezTo>
                <a:cubicBezTo>
                  <a:pt x="9" y="527"/>
                  <a:pt x="0" y="617"/>
                  <a:pt x="69" y="654"/>
                </a:cubicBezTo>
                <a:cubicBezTo>
                  <a:pt x="933" y="1120"/>
                  <a:pt x="933" y="1120"/>
                  <a:pt x="933" y="1120"/>
                </a:cubicBezTo>
                <a:cubicBezTo>
                  <a:pt x="986" y="1149"/>
                  <a:pt x="1069" y="1122"/>
                  <a:pt x="1069" y="1040"/>
                </a:cubicBezTo>
                <a:cubicBezTo>
                  <a:pt x="1069" y="813"/>
                  <a:pt x="1069" y="813"/>
                  <a:pt x="1069" y="813"/>
                </a:cubicBezTo>
                <a:cubicBezTo>
                  <a:pt x="2145" y="813"/>
                  <a:pt x="2145" y="813"/>
                  <a:pt x="2145" y="813"/>
                </a:cubicBezTo>
                <a:lnTo>
                  <a:pt x="2141" y="332"/>
                </a:lnTo>
                <a:close/>
              </a:path>
            </a:pathLst>
          </a:cu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t="100000" r="100000"/>
            </a:path>
            <a:tileRect l="-100000" b="-100000"/>
          </a:gra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6" name="Freeform 517">
            <a:extLst>
              <a:ext uri="{FF2B5EF4-FFF2-40B4-BE49-F238E27FC236}">
                <a16:creationId xmlns:a16="http://schemas.microsoft.com/office/drawing/2014/main" id="{D958FA88-DDA2-537F-4534-B15C663E9CBA}"/>
              </a:ext>
            </a:extLst>
          </p:cNvPr>
          <p:cNvSpPr>
            <a:spLocks/>
          </p:cNvSpPr>
          <p:nvPr/>
        </p:nvSpPr>
        <p:spPr bwMode="auto">
          <a:xfrm rot="16200000">
            <a:off x="6777480" y="3083117"/>
            <a:ext cx="2733669" cy="1613418"/>
          </a:xfrm>
          <a:custGeom>
            <a:avLst/>
            <a:gdLst>
              <a:gd name="T0" fmla="*/ 82 w 1679"/>
              <a:gd name="T1" fmla="*/ 775 h 1361"/>
              <a:gd name="T2" fmla="*/ 86 w 1679"/>
              <a:gd name="T3" fmla="*/ 584 h 1361"/>
              <a:gd name="T4" fmla="*/ 1104 w 1679"/>
              <a:gd name="T5" fmla="*/ 35 h 1361"/>
              <a:gd name="T6" fmla="*/ 1267 w 1679"/>
              <a:gd name="T7" fmla="*/ 132 h 1361"/>
              <a:gd name="T8" fmla="*/ 1267 w 1679"/>
              <a:gd name="T9" fmla="*/ 386 h 1361"/>
              <a:gd name="T10" fmla="*/ 1679 w 1679"/>
              <a:gd name="T11" fmla="*/ 386 h 1361"/>
              <a:gd name="T12" fmla="*/ 1679 w 1679"/>
              <a:gd name="T13" fmla="*/ 976 h 1361"/>
              <a:gd name="T14" fmla="*/ 1267 w 1679"/>
              <a:gd name="T15" fmla="*/ 976 h 1361"/>
              <a:gd name="T16" fmla="*/ 1267 w 1679"/>
              <a:gd name="T17" fmla="*/ 1232 h 1361"/>
              <a:gd name="T18" fmla="*/ 1106 w 1679"/>
              <a:gd name="T19" fmla="*/ 1327 h 1361"/>
              <a:gd name="T20" fmla="*/ 82 w 1679"/>
              <a:gd name="T21" fmla="*/ 775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9" h="1361">
                <a:moveTo>
                  <a:pt x="82" y="775"/>
                </a:moveTo>
                <a:cubicBezTo>
                  <a:pt x="0" y="731"/>
                  <a:pt x="11" y="624"/>
                  <a:pt x="86" y="584"/>
                </a:cubicBezTo>
                <a:cubicBezTo>
                  <a:pt x="1104" y="35"/>
                  <a:pt x="1104" y="35"/>
                  <a:pt x="1104" y="35"/>
                </a:cubicBezTo>
                <a:cubicBezTo>
                  <a:pt x="1170" y="0"/>
                  <a:pt x="1267" y="33"/>
                  <a:pt x="1267" y="132"/>
                </a:cubicBezTo>
                <a:cubicBezTo>
                  <a:pt x="1267" y="386"/>
                  <a:pt x="1267" y="386"/>
                  <a:pt x="1267" y="386"/>
                </a:cubicBezTo>
                <a:cubicBezTo>
                  <a:pt x="1679" y="386"/>
                  <a:pt x="1679" y="386"/>
                  <a:pt x="1679" y="386"/>
                </a:cubicBezTo>
                <a:cubicBezTo>
                  <a:pt x="1679" y="976"/>
                  <a:pt x="1679" y="976"/>
                  <a:pt x="1679" y="976"/>
                </a:cubicBezTo>
                <a:cubicBezTo>
                  <a:pt x="1267" y="976"/>
                  <a:pt x="1267" y="976"/>
                  <a:pt x="1267" y="976"/>
                </a:cubicBezTo>
                <a:cubicBezTo>
                  <a:pt x="1267" y="1232"/>
                  <a:pt x="1267" y="1232"/>
                  <a:pt x="1267" y="1232"/>
                </a:cubicBezTo>
                <a:cubicBezTo>
                  <a:pt x="1267" y="1329"/>
                  <a:pt x="1170" y="1361"/>
                  <a:pt x="1106" y="1327"/>
                </a:cubicBezTo>
                <a:lnTo>
                  <a:pt x="82" y="775"/>
                </a:lnTo>
                <a:close/>
              </a:path>
            </a:pathLst>
          </a:cu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t="100000" r="100000"/>
            </a:path>
            <a:tileRect l="-100000" b="-100000"/>
          </a:gra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8" name="Freeform 533">
            <a:extLst>
              <a:ext uri="{FF2B5EF4-FFF2-40B4-BE49-F238E27FC236}">
                <a16:creationId xmlns:a16="http://schemas.microsoft.com/office/drawing/2014/main" id="{D0E2D712-3592-3C8A-4AF1-73F6E5BBC5D8}"/>
              </a:ext>
            </a:extLst>
          </p:cNvPr>
          <p:cNvSpPr>
            <a:spLocks/>
          </p:cNvSpPr>
          <p:nvPr/>
        </p:nvSpPr>
        <p:spPr bwMode="auto">
          <a:xfrm flipH="1">
            <a:off x="3031611" y="2168154"/>
            <a:ext cx="2383080" cy="461665"/>
          </a:xfrm>
          <a:custGeom>
            <a:avLst/>
            <a:gdLst>
              <a:gd name="T0" fmla="*/ 852 w 1400"/>
              <a:gd name="T1" fmla="*/ 175 h 589"/>
              <a:gd name="T2" fmla="*/ 10 w 1400"/>
              <a:gd name="T3" fmla="*/ 175 h 589"/>
              <a:gd name="T4" fmla="*/ 0 w 1400"/>
              <a:gd name="T5" fmla="*/ 408 h 589"/>
              <a:gd name="T6" fmla="*/ 852 w 1400"/>
              <a:gd name="T7" fmla="*/ 408 h 589"/>
              <a:gd name="T8" fmla="*/ 852 w 1400"/>
              <a:gd name="T9" fmla="*/ 533 h 589"/>
              <a:gd name="T10" fmla="*/ 921 w 1400"/>
              <a:gd name="T11" fmla="*/ 574 h 589"/>
              <a:gd name="T12" fmla="*/ 1365 w 1400"/>
              <a:gd name="T13" fmla="*/ 335 h 589"/>
              <a:gd name="T14" fmla="*/ 1363 w 1400"/>
              <a:gd name="T15" fmla="*/ 253 h 589"/>
              <a:gd name="T16" fmla="*/ 922 w 1400"/>
              <a:gd name="T17" fmla="*/ 15 h 589"/>
              <a:gd name="T18" fmla="*/ 852 w 1400"/>
              <a:gd name="T19" fmla="*/ 57 h 589"/>
              <a:gd name="T20" fmla="*/ 852 w 1400"/>
              <a:gd name="T21" fmla="*/ 175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0" h="589">
                <a:moveTo>
                  <a:pt x="852" y="175"/>
                </a:moveTo>
                <a:cubicBezTo>
                  <a:pt x="10" y="175"/>
                  <a:pt x="10" y="175"/>
                  <a:pt x="10" y="175"/>
                </a:cubicBezTo>
                <a:cubicBezTo>
                  <a:pt x="0" y="408"/>
                  <a:pt x="0" y="408"/>
                  <a:pt x="0" y="408"/>
                </a:cubicBezTo>
                <a:cubicBezTo>
                  <a:pt x="852" y="408"/>
                  <a:pt x="852" y="408"/>
                  <a:pt x="852" y="408"/>
                </a:cubicBezTo>
                <a:cubicBezTo>
                  <a:pt x="852" y="533"/>
                  <a:pt x="852" y="533"/>
                  <a:pt x="852" y="533"/>
                </a:cubicBezTo>
                <a:cubicBezTo>
                  <a:pt x="852" y="575"/>
                  <a:pt x="894" y="589"/>
                  <a:pt x="921" y="574"/>
                </a:cubicBezTo>
                <a:cubicBezTo>
                  <a:pt x="1365" y="335"/>
                  <a:pt x="1365" y="335"/>
                  <a:pt x="1365" y="335"/>
                </a:cubicBezTo>
                <a:cubicBezTo>
                  <a:pt x="1400" y="316"/>
                  <a:pt x="1395" y="270"/>
                  <a:pt x="1363" y="253"/>
                </a:cubicBezTo>
                <a:cubicBezTo>
                  <a:pt x="922" y="15"/>
                  <a:pt x="922" y="15"/>
                  <a:pt x="922" y="15"/>
                </a:cubicBezTo>
                <a:cubicBezTo>
                  <a:pt x="894" y="0"/>
                  <a:pt x="852" y="14"/>
                  <a:pt x="852" y="57"/>
                </a:cubicBezTo>
                <a:lnTo>
                  <a:pt x="852" y="175"/>
                </a:lnTo>
                <a:close/>
              </a:path>
            </a:pathLst>
          </a:cu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100000" t="100000"/>
            </a:path>
            <a:tileRect r="-100000" b="-100000"/>
          </a:gra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9" name="Rectangle 28">
            <a:extLst>
              <a:ext uri="{FF2B5EF4-FFF2-40B4-BE49-F238E27FC236}">
                <a16:creationId xmlns:a16="http://schemas.microsoft.com/office/drawing/2014/main" id="{2094900B-AB44-6798-6B92-E33E53C5EA5F}"/>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99" b="1" dirty="0">
                <a:solidFill>
                  <a:schemeClr val="bg1"/>
                </a:solidFill>
                <a:latin typeface="Aptos" panose="020B0004020202020204" pitchFamily="34" charset="0"/>
              </a:rPr>
              <a:t>16</a:t>
            </a:r>
            <a:endParaRPr lang="en-US" sz="2399" dirty="0"/>
          </a:p>
        </p:txBody>
      </p:sp>
    </p:spTree>
    <p:extLst>
      <p:ext uri="{BB962C8B-B14F-4D97-AF65-F5344CB8AC3E}">
        <p14:creationId xmlns:p14="http://schemas.microsoft.com/office/powerpoint/2010/main" val="20997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1153492" y="188640"/>
            <a:ext cx="10051526" cy="711081"/>
          </a:xfrm>
        </p:spPr>
        <p:txBody>
          <a:bodyPr/>
          <a:lstStyle/>
          <a:p>
            <a:pPr marL="457200" lvl="0" indent="-457200">
              <a:lnSpc>
                <a:spcPct val="150000"/>
              </a:lnSpc>
              <a:spcBef>
                <a:spcPts val="0"/>
              </a:spcBef>
            </a:pPr>
            <a:r>
              <a:rPr lang="en-US" sz="4000" dirty="0">
                <a:solidFill>
                  <a:prstClr val="black"/>
                </a:solidFill>
                <a:latin typeface="Aptos" panose="020B0004020202020204" pitchFamily="34" charset="0"/>
              </a:rPr>
              <a:t>Charge to New Senior Advocates</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1248358" y="661146"/>
            <a:ext cx="10462678" cy="5535707"/>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indent="0" algn="just">
              <a:lnSpc>
                <a:spcPct val="107000"/>
              </a:lnSpc>
              <a:spcBef>
                <a:spcPts val="0"/>
              </a:spcBef>
              <a:spcAft>
                <a:spcPts val="800"/>
              </a:spcAft>
              <a:buNone/>
            </a:pPr>
            <a:endParaRPr lang="en-US" sz="20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latin typeface="Aptos" panose="020B0004020202020204" pitchFamily="34" charset="0"/>
                <a:ea typeface="Calibri" panose="020F0502020204030204" pitchFamily="34" charset="0"/>
                <a:cs typeface="Times New Roman" panose="02020603050405020304" pitchFamily="18" charset="0"/>
              </a:rPr>
              <a:t>"Wear your silk not as a personal crown, but as a mantle of responsibility.“</a:t>
            </a:r>
          </a:p>
          <a:p>
            <a:pPr marL="0" marR="0" indent="0" algn="just">
              <a:lnSpc>
                <a:spcPct val="107000"/>
              </a:lnSpc>
              <a:spcBef>
                <a:spcPts val="0"/>
              </a:spcBef>
              <a:spcAft>
                <a:spcPts val="800"/>
              </a:spcAft>
              <a:buNone/>
            </a:pPr>
            <a:endParaRPr lang="en-US" sz="20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latin typeface="Aptos" panose="020B0004020202020204" pitchFamily="34" charset="0"/>
                <a:ea typeface="Calibri" panose="020F0502020204030204" pitchFamily="34" charset="0"/>
                <a:cs typeface="Times New Roman" panose="02020603050405020304" pitchFamily="18" charset="0"/>
              </a:rPr>
              <a:t>"Be the mentor you once needed.“</a:t>
            </a:r>
          </a:p>
          <a:p>
            <a:pPr marL="0" marR="0" indent="0" algn="just">
              <a:lnSpc>
                <a:spcPct val="107000"/>
              </a:lnSpc>
              <a:spcBef>
                <a:spcPts val="0"/>
              </a:spcBef>
              <a:spcAft>
                <a:spcPts val="800"/>
              </a:spcAft>
              <a:buNone/>
            </a:pPr>
            <a:endParaRPr lang="en-US" sz="20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latin typeface="Aptos" panose="020B0004020202020204" pitchFamily="34" charset="0"/>
                <a:ea typeface="Calibri" panose="020F0502020204030204" pitchFamily="34" charset="0"/>
                <a:cs typeface="Times New Roman" panose="02020603050405020304" pitchFamily="18" charset="0"/>
              </a:rPr>
              <a:t>"See every young lawyer not as a rival or competitor, but as a legacy in the making you can help build.“</a:t>
            </a:r>
          </a:p>
          <a:p>
            <a:pPr marL="0" marR="0" indent="0" algn="just">
              <a:lnSpc>
                <a:spcPct val="107000"/>
              </a:lnSpc>
              <a:spcBef>
                <a:spcPts val="0"/>
              </a:spcBef>
              <a:spcAft>
                <a:spcPts val="800"/>
              </a:spcAft>
              <a:buNone/>
            </a:pPr>
            <a:endParaRPr lang="en-US" sz="20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latin typeface="Aptos" panose="020B0004020202020204" pitchFamily="34" charset="0"/>
                <a:ea typeface="Calibri" panose="020F0502020204030204" pitchFamily="34" charset="0"/>
                <a:cs typeface="Times New Roman" panose="02020603050405020304" pitchFamily="18" charset="0"/>
              </a:rPr>
              <a:t>"Commit to mentorship and knowledge transfer in all your professional associations”</a:t>
            </a:r>
          </a:p>
          <a:p>
            <a:pPr marL="0" marR="0" indent="0" algn="just">
              <a:lnSpc>
                <a:spcPct val="107000"/>
              </a:lnSpc>
              <a:spcBef>
                <a:spcPts val="0"/>
              </a:spcBef>
              <a:spcAft>
                <a:spcPts val="800"/>
              </a:spcAft>
              <a:buNone/>
            </a:pPr>
            <a:endParaRPr lang="en-US" sz="20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latin typeface="Aptos" panose="020B0004020202020204" pitchFamily="34" charset="0"/>
                <a:ea typeface="Calibri" panose="020F0502020204030204" pitchFamily="34" charset="0"/>
                <a:cs typeface="Times New Roman" panose="02020603050405020304" pitchFamily="18" charset="0"/>
              </a:rPr>
              <a:t>"Let your mentorship open doors of opportunity as well as open wider  doors of </a:t>
            </a:r>
            <a:r>
              <a:rPr lang="en-US" sz="2000" kern="100" dirty="0" err="1">
                <a:latin typeface="Aptos" panose="020B0004020202020204" pitchFamily="34" charset="0"/>
                <a:ea typeface="Calibri" panose="020F0502020204030204" pitchFamily="34" charset="0"/>
                <a:cs typeface="Times New Roman" panose="02020603050405020304" pitchFamily="18" charset="0"/>
              </a:rPr>
              <a:t>honour</a:t>
            </a:r>
            <a:r>
              <a:rPr lang="en-US" sz="2000" kern="100" dirty="0">
                <a:latin typeface="Aptos" panose="020B0004020202020204" pitchFamily="34" charset="0"/>
                <a:ea typeface="Calibri" panose="020F0502020204030204" pitchFamily="34" charset="0"/>
                <a:cs typeface="Times New Roman" panose="02020603050405020304" pitchFamily="18" charset="0"/>
              </a:rPr>
              <a:t>, dignity, integrity and professionalism above reproach.“</a:t>
            </a:r>
          </a:p>
          <a:p>
            <a:pPr marL="0" marR="0" indent="0" algn="just">
              <a:lnSpc>
                <a:spcPct val="107000"/>
              </a:lnSpc>
              <a:spcBef>
                <a:spcPts val="0"/>
              </a:spcBef>
              <a:spcAft>
                <a:spcPts val="800"/>
              </a:spcAft>
              <a:buNone/>
            </a:pPr>
            <a:endParaRPr lang="en-US" sz="2000" kern="100" dirty="0">
              <a:latin typeface="Aptos" panose="020B000402020202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latin typeface="Aptos" panose="020B0004020202020204" pitchFamily="34" charset="0"/>
                <a:ea typeface="Calibri" panose="020F0502020204030204" pitchFamily="34" charset="0"/>
                <a:cs typeface="Times New Roman" panose="02020603050405020304" pitchFamily="18" charset="0"/>
              </a:rPr>
              <a:t>Embrace technology for a "modern, dynamic, and relevant future-proof" legacy.</a:t>
            </a:r>
          </a:p>
          <a:p>
            <a:pPr marL="0" algn="just">
              <a:lnSpc>
                <a:spcPct val="107000"/>
              </a:lnSpc>
              <a:spcBef>
                <a:spcPts val="0"/>
              </a:spcBef>
              <a:spcAft>
                <a:spcPts val="800"/>
              </a:spcAft>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p:txBody>
      </p:sp>
      <p:sp>
        <p:nvSpPr>
          <p:cNvPr id="3" name="Cube 2">
            <a:extLst>
              <a:ext uri="{FF2B5EF4-FFF2-40B4-BE49-F238E27FC236}">
                <a16:creationId xmlns:a16="http://schemas.microsoft.com/office/drawing/2014/main" id="{B1A43812-0FCD-90BB-5E23-CF844C3AEC67}"/>
              </a:ext>
            </a:extLst>
          </p:cNvPr>
          <p:cNvSpPr/>
          <p:nvPr/>
        </p:nvSpPr>
        <p:spPr>
          <a:xfrm rot="8100000">
            <a:off x="443218" y="2380081"/>
            <a:ext cx="574956" cy="505125"/>
          </a:xfrm>
          <a:prstGeom prst="cube">
            <a:avLst>
              <a:gd name="adj" fmla="val 1463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be 3">
            <a:extLst>
              <a:ext uri="{FF2B5EF4-FFF2-40B4-BE49-F238E27FC236}">
                <a16:creationId xmlns:a16="http://schemas.microsoft.com/office/drawing/2014/main" id="{6A76D216-42A3-8BCF-EFFB-8CC33B415636}"/>
              </a:ext>
            </a:extLst>
          </p:cNvPr>
          <p:cNvSpPr/>
          <p:nvPr/>
        </p:nvSpPr>
        <p:spPr>
          <a:xfrm rot="13500000">
            <a:off x="357307" y="1452356"/>
            <a:ext cx="505125" cy="574956"/>
          </a:xfrm>
          <a:prstGeom prst="cube">
            <a:avLst>
              <a:gd name="adj" fmla="val 1463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be 4">
            <a:extLst>
              <a:ext uri="{FF2B5EF4-FFF2-40B4-BE49-F238E27FC236}">
                <a16:creationId xmlns:a16="http://schemas.microsoft.com/office/drawing/2014/main" id="{868C2115-3DE9-C0E5-C72D-4E6F2CD3008D}"/>
              </a:ext>
            </a:extLst>
          </p:cNvPr>
          <p:cNvSpPr/>
          <p:nvPr/>
        </p:nvSpPr>
        <p:spPr>
          <a:xfrm rot="18900000">
            <a:off x="450703" y="4385430"/>
            <a:ext cx="574956" cy="505125"/>
          </a:xfrm>
          <a:prstGeom prst="cube">
            <a:avLst>
              <a:gd name="adj" fmla="val 146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be 5">
            <a:extLst>
              <a:ext uri="{FF2B5EF4-FFF2-40B4-BE49-F238E27FC236}">
                <a16:creationId xmlns:a16="http://schemas.microsoft.com/office/drawing/2014/main" id="{C18313EC-C91D-2ED8-3AF0-7A3948C850B5}"/>
              </a:ext>
            </a:extLst>
          </p:cNvPr>
          <p:cNvSpPr/>
          <p:nvPr/>
        </p:nvSpPr>
        <p:spPr>
          <a:xfrm rot="2700000">
            <a:off x="478133" y="3317172"/>
            <a:ext cx="505125" cy="574956"/>
          </a:xfrm>
          <a:prstGeom prst="cube">
            <a:avLst>
              <a:gd name="adj" fmla="val 14635"/>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be 7">
            <a:extLst>
              <a:ext uri="{FF2B5EF4-FFF2-40B4-BE49-F238E27FC236}">
                <a16:creationId xmlns:a16="http://schemas.microsoft.com/office/drawing/2014/main" id="{3C42F522-B289-9392-D7CD-97A9ADCABBA0}"/>
              </a:ext>
            </a:extLst>
          </p:cNvPr>
          <p:cNvSpPr/>
          <p:nvPr/>
        </p:nvSpPr>
        <p:spPr>
          <a:xfrm rot="18900000">
            <a:off x="443217" y="5532554"/>
            <a:ext cx="574956" cy="505125"/>
          </a:xfrm>
          <a:prstGeom prst="cube">
            <a:avLst>
              <a:gd name="adj" fmla="val 146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4696681-9740-ABC9-FA78-7C933C477141}"/>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99" b="1" dirty="0">
                <a:solidFill>
                  <a:schemeClr val="bg1"/>
                </a:solidFill>
                <a:latin typeface="Aptos" panose="020B0004020202020204" pitchFamily="34" charset="0"/>
              </a:rPr>
              <a:t>17</a:t>
            </a:r>
            <a:endParaRPr lang="en-US" sz="2399" dirty="0"/>
          </a:p>
        </p:txBody>
      </p:sp>
    </p:spTree>
    <p:extLst>
      <p:ext uri="{BB962C8B-B14F-4D97-AF65-F5344CB8AC3E}">
        <p14:creationId xmlns:p14="http://schemas.microsoft.com/office/powerpoint/2010/main" val="929821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981844" y="246920"/>
            <a:ext cx="10051526" cy="711081"/>
          </a:xfrm>
        </p:spPr>
        <p:txBody>
          <a:bodyPr/>
          <a:lstStyle/>
          <a:p>
            <a:pPr marL="457200" lvl="0" indent="-457200">
              <a:lnSpc>
                <a:spcPct val="150000"/>
              </a:lnSpc>
              <a:spcBef>
                <a:spcPts val="0"/>
              </a:spcBef>
            </a:pPr>
            <a:r>
              <a:rPr lang="en-US" sz="3200" dirty="0">
                <a:solidFill>
                  <a:prstClr val="black"/>
                </a:solidFill>
                <a:latin typeface="Aptos" panose="020B0004020202020204" pitchFamily="34" charset="0"/>
              </a:rPr>
              <a:t>Proposal for Body of Senior Advocates of Nigeria (BOSAN)</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981844" y="994456"/>
            <a:ext cx="10153128" cy="5616624"/>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indent="0" algn="just">
              <a:lnSpc>
                <a:spcPct val="107000"/>
              </a:lnSpc>
              <a:spcBef>
                <a:spcPts val="0"/>
              </a:spcBef>
              <a:spcAft>
                <a:spcPts val="800"/>
              </a:spcAft>
              <a:buNone/>
            </a:pPr>
            <a:r>
              <a:rPr lang="en-US" sz="1900" kern="100" dirty="0">
                <a:latin typeface="Aptos" panose="020B0004020202020204" pitchFamily="34" charset="0"/>
                <a:ea typeface="Calibri" panose="020F0502020204030204" pitchFamily="34" charset="0"/>
                <a:cs typeface="Times New Roman" panose="02020603050405020304" pitchFamily="18" charset="0"/>
              </a:rPr>
              <a:t>The Body of Benchers should identify with, support, and collaborate with the various professional bodies and initiatives to ensure that Senior Advocates consciously and deliberately participate in Mentorship and Leadership programs. For Instance: </a:t>
            </a:r>
          </a:p>
          <a:p>
            <a:pPr marL="0" marR="0" algn="just">
              <a:lnSpc>
                <a:spcPct val="107000"/>
              </a:lnSpc>
              <a:spcBef>
                <a:spcPts val="0"/>
              </a:spcBef>
              <a:spcAft>
                <a:spcPts val="800"/>
              </a:spcAft>
            </a:pPr>
            <a:r>
              <a:rPr lang="en-US" sz="1900" b="1" kern="100" dirty="0">
                <a:latin typeface="Aptos" panose="020B0004020202020204" pitchFamily="34" charset="0"/>
                <a:ea typeface="Calibri" panose="020F0502020204030204" pitchFamily="34" charset="0"/>
                <a:cs typeface="Times New Roman" panose="02020603050405020304" pitchFamily="18" charset="0"/>
              </a:rPr>
              <a:t>Institutionalized Mentorship/Global Best Practices:</a:t>
            </a:r>
            <a:r>
              <a:rPr lang="en-US" sz="1900" kern="100" dirty="0">
                <a:latin typeface="Aptos" panose="020B0004020202020204" pitchFamily="34" charset="0"/>
                <a:ea typeface="Calibri" panose="020F0502020204030204" pitchFamily="34" charset="0"/>
                <a:cs typeface="Times New Roman" panose="02020603050405020304" pitchFamily="18" charset="0"/>
              </a:rPr>
              <a:t> wherein formal -mentor-mentee pairings with set objectives monitored by professional bodies such as the Body of Benchers and the Nigerian Law School is key into.</a:t>
            </a:r>
          </a:p>
          <a:p>
            <a:pPr marL="0" marR="0" algn="just">
              <a:lnSpc>
                <a:spcPct val="107000"/>
              </a:lnSpc>
              <a:spcBef>
                <a:spcPts val="0"/>
              </a:spcBef>
              <a:spcAft>
                <a:spcPts val="800"/>
              </a:spcAft>
            </a:pPr>
            <a:r>
              <a:rPr lang="en-US" sz="1900" b="1" kern="100" dirty="0">
                <a:latin typeface="Aptos" panose="020B0004020202020204" pitchFamily="34" charset="0"/>
                <a:ea typeface="Calibri" panose="020F0502020204030204" pitchFamily="34" charset="0"/>
                <a:cs typeface="Times New Roman" panose="02020603050405020304" pitchFamily="18" charset="0"/>
              </a:rPr>
              <a:t>Integration of Technology:</a:t>
            </a:r>
            <a:r>
              <a:rPr lang="en-US" sz="1900" kern="100" dirty="0">
                <a:latin typeface="Aptos" panose="020B0004020202020204" pitchFamily="34" charset="0"/>
                <a:ea typeface="Calibri" panose="020F0502020204030204" pitchFamily="34" charset="0"/>
                <a:cs typeface="Times New Roman" panose="02020603050405020304" pitchFamily="18" charset="0"/>
              </a:rPr>
              <a:t> Using digital platforms for training, shadowing, and continuous professional development deployed by the NBA Young Lawyers Forum to deliver structured virtual mentorship programs.</a:t>
            </a:r>
          </a:p>
          <a:p>
            <a:pPr marL="0" marR="0" algn="just">
              <a:lnSpc>
                <a:spcPct val="107000"/>
              </a:lnSpc>
              <a:spcBef>
                <a:spcPts val="0"/>
              </a:spcBef>
              <a:spcAft>
                <a:spcPts val="800"/>
              </a:spcAft>
            </a:pPr>
            <a:r>
              <a:rPr lang="en-US" sz="1900" b="1" kern="100" dirty="0">
                <a:latin typeface="Aptos" panose="020B0004020202020204" pitchFamily="34" charset="0"/>
                <a:ea typeface="Calibri" panose="020F0502020204030204" pitchFamily="34" charset="0"/>
                <a:cs typeface="Times New Roman" panose="02020603050405020304" pitchFamily="18" charset="0"/>
              </a:rPr>
              <a:t>Evaluation Mechanisms:</a:t>
            </a:r>
            <a:r>
              <a:rPr lang="en-US" sz="1900" kern="100" dirty="0">
                <a:latin typeface="Aptos" panose="020B0004020202020204" pitchFamily="34" charset="0"/>
                <a:ea typeface="Calibri" panose="020F0502020204030204" pitchFamily="34" charset="0"/>
                <a:cs typeface="Times New Roman" panose="02020603050405020304" pitchFamily="18" charset="0"/>
              </a:rPr>
              <a:t> Establish systems to assess both mentors and mentees for measurable growth.</a:t>
            </a:r>
          </a:p>
          <a:p>
            <a:pPr marL="0" marR="0" algn="just">
              <a:lnSpc>
                <a:spcPct val="107000"/>
              </a:lnSpc>
              <a:spcBef>
                <a:spcPts val="0"/>
              </a:spcBef>
              <a:spcAft>
                <a:spcPts val="800"/>
              </a:spcAft>
            </a:pPr>
            <a:r>
              <a:rPr lang="en-US" sz="1900" b="1" kern="100" dirty="0">
                <a:latin typeface="Aptos" panose="020B0004020202020204" pitchFamily="34" charset="0"/>
                <a:ea typeface="Calibri" panose="020F0502020204030204" pitchFamily="34" charset="0"/>
                <a:cs typeface="Times New Roman" panose="02020603050405020304" pitchFamily="18" charset="0"/>
              </a:rPr>
              <a:t>Cultural Continuity:</a:t>
            </a:r>
            <a:r>
              <a:rPr lang="en-US" sz="1900" kern="100" dirty="0">
                <a:latin typeface="Aptos" panose="020B0004020202020204" pitchFamily="34" charset="0"/>
                <a:ea typeface="Calibri" panose="020F0502020204030204" pitchFamily="34" charset="0"/>
                <a:cs typeface="Times New Roman" panose="02020603050405020304" pitchFamily="18" charset="0"/>
              </a:rPr>
              <a:t> Ensure mentorship transmits "not just skills, but the values, ethos, and traditions of the Inner Bar.“</a:t>
            </a:r>
          </a:p>
          <a:p>
            <a:pPr marL="0" marR="0" algn="just">
              <a:lnSpc>
                <a:spcPct val="107000"/>
              </a:lnSpc>
              <a:spcBef>
                <a:spcPts val="0"/>
              </a:spcBef>
              <a:spcAft>
                <a:spcPts val="800"/>
              </a:spcAft>
            </a:pPr>
            <a:r>
              <a:rPr lang="en-US" sz="1900" kern="100" dirty="0">
                <a:solidFill>
                  <a:prstClr val="black"/>
                </a:solidFill>
                <a:latin typeface="Aptos" panose="020B0004020202020204" pitchFamily="34" charset="0"/>
                <a:ea typeface="Calibri" panose="020F0502020204030204" pitchFamily="34" charset="0"/>
                <a:cs typeface="Times New Roman" panose="02020603050405020304" pitchFamily="18" charset="0"/>
              </a:rPr>
              <a:t>Keep an eye on  the  National Policy on Mentorship being designed by the Body of Benchers which seeks to produce a comprehensive framework and structured Mentorship development program with emphasis on ethics and leadership cultivation  across all levels of legal practice.</a:t>
            </a:r>
          </a:p>
          <a:p>
            <a:pPr marL="0" algn="just">
              <a:lnSpc>
                <a:spcPct val="107000"/>
              </a:lnSpc>
              <a:spcBef>
                <a:spcPts val="0"/>
              </a:spcBef>
              <a:spcAft>
                <a:spcPts val="800"/>
              </a:spcAft>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FC7B0BD-FEEE-A7CD-7837-4BEFB98E1A7C}"/>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99" b="1" dirty="0">
                <a:solidFill>
                  <a:schemeClr val="bg1"/>
                </a:solidFill>
                <a:latin typeface="Aptos" panose="020B0004020202020204" pitchFamily="34" charset="0"/>
              </a:rPr>
              <a:t>18</a:t>
            </a:r>
            <a:endParaRPr lang="en-US" sz="2399" dirty="0"/>
          </a:p>
        </p:txBody>
      </p:sp>
    </p:spTree>
    <p:extLst>
      <p:ext uri="{BB962C8B-B14F-4D97-AF65-F5344CB8AC3E}">
        <p14:creationId xmlns:p14="http://schemas.microsoft.com/office/powerpoint/2010/main" val="58863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09F5-B6BF-FC4E-F456-4A360AA1C6E3}"/>
            </a:ext>
          </a:extLst>
        </p:cNvPr>
        <p:cNvGrpSpPr/>
        <p:nvPr/>
      </p:nvGrpSpPr>
      <p:grpSpPr>
        <a:xfrm>
          <a:off x="0" y="0"/>
          <a:ext cx="0" cy="0"/>
          <a:chOff x="0" y="0"/>
          <a:chExt cx="0" cy="0"/>
        </a:xfrm>
      </p:grpSpPr>
      <p:sp>
        <p:nvSpPr>
          <p:cNvPr id="19" name="Content Placeholder 6">
            <a:extLst>
              <a:ext uri="{FF2B5EF4-FFF2-40B4-BE49-F238E27FC236}">
                <a16:creationId xmlns:a16="http://schemas.microsoft.com/office/drawing/2014/main" id="{6863FE2B-D250-2203-6BE6-9B4F84C52716}"/>
              </a:ext>
            </a:extLst>
          </p:cNvPr>
          <p:cNvSpPr txBox="1">
            <a:spLocks noChangeAspect="1"/>
          </p:cNvSpPr>
          <p:nvPr/>
        </p:nvSpPr>
        <p:spPr>
          <a:xfrm>
            <a:off x="3574132" y="709616"/>
            <a:ext cx="7056784" cy="5438767"/>
          </a:xfrm>
          <a:prstGeom prst="ellipse">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Arial" pitchFamily="34" charset="0"/>
              <a:buNone/>
            </a:pPr>
            <a:r>
              <a:rPr lang="x-none" sz="3200" dirty="0">
                <a:solidFill>
                  <a:prstClr val="black"/>
                </a:solidFill>
                <a:latin typeface="Aptos" panose="020B0004020202020204" pitchFamily="34" charset="0"/>
              </a:rPr>
              <a:t>“</a:t>
            </a:r>
            <a:r>
              <a:rPr lang="en-US" sz="3200" dirty="0">
                <a:solidFill>
                  <a:prstClr val="black"/>
                </a:solidFill>
                <a:latin typeface="Aptos" panose="020B0004020202020204" pitchFamily="34" charset="0"/>
              </a:rPr>
              <a:t>True </a:t>
            </a:r>
            <a:r>
              <a:rPr lang="en-US" sz="3200" dirty="0" err="1">
                <a:solidFill>
                  <a:prstClr val="black"/>
                </a:solidFill>
                <a:latin typeface="Aptos" panose="020B0004020202020204" pitchFamily="34" charset="0"/>
              </a:rPr>
              <a:t>honour</a:t>
            </a:r>
            <a:r>
              <a:rPr lang="en-US" sz="3200" dirty="0">
                <a:solidFill>
                  <a:prstClr val="black"/>
                </a:solidFill>
                <a:latin typeface="Aptos" panose="020B0004020202020204" pitchFamily="34" charset="0"/>
              </a:rPr>
              <a:t> lies not just in personal brilliance or individual accolade, but in the indelible mark left on the lives shaped and the standards preserved for generations of lawyers to come”</a:t>
            </a:r>
            <a:endParaRPr lang="x-none" sz="3200" dirty="0">
              <a:solidFill>
                <a:prstClr val="black"/>
              </a:solidFill>
              <a:latin typeface="Aptos" panose="020B0004020202020204" pitchFamily="34" charset="0"/>
            </a:endParaRPr>
          </a:p>
        </p:txBody>
      </p:sp>
      <p:grpSp>
        <p:nvGrpSpPr>
          <p:cNvPr id="10" name="Group 9">
            <a:extLst>
              <a:ext uri="{FF2B5EF4-FFF2-40B4-BE49-F238E27FC236}">
                <a16:creationId xmlns:a16="http://schemas.microsoft.com/office/drawing/2014/main" id="{AA8B0F41-152A-C5F3-FFEE-D77A89E98B7E}"/>
              </a:ext>
            </a:extLst>
          </p:cNvPr>
          <p:cNvGrpSpPr/>
          <p:nvPr/>
        </p:nvGrpSpPr>
        <p:grpSpPr>
          <a:xfrm>
            <a:off x="1485900" y="2024748"/>
            <a:ext cx="2592288" cy="2808503"/>
            <a:chOff x="10047746" y="1988649"/>
            <a:chExt cx="1771332" cy="1771332"/>
          </a:xfrm>
        </p:grpSpPr>
        <p:sp>
          <p:nvSpPr>
            <p:cNvPr id="6" name="Freeform: Shape 5">
              <a:extLst>
                <a:ext uri="{FF2B5EF4-FFF2-40B4-BE49-F238E27FC236}">
                  <a16:creationId xmlns:a16="http://schemas.microsoft.com/office/drawing/2014/main" id="{B55B15FE-7B64-954D-3430-89D20E57804F}"/>
                </a:ext>
              </a:extLst>
            </p:cNvPr>
            <p:cNvSpPr/>
            <p:nvPr/>
          </p:nvSpPr>
          <p:spPr>
            <a:xfrm>
              <a:off x="10047746" y="1988649"/>
              <a:ext cx="1771332" cy="1771332"/>
            </a:xfrm>
            <a:custGeom>
              <a:avLst/>
              <a:gdLst>
                <a:gd name="connsiteX0" fmla="*/ 0 w 1771332"/>
                <a:gd name="connsiteY0" fmla="*/ 295228 h 1771332"/>
                <a:gd name="connsiteX1" fmla="*/ 295228 w 1771332"/>
                <a:gd name="connsiteY1" fmla="*/ 0 h 1771332"/>
                <a:gd name="connsiteX2" fmla="*/ 1476104 w 1771332"/>
                <a:gd name="connsiteY2" fmla="*/ 0 h 1771332"/>
                <a:gd name="connsiteX3" fmla="*/ 1771332 w 1771332"/>
                <a:gd name="connsiteY3" fmla="*/ 295228 h 1771332"/>
                <a:gd name="connsiteX4" fmla="*/ 1771332 w 1771332"/>
                <a:gd name="connsiteY4" fmla="*/ 1476104 h 1771332"/>
                <a:gd name="connsiteX5" fmla="*/ 1476104 w 1771332"/>
                <a:gd name="connsiteY5" fmla="*/ 1771332 h 1771332"/>
                <a:gd name="connsiteX6" fmla="*/ 295228 w 1771332"/>
                <a:gd name="connsiteY6" fmla="*/ 1771332 h 1771332"/>
                <a:gd name="connsiteX7" fmla="*/ 0 w 1771332"/>
                <a:gd name="connsiteY7" fmla="*/ 1476104 h 1771332"/>
                <a:gd name="connsiteX8" fmla="*/ 0 w 1771332"/>
                <a:gd name="connsiteY8" fmla="*/ 295228 h 177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1332" h="1771332">
                  <a:moveTo>
                    <a:pt x="0" y="295228"/>
                  </a:moveTo>
                  <a:cubicBezTo>
                    <a:pt x="0" y="132178"/>
                    <a:pt x="132178" y="0"/>
                    <a:pt x="295228" y="0"/>
                  </a:cubicBezTo>
                  <a:lnTo>
                    <a:pt x="1476104" y="0"/>
                  </a:lnTo>
                  <a:cubicBezTo>
                    <a:pt x="1639154" y="0"/>
                    <a:pt x="1771332" y="132178"/>
                    <a:pt x="1771332" y="295228"/>
                  </a:cubicBezTo>
                  <a:lnTo>
                    <a:pt x="1771332" y="1476104"/>
                  </a:lnTo>
                  <a:cubicBezTo>
                    <a:pt x="1771332" y="1639154"/>
                    <a:pt x="1639154" y="1771332"/>
                    <a:pt x="1476104" y="1771332"/>
                  </a:cubicBezTo>
                  <a:lnTo>
                    <a:pt x="295228" y="1771332"/>
                  </a:lnTo>
                  <a:cubicBezTo>
                    <a:pt x="132178" y="1771332"/>
                    <a:pt x="0" y="1639154"/>
                    <a:pt x="0" y="1476104"/>
                  </a:cubicBezTo>
                  <a:lnTo>
                    <a:pt x="0" y="295228"/>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39809" tIns="139809" rIns="139809" bIns="139809" numCol="1" spcCol="1270" anchor="b" anchorCtr="0">
              <a:noAutofit/>
            </a:bodyPr>
            <a:lstStyle/>
            <a:p>
              <a:pPr marL="0" lvl="0" indent="0" algn="ctr" defTabSz="622300">
                <a:lnSpc>
                  <a:spcPct val="90000"/>
                </a:lnSpc>
                <a:spcBef>
                  <a:spcPct val="0"/>
                </a:spcBef>
                <a:spcAft>
                  <a:spcPct val="35000"/>
                </a:spcAft>
                <a:buNone/>
              </a:pPr>
              <a:endParaRPr lang="en-US" sz="1400" kern="1200" dirty="0">
                <a:latin typeface="Arial" panose="020B0604020202020204" pitchFamily="34" charset="0"/>
                <a:cs typeface="Arial" panose="020B0604020202020204" pitchFamily="34" charset="0"/>
              </a:endParaRPr>
            </a:p>
          </p:txBody>
        </p:sp>
        <p:sp>
          <p:nvSpPr>
            <p:cNvPr id="9" name="Shape">
              <a:extLst>
                <a:ext uri="{FF2B5EF4-FFF2-40B4-BE49-F238E27FC236}">
                  <a16:creationId xmlns:a16="http://schemas.microsoft.com/office/drawing/2014/main" id="{12CAB85D-7C01-C4A6-AA75-769DD778D9C3}"/>
                </a:ext>
              </a:extLst>
            </p:cNvPr>
            <p:cNvSpPr/>
            <p:nvPr/>
          </p:nvSpPr>
          <p:spPr>
            <a:xfrm>
              <a:off x="10618302" y="2432189"/>
              <a:ext cx="609018" cy="707094"/>
            </a:xfrm>
            <a:custGeom>
              <a:avLst/>
              <a:gdLst/>
              <a:ahLst/>
              <a:cxnLst>
                <a:cxn ang="0">
                  <a:pos x="wd2" y="hd2"/>
                </a:cxn>
                <a:cxn ang="5400000">
                  <a:pos x="wd2" y="hd2"/>
                </a:cxn>
                <a:cxn ang="10800000">
                  <a:pos x="wd2" y="hd2"/>
                </a:cxn>
                <a:cxn ang="16200000">
                  <a:pos x="wd2" y="hd2"/>
                </a:cxn>
              </a:cxnLst>
              <a:rect l="0" t="0" r="r" b="b"/>
              <a:pathLst>
                <a:path w="21600" h="21600" extrusionOk="0">
                  <a:moveTo>
                    <a:pt x="9822" y="0"/>
                  </a:moveTo>
                  <a:cubicBezTo>
                    <a:pt x="6846" y="0"/>
                    <a:pt x="4462" y="2078"/>
                    <a:pt x="4462" y="4644"/>
                  </a:cubicBezTo>
                  <a:lnTo>
                    <a:pt x="4462" y="7422"/>
                  </a:lnTo>
                  <a:cubicBezTo>
                    <a:pt x="4462" y="9172"/>
                    <a:pt x="5440" y="10822"/>
                    <a:pt x="7052" y="11847"/>
                  </a:cubicBezTo>
                  <a:lnTo>
                    <a:pt x="5699" y="12894"/>
                  </a:lnTo>
                  <a:cubicBezTo>
                    <a:pt x="3075" y="12980"/>
                    <a:pt x="0" y="14795"/>
                    <a:pt x="0" y="17120"/>
                  </a:cubicBezTo>
                  <a:lnTo>
                    <a:pt x="0" y="21172"/>
                  </a:lnTo>
                  <a:cubicBezTo>
                    <a:pt x="0" y="21405"/>
                    <a:pt x="216" y="21600"/>
                    <a:pt x="486" y="21600"/>
                  </a:cubicBezTo>
                  <a:lnTo>
                    <a:pt x="21114" y="21600"/>
                  </a:lnTo>
                  <a:cubicBezTo>
                    <a:pt x="21384" y="21600"/>
                    <a:pt x="21600" y="21405"/>
                    <a:pt x="21600" y="21172"/>
                  </a:cubicBezTo>
                  <a:cubicBezTo>
                    <a:pt x="21600" y="21172"/>
                    <a:pt x="21600" y="17120"/>
                    <a:pt x="21600" y="17120"/>
                  </a:cubicBezTo>
                  <a:cubicBezTo>
                    <a:pt x="21600" y="14800"/>
                    <a:pt x="18530" y="12981"/>
                    <a:pt x="15901" y="12894"/>
                  </a:cubicBezTo>
                  <a:lnTo>
                    <a:pt x="14569" y="11856"/>
                  </a:lnTo>
                  <a:cubicBezTo>
                    <a:pt x="16203" y="10830"/>
                    <a:pt x="17191" y="9175"/>
                    <a:pt x="17191" y="7422"/>
                  </a:cubicBezTo>
                  <a:lnTo>
                    <a:pt x="17191" y="4644"/>
                  </a:lnTo>
                  <a:cubicBezTo>
                    <a:pt x="17191" y="2086"/>
                    <a:pt x="14769" y="0"/>
                    <a:pt x="11789" y="0"/>
                  </a:cubicBezTo>
                  <a:lnTo>
                    <a:pt x="9822" y="0"/>
                  </a:lnTo>
                  <a:close/>
                  <a:moveTo>
                    <a:pt x="9822" y="847"/>
                  </a:moveTo>
                  <a:lnTo>
                    <a:pt x="11789" y="847"/>
                  </a:lnTo>
                  <a:cubicBezTo>
                    <a:pt x="14229" y="847"/>
                    <a:pt x="16208" y="2551"/>
                    <a:pt x="16208" y="4644"/>
                  </a:cubicBezTo>
                  <a:lnTo>
                    <a:pt x="16208" y="4990"/>
                  </a:lnTo>
                  <a:lnTo>
                    <a:pt x="15288" y="3852"/>
                  </a:lnTo>
                  <a:cubicBezTo>
                    <a:pt x="15205" y="3749"/>
                    <a:pt x="15074" y="3680"/>
                    <a:pt x="14929" y="3670"/>
                  </a:cubicBezTo>
                  <a:cubicBezTo>
                    <a:pt x="14783" y="3659"/>
                    <a:pt x="14640" y="3707"/>
                    <a:pt x="14537" y="3797"/>
                  </a:cubicBezTo>
                  <a:cubicBezTo>
                    <a:pt x="13542" y="4674"/>
                    <a:pt x="12394" y="5063"/>
                    <a:pt x="10805" y="5063"/>
                  </a:cubicBezTo>
                  <a:cubicBezTo>
                    <a:pt x="9216" y="5063"/>
                    <a:pt x="8059" y="4674"/>
                    <a:pt x="7063" y="3797"/>
                  </a:cubicBezTo>
                  <a:cubicBezTo>
                    <a:pt x="6960" y="3707"/>
                    <a:pt x="6817" y="3659"/>
                    <a:pt x="6671" y="3670"/>
                  </a:cubicBezTo>
                  <a:cubicBezTo>
                    <a:pt x="6525" y="3681"/>
                    <a:pt x="6394" y="3748"/>
                    <a:pt x="6312" y="3852"/>
                  </a:cubicBezTo>
                  <a:lnTo>
                    <a:pt x="5434" y="4954"/>
                  </a:lnTo>
                  <a:lnTo>
                    <a:pt x="5434" y="4644"/>
                  </a:lnTo>
                  <a:cubicBezTo>
                    <a:pt x="5434" y="2551"/>
                    <a:pt x="7401" y="847"/>
                    <a:pt x="9822" y="847"/>
                  </a:cubicBezTo>
                  <a:close/>
                  <a:moveTo>
                    <a:pt x="14812" y="4726"/>
                  </a:moveTo>
                  <a:lnTo>
                    <a:pt x="16208" y="6465"/>
                  </a:lnTo>
                  <a:lnTo>
                    <a:pt x="16208" y="7422"/>
                  </a:lnTo>
                  <a:cubicBezTo>
                    <a:pt x="16208" y="9948"/>
                    <a:pt x="13813" y="12066"/>
                    <a:pt x="10805" y="12066"/>
                  </a:cubicBezTo>
                  <a:cubicBezTo>
                    <a:pt x="7808" y="12066"/>
                    <a:pt x="5434" y="9954"/>
                    <a:pt x="5434" y="7422"/>
                  </a:cubicBezTo>
                  <a:lnTo>
                    <a:pt x="5434" y="6447"/>
                  </a:lnTo>
                  <a:lnTo>
                    <a:pt x="6798" y="4735"/>
                  </a:lnTo>
                  <a:cubicBezTo>
                    <a:pt x="7888" y="5534"/>
                    <a:pt x="9178" y="5910"/>
                    <a:pt x="10805" y="5910"/>
                  </a:cubicBezTo>
                  <a:cubicBezTo>
                    <a:pt x="12434" y="5910"/>
                    <a:pt x="13722" y="5526"/>
                    <a:pt x="14812" y="4726"/>
                  </a:cubicBezTo>
                  <a:close/>
                  <a:moveTo>
                    <a:pt x="8268" y="6994"/>
                  </a:moveTo>
                  <a:cubicBezTo>
                    <a:pt x="7997" y="6994"/>
                    <a:pt x="7781" y="7179"/>
                    <a:pt x="7781" y="7412"/>
                  </a:cubicBezTo>
                  <a:cubicBezTo>
                    <a:pt x="7781" y="7645"/>
                    <a:pt x="7997" y="7840"/>
                    <a:pt x="8268" y="7840"/>
                  </a:cubicBezTo>
                  <a:cubicBezTo>
                    <a:pt x="8538" y="7840"/>
                    <a:pt x="8765" y="7645"/>
                    <a:pt x="8765" y="7412"/>
                  </a:cubicBezTo>
                  <a:cubicBezTo>
                    <a:pt x="8765" y="7179"/>
                    <a:pt x="8538" y="6994"/>
                    <a:pt x="8268" y="6994"/>
                  </a:cubicBezTo>
                  <a:close/>
                  <a:moveTo>
                    <a:pt x="13004" y="6994"/>
                  </a:moveTo>
                  <a:cubicBezTo>
                    <a:pt x="12733" y="6994"/>
                    <a:pt x="12518" y="7179"/>
                    <a:pt x="12518" y="7412"/>
                  </a:cubicBezTo>
                  <a:cubicBezTo>
                    <a:pt x="12518" y="7645"/>
                    <a:pt x="12733" y="7840"/>
                    <a:pt x="13004" y="7840"/>
                  </a:cubicBezTo>
                  <a:cubicBezTo>
                    <a:pt x="13274" y="7840"/>
                    <a:pt x="13501" y="7645"/>
                    <a:pt x="13501" y="7412"/>
                  </a:cubicBezTo>
                  <a:cubicBezTo>
                    <a:pt x="13501" y="7179"/>
                    <a:pt x="13274" y="6994"/>
                    <a:pt x="13004" y="6994"/>
                  </a:cubicBezTo>
                  <a:close/>
                  <a:moveTo>
                    <a:pt x="9463" y="9935"/>
                  </a:moveTo>
                  <a:cubicBezTo>
                    <a:pt x="9345" y="9971"/>
                    <a:pt x="9235" y="10048"/>
                    <a:pt x="9177" y="10153"/>
                  </a:cubicBezTo>
                  <a:cubicBezTo>
                    <a:pt x="9062" y="10364"/>
                    <a:pt x="9175" y="10610"/>
                    <a:pt x="9420" y="10709"/>
                  </a:cubicBezTo>
                  <a:cubicBezTo>
                    <a:pt x="9831" y="10876"/>
                    <a:pt x="10263" y="10964"/>
                    <a:pt x="10721" y="10964"/>
                  </a:cubicBezTo>
                  <a:cubicBezTo>
                    <a:pt x="11168" y="10964"/>
                    <a:pt x="11606" y="10879"/>
                    <a:pt x="12011" y="10718"/>
                  </a:cubicBezTo>
                  <a:cubicBezTo>
                    <a:pt x="12257" y="10621"/>
                    <a:pt x="12367" y="10374"/>
                    <a:pt x="12254" y="10163"/>
                  </a:cubicBezTo>
                  <a:cubicBezTo>
                    <a:pt x="12141" y="9951"/>
                    <a:pt x="11844" y="9856"/>
                    <a:pt x="11598" y="9953"/>
                  </a:cubicBezTo>
                  <a:cubicBezTo>
                    <a:pt x="11323" y="10062"/>
                    <a:pt x="11026" y="10117"/>
                    <a:pt x="10721" y="10117"/>
                  </a:cubicBezTo>
                  <a:cubicBezTo>
                    <a:pt x="10409" y="10117"/>
                    <a:pt x="10112" y="10058"/>
                    <a:pt x="9833" y="9944"/>
                  </a:cubicBezTo>
                  <a:cubicBezTo>
                    <a:pt x="9710" y="9894"/>
                    <a:pt x="9581" y="9898"/>
                    <a:pt x="9463" y="9935"/>
                  </a:cubicBezTo>
                  <a:close/>
                  <a:moveTo>
                    <a:pt x="7750" y="12439"/>
                  </a:moveTo>
                  <a:lnTo>
                    <a:pt x="10097" y="15681"/>
                  </a:lnTo>
                  <a:lnTo>
                    <a:pt x="8099" y="16546"/>
                  </a:lnTo>
                  <a:lnTo>
                    <a:pt x="6481" y="13423"/>
                  </a:lnTo>
                  <a:cubicBezTo>
                    <a:pt x="6481" y="13423"/>
                    <a:pt x="7750" y="12439"/>
                    <a:pt x="7750" y="12439"/>
                  </a:cubicBezTo>
                  <a:close/>
                  <a:moveTo>
                    <a:pt x="13850" y="12439"/>
                  </a:moveTo>
                  <a:lnTo>
                    <a:pt x="15119" y="13423"/>
                  </a:lnTo>
                  <a:lnTo>
                    <a:pt x="13512" y="16546"/>
                  </a:lnTo>
                  <a:cubicBezTo>
                    <a:pt x="13512" y="16546"/>
                    <a:pt x="11503" y="15681"/>
                    <a:pt x="11503" y="15681"/>
                  </a:cubicBezTo>
                  <a:lnTo>
                    <a:pt x="13850" y="12439"/>
                  </a:lnTo>
                  <a:close/>
                  <a:moveTo>
                    <a:pt x="9103" y="12703"/>
                  </a:moveTo>
                  <a:cubicBezTo>
                    <a:pt x="9656" y="12836"/>
                    <a:pt x="10225" y="12904"/>
                    <a:pt x="10805" y="12904"/>
                  </a:cubicBezTo>
                  <a:cubicBezTo>
                    <a:pt x="11380" y="12904"/>
                    <a:pt x="11947" y="12843"/>
                    <a:pt x="12497" y="12712"/>
                  </a:cubicBezTo>
                  <a:cubicBezTo>
                    <a:pt x="12497" y="12712"/>
                    <a:pt x="10805" y="15053"/>
                    <a:pt x="10805" y="15053"/>
                  </a:cubicBezTo>
                  <a:lnTo>
                    <a:pt x="9103" y="12703"/>
                  </a:lnTo>
                  <a:close/>
                  <a:moveTo>
                    <a:pt x="5572" y="13741"/>
                  </a:moveTo>
                  <a:lnTo>
                    <a:pt x="7411" y="17293"/>
                  </a:lnTo>
                  <a:cubicBezTo>
                    <a:pt x="7466" y="17398"/>
                    <a:pt x="7561" y="17473"/>
                    <a:pt x="7686" y="17511"/>
                  </a:cubicBezTo>
                  <a:cubicBezTo>
                    <a:pt x="7812" y="17550"/>
                    <a:pt x="7958" y="17545"/>
                    <a:pt x="8078" y="17493"/>
                  </a:cubicBezTo>
                  <a:lnTo>
                    <a:pt x="8426" y="17347"/>
                  </a:lnTo>
                  <a:lnTo>
                    <a:pt x="8818" y="18413"/>
                  </a:lnTo>
                  <a:lnTo>
                    <a:pt x="8183" y="20753"/>
                  </a:lnTo>
                  <a:lnTo>
                    <a:pt x="983" y="20753"/>
                  </a:lnTo>
                  <a:cubicBezTo>
                    <a:pt x="983" y="20753"/>
                    <a:pt x="983" y="17120"/>
                    <a:pt x="983" y="17120"/>
                  </a:cubicBezTo>
                  <a:cubicBezTo>
                    <a:pt x="983" y="15382"/>
                    <a:pt x="3429" y="13878"/>
                    <a:pt x="5572" y="13741"/>
                  </a:cubicBezTo>
                  <a:close/>
                  <a:moveTo>
                    <a:pt x="16028" y="13741"/>
                  </a:moveTo>
                  <a:cubicBezTo>
                    <a:pt x="18171" y="13878"/>
                    <a:pt x="20627" y="15382"/>
                    <a:pt x="20627" y="17120"/>
                  </a:cubicBezTo>
                  <a:cubicBezTo>
                    <a:pt x="20627" y="17120"/>
                    <a:pt x="20627" y="20753"/>
                    <a:pt x="20627" y="20753"/>
                  </a:cubicBezTo>
                  <a:lnTo>
                    <a:pt x="13406" y="20753"/>
                  </a:lnTo>
                  <a:lnTo>
                    <a:pt x="12782" y="18413"/>
                  </a:lnTo>
                  <a:lnTo>
                    <a:pt x="13205" y="17356"/>
                  </a:lnTo>
                  <a:lnTo>
                    <a:pt x="13533" y="17493"/>
                  </a:lnTo>
                  <a:cubicBezTo>
                    <a:pt x="13654" y="17545"/>
                    <a:pt x="13789" y="17550"/>
                    <a:pt x="13914" y="17511"/>
                  </a:cubicBezTo>
                  <a:cubicBezTo>
                    <a:pt x="14040" y="17473"/>
                    <a:pt x="14144" y="17398"/>
                    <a:pt x="14199" y="17293"/>
                  </a:cubicBezTo>
                  <a:lnTo>
                    <a:pt x="16028" y="13741"/>
                  </a:lnTo>
                  <a:close/>
                  <a:moveTo>
                    <a:pt x="10805" y="16318"/>
                  </a:moveTo>
                  <a:lnTo>
                    <a:pt x="12328" y="16974"/>
                  </a:lnTo>
                  <a:cubicBezTo>
                    <a:pt x="12328" y="16974"/>
                    <a:pt x="11926" y="17967"/>
                    <a:pt x="11926" y="17967"/>
                  </a:cubicBezTo>
                  <a:lnTo>
                    <a:pt x="9685" y="17967"/>
                  </a:lnTo>
                  <a:lnTo>
                    <a:pt x="9315" y="16965"/>
                  </a:lnTo>
                  <a:lnTo>
                    <a:pt x="10805" y="16318"/>
                  </a:lnTo>
                  <a:close/>
                  <a:moveTo>
                    <a:pt x="9716" y="18813"/>
                  </a:moveTo>
                  <a:lnTo>
                    <a:pt x="11884" y="18813"/>
                  </a:lnTo>
                  <a:lnTo>
                    <a:pt x="12402" y="20753"/>
                  </a:lnTo>
                  <a:lnTo>
                    <a:pt x="9188" y="20753"/>
                  </a:lnTo>
                  <a:cubicBezTo>
                    <a:pt x="9188" y="20753"/>
                    <a:pt x="9716" y="18813"/>
                    <a:pt x="9716" y="18813"/>
                  </a:cubicBezTo>
                  <a:close/>
                  <a:moveTo>
                    <a:pt x="15034" y="18941"/>
                  </a:moveTo>
                  <a:cubicBezTo>
                    <a:pt x="14764" y="18941"/>
                    <a:pt x="14548" y="19127"/>
                    <a:pt x="14548" y="19360"/>
                  </a:cubicBezTo>
                  <a:cubicBezTo>
                    <a:pt x="14548" y="19593"/>
                    <a:pt x="14764" y="19788"/>
                    <a:pt x="15034" y="19788"/>
                  </a:cubicBezTo>
                  <a:lnTo>
                    <a:pt x="17001" y="19788"/>
                  </a:lnTo>
                  <a:cubicBezTo>
                    <a:pt x="17271" y="19788"/>
                    <a:pt x="17487" y="19593"/>
                    <a:pt x="17487" y="19360"/>
                  </a:cubicBezTo>
                  <a:cubicBezTo>
                    <a:pt x="17487" y="19127"/>
                    <a:pt x="17271" y="18941"/>
                    <a:pt x="17001" y="18941"/>
                  </a:cubicBezTo>
                  <a:lnTo>
                    <a:pt x="15034" y="18941"/>
                  </a:lnTo>
                  <a:close/>
                  <a:moveTo>
                    <a:pt x="19094" y="18941"/>
                  </a:moveTo>
                  <a:cubicBezTo>
                    <a:pt x="18824" y="18941"/>
                    <a:pt x="18608" y="19127"/>
                    <a:pt x="18608" y="19360"/>
                  </a:cubicBezTo>
                  <a:cubicBezTo>
                    <a:pt x="18608" y="19593"/>
                    <a:pt x="18824" y="19788"/>
                    <a:pt x="19094" y="19788"/>
                  </a:cubicBezTo>
                  <a:cubicBezTo>
                    <a:pt x="19365" y="19788"/>
                    <a:pt x="19591" y="19593"/>
                    <a:pt x="19591" y="19360"/>
                  </a:cubicBezTo>
                  <a:cubicBezTo>
                    <a:pt x="19591" y="19127"/>
                    <a:pt x="19365" y="18941"/>
                    <a:pt x="19094" y="18941"/>
                  </a:cubicBezTo>
                  <a:close/>
                </a:path>
              </a:pathLst>
            </a:custGeom>
            <a:solidFill>
              <a:schemeClr val="bg1"/>
            </a:solidFill>
            <a:ln w="12700">
              <a:miter lim="400000"/>
            </a:ln>
          </p:spPr>
          <p:txBody>
            <a:bodyPr lIns="38090" tIns="38090" rIns="38090" bIns="38090" anchor="ctr"/>
            <a:lstStyle/>
            <a:p>
              <a:pPr>
                <a:defRPr sz="3000">
                  <a:solidFill>
                    <a:srgbClr val="FFFFFF"/>
                  </a:solidFill>
                  <a:effectLst>
                    <a:outerShdw blurRad="38100" dist="12700" dir="5400000" rotWithShape="0">
                      <a:srgbClr val="000000">
                        <a:alpha val="50000"/>
                      </a:srgbClr>
                    </a:outerShdw>
                  </a:effectLst>
                </a:defRPr>
              </a:pPr>
              <a:endParaRPr sz="2999" dirty="0"/>
            </a:p>
          </p:txBody>
        </p:sp>
      </p:grpSp>
      <p:sp>
        <p:nvSpPr>
          <p:cNvPr id="2" name="Rectangle 1">
            <a:extLst>
              <a:ext uri="{FF2B5EF4-FFF2-40B4-BE49-F238E27FC236}">
                <a16:creationId xmlns:a16="http://schemas.microsoft.com/office/drawing/2014/main" id="{6464BA72-0CE8-603E-9837-837ECF208B7F}"/>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99" b="1" dirty="0">
                <a:solidFill>
                  <a:schemeClr val="bg1"/>
                </a:solidFill>
                <a:latin typeface="Aptos" panose="020B0004020202020204" pitchFamily="34" charset="0"/>
              </a:rPr>
              <a:t>19</a:t>
            </a:r>
            <a:endParaRPr lang="en-US" sz="2399" dirty="0"/>
          </a:p>
        </p:txBody>
      </p:sp>
    </p:spTree>
    <p:extLst>
      <p:ext uri="{BB962C8B-B14F-4D97-AF65-F5344CB8AC3E}">
        <p14:creationId xmlns:p14="http://schemas.microsoft.com/office/powerpoint/2010/main" val="3109656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B7BA3F-919D-7BBF-8C31-DAD5CBC47646}"/>
              </a:ext>
            </a:extLst>
          </p:cNvPr>
          <p:cNvSpPr>
            <a:spLocks noGrp="1"/>
          </p:cNvSpPr>
          <p:nvPr>
            <p:ph type="title"/>
          </p:nvPr>
        </p:nvSpPr>
        <p:spPr>
          <a:xfrm>
            <a:off x="780238" y="151042"/>
            <a:ext cx="10051526" cy="711081"/>
          </a:xfrm>
        </p:spPr>
        <p:txBody>
          <a:bodyPr/>
          <a:lstStyle/>
          <a:p>
            <a:pPr marL="457200" lvl="0" indent="-457200">
              <a:lnSpc>
                <a:spcPct val="150000"/>
              </a:lnSpc>
              <a:spcBef>
                <a:spcPts val="0"/>
              </a:spcBef>
            </a:pPr>
            <a:r>
              <a:rPr lang="en-US" dirty="0">
                <a:solidFill>
                  <a:prstClr val="black"/>
                </a:solidFill>
                <a:latin typeface="Aptos" panose="020B0004020202020204" pitchFamily="34" charset="0"/>
              </a:rPr>
              <a:t>Conclusion: A Legacy of Distinction</a:t>
            </a:r>
          </a:p>
        </p:txBody>
      </p:sp>
      <p:sp>
        <p:nvSpPr>
          <p:cNvPr id="19" name="Content Placeholder 2">
            <a:extLst>
              <a:ext uri="{FF2B5EF4-FFF2-40B4-BE49-F238E27FC236}">
                <a16:creationId xmlns:a16="http://schemas.microsoft.com/office/drawing/2014/main" id="{98349F09-71B1-87BB-EA53-81192F0663CA}"/>
              </a:ext>
            </a:extLst>
          </p:cNvPr>
          <p:cNvSpPr txBox="1">
            <a:spLocks/>
          </p:cNvSpPr>
          <p:nvPr/>
        </p:nvSpPr>
        <p:spPr>
          <a:xfrm>
            <a:off x="3286100" y="1143842"/>
            <a:ext cx="7146138" cy="3447474"/>
          </a:xfrm>
          <a:prstGeom prst="rect">
            <a:avLst/>
          </a:prstGeom>
        </p:spPr>
        <p:txBody>
          <a:bodyPr>
            <a:noAutofit/>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algn="just">
              <a:lnSpc>
                <a:spcPct val="107000"/>
              </a:lnSpc>
              <a:spcBef>
                <a:spcPts val="0"/>
              </a:spcBef>
              <a:spcAft>
                <a:spcPts val="800"/>
              </a:spcAft>
            </a:pPr>
            <a:r>
              <a:rPr lang="en-US" sz="2400" kern="100" dirty="0">
                <a:latin typeface="Aptos" panose="020B0004020202020204" pitchFamily="34" charset="0"/>
                <a:ea typeface="Calibri" panose="020F0502020204030204" pitchFamily="34" charset="0"/>
                <a:cs typeface="Times New Roman" panose="02020603050405020304" pitchFamily="18" charset="0"/>
              </a:rPr>
              <a:t>The silk represents "the beginning of your greatest duty: to leave a legacy of distinction for those who will come after." Mentoring and knowledge transfer are "the lifeblood of our profession, the bridge between what we have received and what we must pass on." </a:t>
            </a:r>
          </a:p>
          <a:p>
            <a:pPr marL="0" marR="0" indent="0" algn="just">
              <a:lnSpc>
                <a:spcPct val="107000"/>
              </a:lnSpc>
              <a:spcBef>
                <a:spcPts val="0"/>
              </a:spcBef>
              <a:spcAft>
                <a:spcPts val="800"/>
              </a:spcAft>
              <a:buNone/>
            </a:pPr>
            <a:r>
              <a:rPr lang="en-US" sz="2400" kern="100" dirty="0">
                <a:latin typeface="Aptos" panose="020B0004020202020204" pitchFamily="34" charset="0"/>
                <a:ea typeface="Calibri" panose="020F0502020204030204" pitchFamily="34" charset="0"/>
                <a:cs typeface="Times New Roman" panose="02020603050405020304" pitchFamily="18" charset="0"/>
              </a:rPr>
              <a:t>By living with integrity, teaching with intention, and leading with humility, SANs will ensure that "the legacy of excellence which defines the Senior Advocate of Nigeria endures far beyond time." </a:t>
            </a:r>
          </a:p>
          <a:p>
            <a:pPr marL="0" marR="0" indent="0" algn="just">
              <a:lnSpc>
                <a:spcPct val="107000"/>
              </a:lnSpc>
              <a:spcBef>
                <a:spcPts val="0"/>
              </a:spcBef>
              <a:spcAft>
                <a:spcPts val="800"/>
              </a:spcAft>
              <a:buNone/>
            </a:pPr>
            <a:r>
              <a:rPr lang="en-US" sz="2400" kern="100" dirty="0">
                <a:latin typeface="Aptos" panose="020B0004020202020204" pitchFamily="34" charset="0"/>
                <a:ea typeface="Calibri" panose="020F0502020204030204" pitchFamily="34" charset="0"/>
                <a:cs typeface="Times New Roman" panose="02020603050405020304" pitchFamily="18" charset="0"/>
              </a:rPr>
              <a:t>The true measure of a SAN is "not just in your judgments, but in how you shaped the profession and those who follow."</a:t>
            </a:r>
            <a:endParaRPr lang="en-US" sz="1800" kern="100" dirty="0">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Font typeface="Arial" pitchFamily="34" charset="0"/>
              <a:buNone/>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endParaRPr lang="en-US" sz="2000" kern="100" dirty="0">
              <a:solidFill>
                <a:prstClr val="black"/>
              </a:solidFill>
              <a:latin typeface="Aptos" panose="020B0004020202020204" pitchFamily="34" charset="0"/>
              <a:ea typeface="Calibri" panose="020F0502020204030204" pitchFamily="34" charset="0"/>
              <a:cs typeface="Times New Roman" panose="02020603050405020304" pitchFamily="18" charset="0"/>
            </a:endParaRPr>
          </a:p>
        </p:txBody>
      </p:sp>
      <p:grpSp>
        <p:nvGrpSpPr>
          <p:cNvPr id="2" name="Group 1">
            <a:extLst>
              <a:ext uri="{FF2B5EF4-FFF2-40B4-BE49-F238E27FC236}">
                <a16:creationId xmlns:a16="http://schemas.microsoft.com/office/drawing/2014/main" id="{35DADCE3-F0E2-CABE-4583-C1FC6C390262}"/>
              </a:ext>
            </a:extLst>
          </p:cNvPr>
          <p:cNvGrpSpPr/>
          <p:nvPr/>
        </p:nvGrpSpPr>
        <p:grpSpPr>
          <a:xfrm>
            <a:off x="765820" y="2136597"/>
            <a:ext cx="2366691" cy="2455626"/>
            <a:chOff x="1783505" y="2413534"/>
            <a:chExt cx="1002890" cy="1002890"/>
          </a:xfrm>
        </p:grpSpPr>
        <p:sp>
          <p:nvSpPr>
            <p:cNvPr id="3" name="Oval 2">
              <a:extLst>
                <a:ext uri="{FF2B5EF4-FFF2-40B4-BE49-F238E27FC236}">
                  <a16:creationId xmlns:a16="http://schemas.microsoft.com/office/drawing/2014/main" id="{7FCFBDE8-7509-ADA0-F6F2-C8F6EE46C0CB}"/>
                </a:ext>
              </a:extLst>
            </p:cNvPr>
            <p:cNvSpPr/>
            <p:nvPr/>
          </p:nvSpPr>
          <p:spPr>
            <a:xfrm>
              <a:off x="1783505" y="2413534"/>
              <a:ext cx="1002890" cy="1002890"/>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Open book outline">
              <a:extLst>
                <a:ext uri="{FF2B5EF4-FFF2-40B4-BE49-F238E27FC236}">
                  <a16:creationId xmlns:a16="http://schemas.microsoft.com/office/drawing/2014/main" id="{FBF77CFB-A657-30C8-925C-7A4291FD61B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3136" y="2643645"/>
              <a:ext cx="583628" cy="583628"/>
            </a:xfrm>
            <a:prstGeom prst="rect">
              <a:avLst/>
            </a:prstGeom>
          </p:spPr>
        </p:pic>
      </p:grpSp>
      <p:sp>
        <p:nvSpPr>
          <p:cNvPr id="5" name="Rectangle 4">
            <a:extLst>
              <a:ext uri="{FF2B5EF4-FFF2-40B4-BE49-F238E27FC236}">
                <a16:creationId xmlns:a16="http://schemas.microsoft.com/office/drawing/2014/main" id="{D0245C8E-2FDA-4786-FA2B-5C9C1F1C7996}"/>
              </a:ext>
            </a:extLst>
          </p:cNvPr>
          <p:cNvSpPr/>
          <p:nvPr/>
        </p:nvSpPr>
        <p:spPr>
          <a:xfrm>
            <a:off x="11334024" y="5484255"/>
            <a:ext cx="854801" cy="13737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ptos" panose="020B0004020202020204" pitchFamily="34" charset="0"/>
              </a:rPr>
              <a:t>20</a:t>
            </a:r>
            <a:endParaRPr lang="en-US" sz="2399" dirty="0"/>
          </a:p>
        </p:txBody>
      </p:sp>
    </p:spTree>
    <p:extLst>
      <p:ext uri="{BB962C8B-B14F-4D97-AF65-F5344CB8AC3E}">
        <p14:creationId xmlns:p14="http://schemas.microsoft.com/office/powerpoint/2010/main" val="1554227270"/>
      </p:ext>
    </p:extLst>
  </p:cSld>
  <p:clrMapOvr>
    <a:masterClrMapping/>
  </p:clrMapOvr>
</p:sld>
</file>

<file path=ppt/theme/theme1.xml><?xml version="1.0" encoding="utf-8"?>
<a:theme xmlns:a="http://schemas.openxmlformats.org/drawingml/2006/main" name="Office Theme">
  <a:themeElements>
    <a:clrScheme name="Custom 691">
      <a:dk1>
        <a:sysClr val="windowText" lastClr="000000"/>
      </a:dk1>
      <a:lt1>
        <a:sysClr val="window" lastClr="FFFFFF"/>
      </a:lt1>
      <a:dk2>
        <a:srgbClr val="153153"/>
      </a:dk2>
      <a:lt2>
        <a:srgbClr val="EEECE1"/>
      </a:lt2>
      <a:accent1>
        <a:srgbClr val="053982"/>
      </a:accent1>
      <a:accent2>
        <a:srgbClr val="4965A5"/>
      </a:accent2>
      <a:accent3>
        <a:srgbClr val="DFE2EA"/>
      </a:accent3>
      <a:accent4>
        <a:srgbClr val="EEEEEB"/>
      </a:accent4>
      <a:accent5>
        <a:srgbClr val="FE9809"/>
      </a:accent5>
      <a:accent6>
        <a:srgbClr val="E2201D"/>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8224</TotalTime>
  <Words>2541</Words>
  <Application>Microsoft Office PowerPoint</Application>
  <PresentationFormat>Custom</PresentationFormat>
  <Paragraphs>203</Paragraphs>
  <Slides>20</Slides>
  <Notes>17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Aptos</vt:lpstr>
      <vt:lpstr>Arial</vt:lpstr>
      <vt:lpstr>Calibri</vt:lpstr>
      <vt:lpstr>Calibri Light</vt:lpstr>
      <vt:lpstr>Helvetica</vt:lpstr>
      <vt:lpstr>Segoe UI</vt:lpstr>
      <vt:lpstr>Segoe UI Black</vt:lpstr>
      <vt:lpstr>Swis721 Ex BT</vt:lpstr>
      <vt:lpstr>Swis721 Hv BT</vt:lpstr>
      <vt:lpstr>Trebuchet MS</vt:lpstr>
      <vt:lpstr>Wingdings</vt:lpstr>
      <vt:lpstr>Office Theme</vt:lpstr>
      <vt:lpstr>PowerPoint Presentation</vt:lpstr>
      <vt:lpstr>Outline</vt:lpstr>
      <vt:lpstr>PowerPoint Presentation</vt:lpstr>
      <vt:lpstr>PowerPoint Presentation</vt:lpstr>
      <vt:lpstr>Introduction</vt:lpstr>
      <vt:lpstr>POSERS</vt:lpstr>
      <vt:lpstr>Cornerstone Pillars of the Inner Bar</vt:lpstr>
      <vt:lpstr>PowerPoint Presentation</vt:lpstr>
      <vt:lpstr>Mentorship</vt:lpstr>
      <vt:lpstr>Types of Mentorship</vt:lpstr>
      <vt:lpstr>The Presumption and Responsibility of the  Senior Advocate as a Mentor </vt:lpstr>
      <vt:lpstr>Knowledge Transfer as Legacy: Technical and Morals</vt:lpstr>
      <vt:lpstr>Mentorship: Skill Transfer</vt:lpstr>
      <vt:lpstr>Practical Steps of Preserving Standards</vt:lpstr>
      <vt:lpstr>Practical Steps of Preserving Standards</vt:lpstr>
      <vt:lpstr>Challenges to Overcome as Mentors</vt:lpstr>
      <vt:lpstr>Charge to New Senior Advocates</vt:lpstr>
      <vt:lpstr>Proposal for Body of Senior Advocates of Nigeria (BOSAN)</vt:lpstr>
      <vt:lpstr>PowerPoint Presentation</vt:lpstr>
      <vt:lpstr>Conclusion: A Legacy of Distinction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USER</cp:lastModifiedBy>
  <cp:revision>250</cp:revision>
  <dcterms:created xsi:type="dcterms:W3CDTF">2013-09-12T13:05:01Z</dcterms:created>
  <dcterms:modified xsi:type="dcterms:W3CDTF">2025-09-21T19:35:52Z</dcterms:modified>
</cp:coreProperties>
</file>